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fe881b05c64973" /><Relationship Type="http://schemas.openxmlformats.org/officeDocument/2006/relationships/extended-properties" Target="/docProps/app.xml" Id="R148c85573b8843ca" /><Relationship Type="http://schemas.openxmlformats.org/officeDocument/2006/relationships/officeDocument" Target="/ppt/presentation.xml" Id="Rab0bd2794f244716" /></Relationships>
</file>

<file path=ppt/presentation.xml><?xml version="1.0" encoding="utf-8"?>
<p:presentation xmlns:p="http://schemas.openxmlformats.org/presentationml/2006/main">
  <p:sldMasterIdLst>
    <p:sldMasterId xmlns:r="http://schemas.openxmlformats.org/officeDocument/2006/relationships" id="2147483648" r:id="Rb1e7c4e5e2984fbd"/>
  </p:sldMasterIdLst>
  <p:notesMasterIdLst>
    <p:notesMasterId xmlns:r="http://schemas.openxmlformats.org/officeDocument/2006/relationships" r:id="Ra9bc8f53710a4376"/>
  </p:notesMasterIdLst>
  <p:sldIdLst>
    <p:sldId xmlns:r="http://schemas.openxmlformats.org/officeDocument/2006/relationships" id="256" r:id="Rd10b3aee60b44cf0"/>
    <p:sldId xmlns:r="http://schemas.openxmlformats.org/officeDocument/2006/relationships" id="257" r:id="R64f2c98d976c4241"/>
    <p:sldId xmlns:r="http://schemas.openxmlformats.org/officeDocument/2006/relationships" id="258" r:id="Rb11109e5e4084db8"/>
    <p:sldId xmlns:r="http://schemas.openxmlformats.org/officeDocument/2006/relationships" id="259" r:id="Rd72cd28e44c24abd"/>
    <p:sldId xmlns:r="http://schemas.openxmlformats.org/officeDocument/2006/relationships" id="260" r:id="R0edf602b39ea4ebf"/>
    <p:sldId xmlns:r="http://schemas.openxmlformats.org/officeDocument/2006/relationships" id="261" r:id="Rba501cb35f2f48da"/>
    <p:sldId xmlns:r="http://schemas.openxmlformats.org/officeDocument/2006/relationships" id="262" r:id="Rd7c2ec3f138d4107"/>
    <p:sldId xmlns:r="http://schemas.openxmlformats.org/officeDocument/2006/relationships" id="263" r:id="Rcc45f6eb127d4894"/>
    <p:sldId xmlns:r="http://schemas.openxmlformats.org/officeDocument/2006/relationships" id="264" r:id="R5e6a3c8434dc4efa"/>
    <p:sldId xmlns:r="http://schemas.openxmlformats.org/officeDocument/2006/relationships" id="265" r:id="R2f211b4f3c324e16"/>
    <p:sldId xmlns:r="http://schemas.openxmlformats.org/officeDocument/2006/relationships" id="266" r:id="R938adb79f0474ad0"/>
    <p:sldId xmlns:r="http://schemas.openxmlformats.org/officeDocument/2006/relationships" id="267" r:id="R077467d08d3240ac"/>
    <p:sldId xmlns:r="http://schemas.openxmlformats.org/officeDocument/2006/relationships" id="268" r:id="R5d2dd2d6652b4cf3"/>
    <p:sldId xmlns:r="http://schemas.openxmlformats.org/officeDocument/2006/relationships" id="269" r:id="Rba785b8a958f4193"/>
    <p:sldId xmlns:r="http://schemas.openxmlformats.org/officeDocument/2006/relationships" id="270" r:id="Rd6e7b24869ad4b9a"/>
    <p:sldId xmlns:r="http://schemas.openxmlformats.org/officeDocument/2006/relationships" id="271" r:id="R90b8dec4ee4645c5"/>
    <p:sldId xmlns:r="http://schemas.openxmlformats.org/officeDocument/2006/relationships" id="272" r:id="R5f31486a118c4deb"/>
    <p:sldId xmlns:r="http://schemas.openxmlformats.org/officeDocument/2006/relationships" id="273" r:id="R70641934e52e48a2"/>
    <p:sldId xmlns:r="http://schemas.openxmlformats.org/officeDocument/2006/relationships" id="274" r:id="Rc20791eeaa1c4892"/>
    <p:sldId xmlns:r="http://schemas.openxmlformats.org/officeDocument/2006/relationships" id="275" r:id="R4cb572a926b04c16"/>
    <p:sldId xmlns:r="http://schemas.openxmlformats.org/officeDocument/2006/relationships" id="276" r:id="Ra73c82e0d212453e"/>
    <p:sldId xmlns:r="http://schemas.openxmlformats.org/officeDocument/2006/relationships" id="277" r:id="Rfbe93d37948b4af3"/>
    <p:sldId xmlns:r="http://schemas.openxmlformats.org/officeDocument/2006/relationships" id="278" r:id="Rbdd3caad45a74014"/>
    <p:sldId xmlns:r="http://schemas.openxmlformats.org/officeDocument/2006/relationships" id="279" r:id="R79248720100e4447"/>
    <p:sldId xmlns:r="http://schemas.openxmlformats.org/officeDocument/2006/relationships" id="280" r:id="Rf2a56f476eda4ac3"/>
    <p:sldId xmlns:r="http://schemas.openxmlformats.org/officeDocument/2006/relationships" id="281" r:id="Ra5726be8a97e4b3e"/>
    <p:sldId xmlns:r="http://schemas.openxmlformats.org/officeDocument/2006/relationships" id="282" r:id="R14d1e1a226294f58"/>
    <p:sldId xmlns:r="http://schemas.openxmlformats.org/officeDocument/2006/relationships" id="283" r:id="R1d88647522234c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999b7e4d4748f3" /><Relationship Type="http://schemas.openxmlformats.org/officeDocument/2006/relationships/slideMaster" Target="/ppt/slideMasters/slideMaster1.xml" Id="Rb1e7c4e5e2984fbd" /><Relationship Type="http://schemas.openxmlformats.org/officeDocument/2006/relationships/notesMaster" Target="/ppt/notesMasters/notesMaster1.xml" Id="Ra9bc8f53710a4376" /><Relationship Type="http://schemas.openxmlformats.org/officeDocument/2006/relationships/presProps" Target="/ppt/presProps.xml" Id="Rbe92b5571e4a4d46" /><Relationship Type="http://schemas.openxmlformats.org/officeDocument/2006/relationships/tableStyles" Target="/ppt/tableStyles.xml" Id="R18d067ad30e34588" /><Relationship Type="http://schemas.openxmlformats.org/officeDocument/2006/relationships/slide" Target="/ppt/slides/slide1.xml" Id="Rd10b3aee60b44cf0" /><Relationship Type="http://schemas.openxmlformats.org/officeDocument/2006/relationships/slide" Target="/ppt/slides/slide2.xml" Id="R64f2c98d976c4241" /><Relationship Type="http://schemas.openxmlformats.org/officeDocument/2006/relationships/slide" Target="/ppt/slides/slide3.xml" Id="Rb11109e5e4084db8" /><Relationship Type="http://schemas.openxmlformats.org/officeDocument/2006/relationships/slide" Target="/ppt/slides/slide4.xml" Id="Rd72cd28e44c24abd" /><Relationship Type="http://schemas.openxmlformats.org/officeDocument/2006/relationships/slide" Target="/ppt/slides/slide5.xml" Id="R0edf602b39ea4ebf" /><Relationship Type="http://schemas.openxmlformats.org/officeDocument/2006/relationships/slide" Target="/ppt/slides/slide6.xml" Id="Rba501cb35f2f48da" /><Relationship Type="http://schemas.openxmlformats.org/officeDocument/2006/relationships/slide" Target="/ppt/slides/slide7.xml" Id="Rd7c2ec3f138d4107" /><Relationship Type="http://schemas.openxmlformats.org/officeDocument/2006/relationships/slide" Target="/ppt/slides/slide8.xml" Id="Rcc45f6eb127d4894" /><Relationship Type="http://schemas.openxmlformats.org/officeDocument/2006/relationships/slide" Target="/ppt/slides/slide9.xml" Id="R5e6a3c8434dc4efa" /><Relationship Type="http://schemas.openxmlformats.org/officeDocument/2006/relationships/slide" Target="/ppt/slides/slide10.xml" Id="R2f211b4f3c324e16" /><Relationship Type="http://schemas.openxmlformats.org/officeDocument/2006/relationships/slide" Target="/ppt/slides/slide11.xml" Id="R938adb79f0474ad0" /><Relationship Type="http://schemas.openxmlformats.org/officeDocument/2006/relationships/slide" Target="/ppt/slides/slide12.xml" Id="R077467d08d3240ac" /><Relationship Type="http://schemas.openxmlformats.org/officeDocument/2006/relationships/slide" Target="/ppt/slides/slide13.xml" Id="R5d2dd2d6652b4cf3" /><Relationship Type="http://schemas.openxmlformats.org/officeDocument/2006/relationships/slide" Target="/ppt/slides/slide14.xml" Id="Rba785b8a958f4193" /><Relationship Type="http://schemas.openxmlformats.org/officeDocument/2006/relationships/slide" Target="/ppt/slides/slide15.xml" Id="Rd6e7b24869ad4b9a" /><Relationship Type="http://schemas.openxmlformats.org/officeDocument/2006/relationships/slide" Target="/ppt/slides/slide16.xml" Id="R90b8dec4ee4645c5" /><Relationship Type="http://schemas.openxmlformats.org/officeDocument/2006/relationships/slide" Target="/ppt/slides/slide17.xml" Id="R5f31486a118c4deb" /><Relationship Type="http://schemas.openxmlformats.org/officeDocument/2006/relationships/slide" Target="/ppt/slides/slide18.xml" Id="R70641934e52e48a2" /><Relationship Type="http://schemas.openxmlformats.org/officeDocument/2006/relationships/slide" Target="/ppt/slides/slide19.xml" Id="Rc20791eeaa1c4892" /><Relationship Type="http://schemas.openxmlformats.org/officeDocument/2006/relationships/slide" Target="/ppt/slides/slide20.xml" Id="R4cb572a926b04c16" /><Relationship Type="http://schemas.openxmlformats.org/officeDocument/2006/relationships/slide" Target="/ppt/slides/slide21.xml" Id="Ra73c82e0d212453e" /><Relationship Type="http://schemas.openxmlformats.org/officeDocument/2006/relationships/slide" Target="/ppt/slides/slide22.xml" Id="Rfbe93d37948b4af3" /><Relationship Type="http://schemas.openxmlformats.org/officeDocument/2006/relationships/slide" Target="/ppt/slides/slide23.xml" Id="Rbdd3caad45a74014" /><Relationship Type="http://schemas.openxmlformats.org/officeDocument/2006/relationships/slide" Target="/ppt/slides/slide24.xml" Id="R79248720100e4447" /><Relationship Type="http://schemas.openxmlformats.org/officeDocument/2006/relationships/slide" Target="/ppt/slides/slide25.xml" Id="Rf2a56f476eda4ac3" /><Relationship Type="http://schemas.openxmlformats.org/officeDocument/2006/relationships/slide" Target="/ppt/slides/slide26.xml" Id="Ra5726be8a97e4b3e" /><Relationship Type="http://schemas.openxmlformats.org/officeDocument/2006/relationships/slide" Target="/ppt/slides/slide27.xml" Id="R14d1e1a226294f58" /><Relationship Type="http://schemas.openxmlformats.org/officeDocument/2006/relationships/slide" Target="/ppt/slides/slide28.xml" Id="R1d88647522234c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a602e9577c49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13c6381fcb418c" /><Relationship Type="http://schemas.openxmlformats.org/officeDocument/2006/relationships/notesMaster" Target="/ppt/notesMasters/notesMaster1.xml" Id="R09281e857bf14d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48fa61807a46c0" /><Relationship Type="http://schemas.openxmlformats.org/officeDocument/2006/relationships/notesMaster" Target="/ppt/notesMasters/notesMaster1.xml" Id="R6a16a8896dbe43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8bcfea8ad8484f" /><Relationship Type="http://schemas.openxmlformats.org/officeDocument/2006/relationships/notesMaster" Target="/ppt/notesMasters/notesMaster1.xml" Id="R6107edef15df44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7712b1ada140df" /><Relationship Type="http://schemas.openxmlformats.org/officeDocument/2006/relationships/notesMaster" Target="/ppt/notesMasters/notesMaster1.xml" Id="Rc5f7681682d345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46d2863ba84c45" /><Relationship Type="http://schemas.openxmlformats.org/officeDocument/2006/relationships/notesMaster" Target="/ppt/notesMasters/notesMaster1.xml" Id="R175c77e29a8d4f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5ef6a5264f4879" /><Relationship Type="http://schemas.openxmlformats.org/officeDocument/2006/relationships/notesMaster" Target="/ppt/notesMasters/notesMaster1.xml" Id="R4896d282e72646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35eae288d44d15" /><Relationship Type="http://schemas.openxmlformats.org/officeDocument/2006/relationships/notesMaster" Target="/ppt/notesMasters/notesMaster1.xml" Id="R510b61d818de46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a1b8a25a0c4d51" /><Relationship Type="http://schemas.openxmlformats.org/officeDocument/2006/relationships/notesMaster" Target="/ppt/notesMasters/notesMaster1.xml" Id="Re693114039ab4e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1c96a72fc54ddd" /><Relationship Type="http://schemas.openxmlformats.org/officeDocument/2006/relationships/notesMaster" Target="/ppt/notesMasters/notesMaster1.xml" Id="R4ec2fbd4b89047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727ca0fa974906" /><Relationship Type="http://schemas.openxmlformats.org/officeDocument/2006/relationships/notesMaster" Target="/ppt/notesMasters/notesMaster1.xml" Id="Rb9814b1002ae4c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2e0c0d83774496" /><Relationship Type="http://schemas.openxmlformats.org/officeDocument/2006/relationships/notesMaster" Target="/ppt/notesMasters/notesMaster1.xml" Id="Ra382ab84e80544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01d568828f4aa8" /><Relationship Type="http://schemas.openxmlformats.org/officeDocument/2006/relationships/notesMaster" Target="/ppt/notesMasters/notesMaster1.xml" Id="R613dcda1c68b4e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44a442d30c48de" /><Relationship Type="http://schemas.openxmlformats.org/officeDocument/2006/relationships/notesMaster" Target="/ppt/notesMasters/notesMaster1.xml" Id="R2c6b446ddbf3470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f2616d31d54078" /><Relationship Type="http://schemas.openxmlformats.org/officeDocument/2006/relationships/notesMaster" Target="/ppt/notesMasters/notesMaster1.xml" Id="Ra9b6ea0a660346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ba6b882f48450b" /><Relationship Type="http://schemas.openxmlformats.org/officeDocument/2006/relationships/notesMaster" Target="/ppt/notesMasters/notesMaster1.xml" Id="Rd93242484cdb42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ebc02fef3c4e59" /><Relationship Type="http://schemas.openxmlformats.org/officeDocument/2006/relationships/notesMaster" Target="/ppt/notesMasters/notesMaster1.xml" Id="R07984697bd394a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f8b5d4b1344dcf" /><Relationship Type="http://schemas.openxmlformats.org/officeDocument/2006/relationships/notesMaster" Target="/ppt/notesMasters/notesMaster1.xml" Id="R63c8b30251ba4e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ad6704326348a2" /><Relationship Type="http://schemas.openxmlformats.org/officeDocument/2006/relationships/notesMaster" Target="/ppt/notesMasters/notesMaster1.xml" Id="R019088168c6d49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a5ed5392bf4478" /><Relationship Type="http://schemas.openxmlformats.org/officeDocument/2006/relationships/notesMaster" Target="/ppt/notesMasters/notesMaster1.xml" Id="R6253bd904c7f46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eadfa171a74d89" /><Relationship Type="http://schemas.openxmlformats.org/officeDocument/2006/relationships/notesMaster" Target="/ppt/notesMasters/notesMaster1.xml" Id="Rc569d26cf7d240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d67316a84ca4ea3" /><Relationship Type="http://schemas.openxmlformats.org/officeDocument/2006/relationships/notesMaster" Target="/ppt/notesMasters/notesMaster1.xml" Id="R1b15095a9c0745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8fff7f5afe4415" /><Relationship Type="http://schemas.openxmlformats.org/officeDocument/2006/relationships/notesMaster" Target="/ppt/notesMasters/notesMaster1.xml" Id="Rf43901b2fe8640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8d3bff402144631" /><Relationship Type="http://schemas.openxmlformats.org/officeDocument/2006/relationships/notesMaster" Target="/ppt/notesMasters/notesMaster1.xml" Id="R8cba46fdb0e846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3881612cb4400f" /><Relationship Type="http://schemas.openxmlformats.org/officeDocument/2006/relationships/notesMaster" Target="/ppt/notesMasters/notesMaster1.xml" Id="R63a31e789c5848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581d45ded1402f" /><Relationship Type="http://schemas.openxmlformats.org/officeDocument/2006/relationships/notesMaster" Target="/ppt/notesMasters/notesMaster1.xml" Id="Ra356132ee8fc4b0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08a97e8459b43bd" /><Relationship Type="http://schemas.openxmlformats.org/officeDocument/2006/relationships/notesMaster" Target="/ppt/notesMasters/notesMaster1.xml" Id="R6a68e4f3e50d4ad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7a762a5a21b4237" /><Relationship Type="http://schemas.openxmlformats.org/officeDocument/2006/relationships/notesMaster" Target="/ppt/notesMasters/notesMaster1.xml" Id="R27556e5332534f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ff85b60fc30409d" /><Relationship Type="http://schemas.openxmlformats.org/officeDocument/2006/relationships/notesMaster" Target="/ppt/notesMasters/notesMaster1.xml" Id="Rcf18439354694f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SRAI: Statistics, Reasoning and Artificial Intelligence. I’m Mbaye Kebe. In Lesson 6, we explore eigenvalues, eigenvectors and spectral intuition. Those names may sound abstract, but the central question is practical: when a system transforms an input, what does it amplify, what does it reduce, and what remains on the same line?</a:t>
            </a:r>
          </a:p>
          <a:p xmlns:a="http://schemas.openxmlformats.org/drawingml/2006/main">
            <a:r>
              <a:t/>
            </a:r>
          </a:p>
          <a:p xmlns:a="http://schemas.openxmlformats.org/drawingml/2006/main">
            <a:r>
              <a:t>We will build the idea with small examples that you can check by hand. Then we will use it to understand repeated transformations, principal component analysis, and a synthetic sector model. You do not need to memorize every formula on the first viewing.</a:t>
            </a:r>
          </a:p>
          <a:p xmlns:a="http://schemas.openxmlformats.org/drawingml/2006/main">
            <a:r>
              <a:t/>
            </a:r>
          </a:p>
          <a:p xmlns:a="http://schemas.openxmlformats.org/drawingml/2006/main">
            <a:r>
              <a:t>Keep the distinction on the right in mind: numerical accuracy is not the same as model validity. We can calculate something correctly and still interpret it incorrectly. This lesson is about both the calculation and the reasoning.</a:t>
            </a:r>
          </a:p>
          <a:p xmlns:a="http://schemas.openxmlformats.org/drawingml/2006/main">
            <a:r>
              <a:t/>
            </a:r>
          </a:p>
          <a:p xmlns:a="http://schemas.openxmlformats.org/drawingml/2006/main">
            <a:r>
              <a:t>Let us turn that promise into four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question is about direction. Most input vectors change direction when a matrix acts on them. Are there special inputs that stay on the same line?</a:t>
            </a:r>
          </a:p>
          <a:p xmlns:a="http://schemas.openxmlformats.org/drawingml/2006/main">
            <a:r>
              <a:t/>
            </a:r>
          </a:p>
          <a:p xmlns:a="http://schemas.openxmlformats.org/drawingml/2006/main">
            <a:r>
              <a:t>Our second question is about the multiplier. Along one of these special directions, does the matrix stretch, shrink, reverse, or collapse the vector?</a:t>
            </a:r>
          </a:p>
          <a:p xmlns:a="http://schemas.openxmlformats.org/drawingml/2006/main">
            <a:r>
              <a:t/>
            </a:r>
          </a:p>
          <a:p xmlns:a="http://schemas.openxmlformats.org/drawingml/2006/main">
            <a:r>
              <a:t>Third, what happens when we apply the same transformation repeatedly? A small difference in the multiplier can become a very large difference after many steps.</a:t>
            </a:r>
          </a:p>
          <a:p xmlns:a="http://schemas.openxmlformats.org/drawingml/2006/main">
            <a:r>
              <a:t/>
            </a:r>
          </a:p>
          <a:p xmlns:a="http://schemas.openxmlformats.org/drawingml/2006/main">
            <a:r>
              <a:t>Finally, what does the result actually support? For example, a direction containing a large amount of variation is not automatically the most socially important direction. A large component of a model is not automatically a budget recommendation.</a:t>
            </a:r>
          </a:p>
          <a:p xmlns:a="http://schemas.openxmlformats.org/drawingml/2006/main">
            <a:r>
              <a:t/>
            </a:r>
          </a:p>
          <a:p xmlns:a="http://schemas.openxmlformats.org/drawingml/2006/main">
            <a:r>
              <a:t>We will move from pictures and arithmetic to numerical checks, then to interpretation. Each stage answers a different question.</a:t>
            </a:r>
          </a:p>
          <a:p xmlns:a="http://schemas.openxmlformats.org/drawingml/2006/main">
            <a:r>
              <a:t/>
            </a:r>
          </a:p>
          <a:p xmlns:a="http://schemas.openxmlformats.org/drawingml/2006/main">
            <a:r>
              <a:t>First, let us recall what a matrix does.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vector is an ordered list of coordinates. In two dimensions, we can picture it as an arrow starting at the origin. The order matters: the first coordinate and the second coordinate have different roles.</a:t>
            </a:r>
          </a:p>
          <a:p xmlns:a="http://schemas.openxmlformats.org/drawingml/2006/main">
            <a:r>
              <a:t/>
            </a:r>
          </a:p>
          <a:p xmlns:a="http://schemas.openxmlformats.org/drawingml/2006/main">
            <a:r>
              <a:t>A matrix is a rule that transforms that vector. Matrix multiplication combines the input coordinates to produce the output coordinates. That can change the arrow’s length, its direction, or both.</a:t>
            </a:r>
          </a:p>
          <a:p xmlns:a="http://schemas.openxmlformats.org/drawingml/2006/main">
            <a:r>
              <a:t/>
            </a:r>
          </a:p>
          <a:p xmlns:a="http://schemas.openxmlformats.org/drawingml/2006/main">
            <a:r>
              <a:t>Imagine a rule that triples the horizontal coordinate and leaves the vertical coordinate unchanged. An arrow pointing horizontally becomes three times as long. But an arrow pointing diagonally changes its slope, because only one coordinate has been stretched.</a:t>
            </a:r>
          </a:p>
          <a:p xmlns:a="http://schemas.openxmlformats.org/drawingml/2006/main">
            <a:r>
              <a:t/>
            </a:r>
          </a:p>
          <a:p xmlns:a="http://schemas.openxmlformats.org/drawingml/2006/main">
            <a:r>
              <a:t>So the same matrix can affect different inputs differently. We are looking for inputs whose transformation has a particularly simple description.</a:t>
            </a:r>
          </a:p>
          <a:p xmlns:a="http://schemas.openxmlformats.org/drawingml/2006/main">
            <a:r>
              <a:t/>
            </a:r>
          </a:p>
          <a:p xmlns:a="http://schemas.openxmlformats.org/drawingml/2006/main">
            <a:r>
              <a:t>For example, if our two coordinates represent two quantities, the first row of the matrix tells us how to combine those quantities to calculate the first output. The second row does the same for the second output. In a geometric example they are horizontal and vertical coordinates; in an applied model their meanings must be defined before we interpret the answer.</a:t>
            </a:r>
          </a:p>
          <a:p xmlns:a="http://schemas.openxmlformats.org/drawingml/2006/main">
            <a:r>
              <a:t/>
            </a:r>
          </a:p>
          <a:p xmlns:a="http://schemas.openxmlformats.org/drawingml/2006/main">
            <a:r>
              <a:t>Those inputs are our special directions.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an ordinary input, the output may point along a different line. For an eigenvector, the output is a scalar multiple of the input. A scalar is simply a number.</a:t>
            </a:r>
          </a:p>
          <a:p xmlns:a="http://schemas.openxmlformats.org/drawingml/2006/main">
            <a:r>
              <a:t/>
            </a:r>
          </a:p>
          <a:p xmlns:a="http://schemas.openxmlformats.org/drawingml/2006/main">
            <a:r>
              <a:t>Suppose the output is three times the input. The arrow becomes longer but remains on its original line. If the output is minus two times the input, the arrow reverses and doubles in length. It still lies on the same line through the origin.</a:t>
            </a:r>
          </a:p>
          <a:p xmlns:a="http://schemas.openxmlformats.org/drawingml/2006/main">
            <a:r>
              <a:t/>
            </a:r>
          </a:p>
          <a:p xmlns:a="http://schemas.openxmlformats.org/drawingml/2006/main">
            <a:r>
              <a:t>There is one important edge case. A zero multiplier sends the input to the zero vector, which has no direction. The input eigenvector itself must always be nonzero.</a:t>
            </a:r>
          </a:p>
          <a:p xmlns:a="http://schemas.openxmlformats.org/drawingml/2006/main">
            <a:r>
              <a:t/>
            </a:r>
          </a:p>
          <a:p xmlns:a="http://schemas.openxmlformats.org/drawingml/2006/main">
            <a:r>
              <a:t>These pictures describe real eigenpairs. Some real matrices have complex eigenvalues, so not every example can be understood as a real arrow staying on a line.</a:t>
            </a:r>
          </a:p>
          <a:p xmlns:a="http://schemas.openxmlformats.org/drawingml/2006/main">
            <a:r>
              <a:t/>
            </a:r>
          </a:p>
          <a:p xmlns:a="http://schemas.openxmlformats.org/drawingml/2006/main">
            <a:r>
              <a:t>Now we can read the defining equation without mystery.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left, we apply the square matrix A to the vector v. On the right, we multiply that same vector by the number lambda. An eigenpair is a vector and a multiplier for which these two operations give the same result.</a:t>
            </a:r>
          </a:p>
          <a:p xmlns:a="http://schemas.openxmlformats.org/drawingml/2006/main">
            <a:r>
              <a:t/>
            </a:r>
          </a:p>
          <a:p xmlns:a="http://schemas.openxmlformats.org/drawingml/2006/main">
            <a:r>
              <a:t>The word square means that the matrix has the same number of rows and columns. The vector v must be nonzero. Otherwise, both sides would be zero for any lambda, and the equation would tell us nothing about a special direction.</a:t>
            </a:r>
          </a:p>
          <a:p xmlns:a="http://schemas.openxmlformats.org/drawingml/2006/main">
            <a:r>
              <a:t/>
            </a:r>
          </a:p>
          <a:p xmlns:a="http://schemas.openxmlformats.org/drawingml/2006/main">
            <a:r>
              <a:t>Notice that this is a condition to check, not a promise that every vector will satisfy it. We cannot select an arbitrary vector and assume it is an eigenvector.</a:t>
            </a:r>
          </a:p>
          <a:p xmlns:a="http://schemas.openxmlformats.org/drawingml/2006/main">
            <a:r>
              <a:t/>
            </a:r>
          </a:p>
          <a:p xmlns:a="http://schemas.openxmlformats.org/drawingml/2006/main">
            <a:r>
              <a:t>We call v an eigenvector and lambda its eigenvalue. Together, they form an eigenpair.</a:t>
            </a:r>
          </a:p>
          <a:p xmlns:a="http://schemas.openxmlformats.org/drawingml/2006/main">
            <a:r>
              <a:t/>
            </a:r>
          </a:p>
          <a:p xmlns:a="http://schemas.openxmlformats.org/drawingml/2006/main">
            <a:r>
              <a:t>A simple stretch will make that equation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matrix has diagonal entries three and one, with zeros elsewhere. We say “diagonal three, one”. It triples the first coordinate and leaves the second unchanged.</a:t>
            </a:r>
          </a:p>
          <a:p xmlns:a="http://schemas.openxmlformats.org/drawingml/2006/main">
            <a:r>
              <a:t/>
            </a:r>
          </a:p>
          <a:p xmlns:a="http://schemas.openxmlformats.org/drawingml/2006/main">
            <a:r>
              <a:t>The horizontal input, one comma zero, becomes three comma zero. That is three times the original vector. The vertical input, zero comma one, stays unchanged, so its multiplier is one.</a:t>
            </a:r>
          </a:p>
          <a:p xmlns:a="http://schemas.openxmlformats.org/drawingml/2006/main">
            <a:r>
              <a:t/>
            </a:r>
          </a:p>
          <a:p xmlns:a="http://schemas.openxmlformats.org/drawingml/2006/main">
            <a:r>
              <a:t>Now look at the diagonal input, one comma one. It becomes three comma one. Could one number multiply both original coordinates to give that output? No. The first coordinate needs three, but the second needs one.</a:t>
            </a:r>
          </a:p>
          <a:p xmlns:a="http://schemas.openxmlformats.org/drawingml/2006/main">
            <a:r>
              <a:t/>
            </a:r>
          </a:p>
          <a:p xmlns:a="http://schemas.openxmlformats.org/drawingml/2006/main">
            <a:r>
              <a:t>In the notebook figure, the original and transformed arrows show this distinction visually. The axis arrows stay on their lines. The diagonal arrow does not. That is the geometric difference between an eigenvector and an ordinary input.</a:t>
            </a:r>
          </a:p>
          <a:p xmlns:a="http://schemas.openxmlformats.org/drawingml/2006/main">
            <a:r>
              <a:t/>
            </a:r>
          </a:p>
          <a:p xmlns:a="http://schemas.openxmlformats.org/drawingml/2006/main">
            <a:r>
              <a:t>We can confirm the picture by multiplication.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superscript T on a written pair means transpose: here it tells us to read the pair as a column vector, with one coordinate above the other.</a:t>
            </a:r>
          </a:p>
          <a:p xmlns:a="http://schemas.openxmlformats.org/drawingml/2006/main">
            <a:r>
              <a:t/>
            </a:r>
          </a:p>
          <a:p xmlns:a="http://schemas.openxmlformats.org/drawingml/2006/main">
            <a:r>
              <a:t>For the first input, multiplying A by one comma zero gives three comma zero. This is exactly three times one comma zero. So we have verified an eigenpair with eigenvalue three.</a:t>
            </a:r>
          </a:p>
          <a:p xmlns:a="http://schemas.openxmlformats.org/drawingml/2006/main">
            <a:r>
              <a:t/>
            </a:r>
          </a:p>
          <a:p xmlns:a="http://schemas.openxmlformats.org/drawingml/2006/main">
            <a:r>
              <a:t>For the second input, multiplying A by one comma one gives three comma one. If lambda were three, the right-hand side would be three comma three. If lambda were one, it would be one comma one. Neither matches.</a:t>
            </a:r>
          </a:p>
          <a:p xmlns:a="http://schemas.openxmlformats.org/drawingml/2006/main">
            <a:r>
              <a:t/>
            </a:r>
          </a:p>
          <a:p xmlns:a="http://schemas.openxmlformats.org/drawingml/2006/main">
            <a:r>
              <a:t>The essential requirement is that one multiplier must work for the entire vector, not a separate multiplier for each coordinate. That is why this second vector fails the test.</a:t>
            </a:r>
          </a:p>
          <a:p xmlns:a="http://schemas.openxmlformats.org/drawingml/2006/main">
            <a:r>
              <a:t/>
            </a:r>
          </a:p>
          <a:p xmlns:a="http://schemas.openxmlformats.org/drawingml/2006/main">
            <a:r>
              <a:t>When you are uncertain about an eigenpair, multiplication is a good place to start. Compute both sides and compare them.</a:t>
            </a:r>
          </a:p>
          <a:p xmlns:a="http://schemas.openxmlformats.org/drawingml/2006/main">
            <a:r>
              <a:t/>
            </a:r>
          </a:p>
          <a:p xmlns:a="http://schemas.openxmlformats.org/drawingml/2006/main">
            <a:r>
              <a:t>What can the multiplier tell us once the pair is valid?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real eigenpair, an eigenvalue of three triples the length. An eigenvalue of one leaves the vector unchanged. An eigenvalue of one-half halves its length.</a:t>
            </a:r>
          </a:p>
          <a:p xmlns:a="http://schemas.openxmlformats.org/drawingml/2006/main">
            <a:r>
              <a:t/>
            </a:r>
          </a:p>
          <a:p xmlns:a="http://schemas.openxmlformats.org/drawingml/2006/main">
            <a:r>
              <a:t>A negative value changes orientation as well as length. Minus two reverses the vector and doubles its length. Zero sends the vector to zero, although the input eigenvector is still nonzero.</a:t>
            </a:r>
          </a:p>
          <a:p xmlns:a="http://schemas.openxmlformats.org/drawingml/2006/main">
            <a:r>
              <a:t/>
            </a:r>
          </a:p>
          <a:p xmlns:a="http://schemas.openxmlformats.org/drawingml/2006/main">
            <a:r>
              <a:t>The length factor is the absolute value of lambda. Absolute value ignores the sign when measuring magnitude. The sign tells us whether orientation reverses.</a:t>
            </a:r>
          </a:p>
          <a:p xmlns:a="http://schemas.openxmlformats.org/drawingml/2006/main">
            <a:r>
              <a:t/>
            </a:r>
          </a:p>
          <a:p xmlns:a="http://schemas.openxmlformats.org/drawingml/2006/main">
            <a:r>
              <a:t>What would minus one do? It would reverse the vector without changing its length. That is different from a multiplier of positive one, even though both have magnitude one.</a:t>
            </a:r>
          </a:p>
          <a:p xmlns:a="http://schemas.openxmlformats.org/drawingml/2006/main">
            <a:r>
              <a:t/>
            </a:r>
          </a:p>
          <a:p xmlns:a="http://schemas.openxmlformats.org/drawingml/2006/main">
            <a:r>
              <a:t>Keep magnitude and sign separate. We will need that distinction when discussing repeated transformations.</a:t>
            </a:r>
          </a:p>
          <a:p xmlns:a="http://schemas.openxmlformats.org/drawingml/2006/main">
            <a:r>
              <a:t/>
            </a:r>
          </a:p>
          <a:p xmlns:a="http://schemas.openxmlformats.org/drawingml/2006/main">
            <a:r>
              <a:t>Before measuring errors, we need one notation clarification.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double bars mean norm, which here measures vector length. The subscript two identifies the Euclidean norm. It does not mean that we square the length.</a:t>
            </a:r>
          </a:p>
          <a:p xmlns:a="http://schemas.openxmlformats.org/drawingml/2006/main">
            <a:r>
              <a:t/>
            </a:r>
          </a:p>
          <a:p xmlns:a="http://schemas.openxmlformats.org/drawingml/2006/main">
            <a:r>
              <a:t>For the vector three comma four, the Euclidean length is the square root of three squared plus four squared. That is the square root of twenty-five, which is five.</a:t>
            </a:r>
          </a:p>
          <a:p xmlns:a="http://schemas.openxmlformats.org/drawingml/2006/main">
            <a:r>
              <a:t/>
            </a:r>
          </a:p>
          <a:p xmlns:a="http://schemas.openxmlformats.org/drawingml/2006/main">
            <a:r>
              <a:t>On the right, there is also a superscript two. That means square the norm itself. The result is twenty-five, not five.</a:t>
            </a:r>
          </a:p>
          <a:p xmlns:a="http://schemas.openxmlformats.org/drawingml/2006/main">
            <a:r>
              <a:t/>
            </a:r>
          </a:p>
          <a:p xmlns:a="http://schemas.openxmlformats.org/drawingml/2006/main">
            <a:r>
              <a:t>This matters when normalizing a vector. We divide three comma four by its length, five, to obtain zero-point-six comma zero-point-eight. That new vector has length one. Dividing by twenty-five would not give unit length.</a:t>
            </a:r>
          </a:p>
          <a:p xmlns:a="http://schemas.openxmlformats.org/drawingml/2006/main">
            <a:r>
              <a:t/>
            </a:r>
          </a:p>
          <a:p xmlns:a="http://schemas.openxmlformats.org/drawingml/2006/main">
            <a:r>
              <a:t>So remember: the subscript identifies the norm; the superscript indicates a power.</a:t>
            </a:r>
          </a:p>
          <a:p xmlns:a="http://schemas.openxmlformats.org/drawingml/2006/main">
            <a:r>
              <a:t/>
            </a:r>
          </a:p>
          <a:p xmlns:a="http://schemas.openxmlformats.org/drawingml/2006/main">
            <a:r>
              <a:t>With that distinction clear, we can test a numerical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reject a zero input before dividing. Then normalize the candidate vector to have length one. This gives us a consistent scale for checking the result.</a:t>
            </a:r>
          </a:p>
          <a:p xmlns:a="http://schemas.openxmlformats.org/drawingml/2006/main">
            <a:r>
              <a:t/>
            </a:r>
          </a:p>
          <a:p xmlns:a="http://schemas.openxmlformats.org/drawingml/2006/main">
            <a:r>
              <a:t>Next, calculate A times u minus lambda times u. This difference is the residual. If the pair were exact, the residual would be zero. With floating-point arithmetic, we normally expect a small difference rather than perfect equality.</a:t>
            </a:r>
          </a:p>
          <a:p xmlns:a="http://schemas.openxmlformats.org/drawingml/2006/main">
            <a:r>
              <a:t/>
            </a:r>
          </a:p>
          <a:p xmlns:a="http://schemas.openxmlformats.org/drawingml/2006/main">
            <a:r>
              <a:t>The chapter scales the residual by the matrix two-norm plus the absolute value of lambda. If that denominator is zero, it uses the unscaled residual. We compare the result with the documented tolerance.</a:t>
            </a:r>
          </a:p>
          <a:p xmlns:a="http://schemas.openxmlformats.org/drawingml/2006/main">
            <a:r>
              <a:t/>
            </a:r>
          </a:p>
          <a:p xmlns:a="http://schemas.openxmlformats.org/drawingml/2006/main">
            <a:r>
              <a:t>A small residual supports the computed eigenpair. It does not prove that this is the dominant eigenpair, and it does not prove that the model represents reality. Those are separate questions.</a:t>
            </a:r>
          </a:p>
          <a:p xmlns:a="http://schemas.openxmlformats.org/drawingml/2006/main">
            <a:r>
              <a:t/>
            </a:r>
          </a:p>
          <a:p xmlns:a="http://schemas.openxmlformats.org/drawingml/2006/main">
            <a:r>
              <a:t>Think of the residual as a disagreement between two routes to the same answer. One route performs the matrix multiplication. The other simply scales the vector. A good eigenpair makes those routes agree closely. Scaling the disagreement helps distinguish a genuinely large error from a small error in a calculation involving large numbers. The tolerance is the acceptance threshold, chosen for the numerical problem; it is not a guarantee about the quality of the underlying data.</a:t>
            </a:r>
          </a:p>
          <a:p xmlns:a="http://schemas.openxmlformats.org/drawingml/2006/main">
            <a:r>
              <a:t/>
            </a:r>
          </a:p>
          <a:p xmlns:a="http://schemas.openxmlformats.org/drawingml/2006/main">
            <a:r>
              <a:t>Let us examine a matrix that mixes both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new matrix S has two and one in its first row, and one and two in its second. Multiply it by the vector one comma one. The first output is two plus one, and the second is one plus two. The result is three comma three: three times the original vector.</a:t>
            </a:r>
          </a:p>
          <a:p xmlns:a="http://schemas.openxmlformats.org/drawingml/2006/main">
            <a:r>
              <a:t/>
            </a:r>
          </a:p>
          <a:p xmlns:a="http://schemas.openxmlformats.org/drawingml/2006/main">
            <a:r>
              <a:t>Now use one comma minus one. The first output is two minus one, which is one. The second is one minus two, which is minus one. The vector stays unchanged, so its eigenvalue is one.</a:t>
            </a:r>
          </a:p>
          <a:p xmlns:a="http://schemas.openxmlformats.org/drawingml/2006/main">
            <a:r>
              <a:t/>
            </a:r>
          </a:p>
          <a:p xmlns:a="http://schemas.openxmlformats.org/drawingml/2006/main">
            <a:r>
              <a:t>These two eigenvectors are independent and perpendicular. Together, they span the plane. This connects directly to Lesson 5: a suitable basis can make a transformation much easier to describe.</a:t>
            </a:r>
          </a:p>
          <a:p xmlns:a="http://schemas.openxmlformats.org/drawingml/2006/main">
            <a:r>
              <a:t/>
            </a:r>
          </a:p>
          <a:p xmlns:a="http://schemas.openxmlformats.org/drawingml/2006/main">
            <a:r>
              <a:t>But how did we find the eigenvalues three and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rearrange the eigenpair equation to say that S minus lambda I, applied to v, gives zero. Because v must be nonzero, this matrix must be singular. Its determinant must therefore be zero.</a:t>
            </a:r>
          </a:p>
          <a:p xmlns:a="http://schemas.openxmlformats.org/drawingml/2006/main">
            <a:r>
              <a:t/>
            </a:r>
          </a:p>
          <a:p xmlns:a="http://schemas.openxmlformats.org/drawingml/2006/main">
            <a:r>
              <a:t>For this two-by-two example, the determinant is two minus lambda, squared, minus one. Expanding gives lambda squared minus four lambda plus three. Factoring gives lambda minus three times lambda minus one.</a:t>
            </a:r>
          </a:p>
          <a:p xmlns:a="http://schemas.openxmlformats.org/drawingml/2006/main">
            <a:r>
              <a:t/>
            </a:r>
          </a:p>
          <a:p xmlns:a="http://schemas.openxmlformats.org/drawingml/2006/main">
            <a:r>
              <a:t>For that product to be zero, lambda must be three or one. We then solve for a nonzero vector associated with each value and verify it by multiplication, as we just did.</a:t>
            </a:r>
          </a:p>
          <a:p xmlns:a="http://schemas.openxmlformats.org/drawingml/2006/main">
            <a:r>
              <a:t/>
            </a:r>
          </a:p>
          <a:p xmlns:a="http://schemas.openxmlformats.org/drawingml/2006/main">
            <a:r>
              <a:t>You do not need to memorize a large determinant procedure. This small example explains the principle. For larger numerical problems, we use appropriate computational methods and still check their results.</a:t>
            </a:r>
          </a:p>
          <a:p xmlns:a="http://schemas.openxmlformats.org/drawingml/2006/main">
            <a:r>
              <a:t/>
            </a:r>
          </a:p>
          <a:p xmlns:a="http://schemas.openxmlformats.org/drawingml/2006/main">
            <a:r>
              <a:t>The eigenvectors now give us a useful coordinate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Normalize our two eigenvectors and put them into the columns of Q. Because they are perpendicular and have unit length, Q transpose changes from the original coordinates into eigenvector coordinates.</a:t>
            </a:r>
          </a:p>
          <a:p xmlns:a="http://schemas.openxmlformats.org/drawingml/2006/main">
            <a:r>
              <a:t/>
            </a:r>
          </a:p>
          <a:p xmlns:a="http://schemas.openxmlformats.org/drawingml/2006/main">
            <a:r>
              <a:t>In those coordinates, the transformation is simple. The diagonal matrix D multiplies one component by three and the other by one. Multiplying by Q changes back to the original coordinates.</a:t>
            </a:r>
          </a:p>
          <a:p xmlns:a="http://schemas.openxmlformats.org/drawingml/2006/main">
            <a:r>
              <a:t/>
            </a:r>
          </a:p>
          <a:p xmlns:a="http://schemas.openxmlformats.org/drawingml/2006/main">
            <a:r>
              <a:t>That is the meaning of S equals Q D Q transpose. We have not changed the transformation; we have changed how we describe it.</a:t>
            </a:r>
          </a:p>
          <a:p xmlns:a="http://schemas.openxmlformats.org/drawingml/2006/main">
            <a:r>
              <a:t/>
            </a:r>
          </a:p>
          <a:p xmlns:a="http://schemas.openxmlformats.org/drawingml/2006/main">
            <a:r>
              <a:t>After k repetitions, the diagonal factors become three to the power k and one to the power k. This works for our symmetric example. We must not assume that every matrix has an orthonormal eigenbasis.</a:t>
            </a:r>
          </a:p>
          <a:p xmlns:a="http://schemas.openxmlformats.org/drawingml/2006/main">
            <a:r>
              <a:t/>
            </a:r>
          </a:p>
          <a:p xmlns:a="http://schemas.openxmlformats.org/drawingml/2006/main">
            <a:r>
              <a:t>An eigenmode is the part of the input lying along one eigenvector direction. For this example, the direction one comma one describes coordinates moving together, whereas one comma minus one describes coordinates moving in opposition. The transformation amplifies the together component by three and preserves the opposing component. Expressing an input in that basis separates the two effects instead of mixing them in every calculation.</a:t>
            </a:r>
          </a:p>
          <a:p xmlns:a="http://schemas.openxmlformats.org/drawingml/2006/main">
            <a:r>
              <a:t/>
            </a:r>
          </a:p>
          <a:p xmlns:a="http://schemas.openxmlformats.org/drawingml/2006/main">
            <a:r>
              <a:t>Let us see what this gives after ten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ten applications, the first eigenmode is multiplied by three to the tenth power: fifty-nine thousand and forty-nine. The second is multiplied by one to the tenth power, which is still one.</a:t>
            </a:r>
          </a:p>
          <a:p xmlns:a="http://schemas.openxmlformats.org/drawingml/2006/main">
            <a:r>
              <a:t/>
            </a:r>
          </a:p>
          <a:p xmlns:a="http://schemas.openxmlformats.org/drawingml/2006/main">
            <a:r>
              <a:t>When we reconstruct the transformation in the original coordinates, we obtain the matrix shown on the right. Its diagonal entries are twenty-nine thousand five hundred and twenty-five, and its off-diagonal entries are twenty-nine thousand five hundred and twenty-four.</a:t>
            </a:r>
          </a:p>
          <a:p xmlns:a="http://schemas.openxmlformats.org/drawingml/2006/main">
            <a:r>
              <a:t/>
            </a:r>
          </a:p>
          <a:p xmlns:a="http://schemas.openxmlformats.org/drawingml/2006/main">
            <a:r>
              <a:t>The large entries reflect the strongly amplified mode. But an input with no component along that mode would not experience that amplification. The starting vector matters.</a:t>
            </a:r>
          </a:p>
          <a:p xmlns:a="http://schemas.openxmlformats.org/drawingml/2006/main">
            <a:r>
              <a:t/>
            </a:r>
          </a:p>
          <a:p xmlns:a="http://schemas.openxmlformats.org/drawingml/2006/main">
            <a:r>
              <a:t>In the notebook, the reconstructed power can be checked against direct matrix multiplication. Two independent calculation routes provide a useful consistency check.</a:t>
            </a:r>
          </a:p>
          <a:p xmlns:a="http://schemas.openxmlformats.org/drawingml/2006/main">
            <a:r>
              <a:t/>
            </a:r>
          </a:p>
          <a:p xmlns:a="http://schemas.openxmlformats.org/drawingml/2006/main">
            <a:r>
              <a:t>There is an important limitation to this shortcut.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matrix has a repeated eigenvalue of one, but only one independent eigenvector. It does not have enough eigenvectors to form a basis for the plane. Such a matrix is called defective.</a:t>
            </a:r>
          </a:p>
          <a:p xmlns:a="http://schemas.openxmlformats.org/drawingml/2006/main">
            <a:r>
              <a:t/>
            </a:r>
          </a:p>
          <a:p xmlns:a="http://schemas.openxmlformats.org/drawingml/2006/main">
            <a:r>
              <a:t>Repeated multiplication gives one and k in the first row, and zero and one in the second. The off-diagonal entry grows as the number of steps increases.</a:t>
            </a:r>
          </a:p>
          <a:p xmlns:a="http://schemas.openxmlformats.org/drawingml/2006/main">
            <a:r>
              <a:t/>
            </a:r>
          </a:p>
          <a:p xmlns:a="http://schemas.openxmlformats.org/drawingml/2006/main">
            <a:r>
              <a:t>For example, applying the kth power to zero comma one gives k comma one. That vector grows even though both eigenvalues are one. The coupling between coordinates is important.</a:t>
            </a:r>
          </a:p>
          <a:p xmlns:a="http://schemas.openxmlformats.org/drawingml/2006/main">
            <a:r>
              <a:t/>
            </a:r>
          </a:p>
          <a:p xmlns:a="http://schemas.openxmlformats.org/drawingml/2006/main">
            <a:r>
              <a:t>The lesson is not that eigenvalues are useless. It is that we must interpret them together with the matrix structure. A repeated eigenvalue does not, by itself, tell us whether diagonalization is possible.</a:t>
            </a:r>
          </a:p>
          <a:p xmlns:a="http://schemas.openxmlformats.org/drawingml/2006/main">
            <a:r>
              <a:t/>
            </a:r>
          </a:p>
          <a:p xmlns:a="http://schemas.openxmlformats.org/drawingml/2006/main">
            <a:r>
              <a:t>We can see the mechanism without any advanced terminology. The second coordinate stays unchanged, while each application adds that second coordinate to the first. Repeating the operation accumulates the addition. This is why a system can grow at the boundary value one even though no eigenvalue has magnitude greater than one.</a:t>
            </a:r>
          </a:p>
          <a:p xmlns:a="http://schemas.openxmlformats.org/drawingml/2006/main">
            <a:r>
              <a:t/>
            </a:r>
          </a:p>
          <a:p xmlns:a="http://schemas.openxmlformats.org/drawingml/2006/main">
            <a:r>
              <a:t>We can still make a precise statement about long-run decay.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spectral radius is the largest absolute value among the eigenvalues. We use absolute value because a large negative multiplier can amplify length just as a large positive one can.</a:t>
            </a:r>
          </a:p>
          <a:p xmlns:a="http://schemas.openxmlformats.org/drawingml/2006/main">
            <a:r>
              <a:t/>
            </a:r>
          </a:p>
          <a:p xmlns:a="http://schemas.openxmlformats.org/drawingml/2006/main">
            <a:r>
              <a:t>For a fixed, finite-dimensional, autonomous linear system, the next state is A times the current state. Every initial vector tends to zero if and only if the spectral radius is strictly less than one.</a:t>
            </a:r>
          </a:p>
          <a:p xmlns:a="http://schemas.openxmlformats.org/drawingml/2006/main">
            <a:r>
              <a:t/>
            </a:r>
          </a:p>
          <a:p xmlns:a="http://schemas.openxmlformats.org/drawingml/2006/main">
            <a:r>
              <a:t>The word every matters. So does strictly: equality to one is a boundary case and does not guarantee decay. The statement also assumes that the same matrix is used at every step, with no added forcing term.</a:t>
            </a:r>
          </a:p>
          <a:p xmlns:a="http://schemas.openxmlformats.org/drawingml/2006/main">
            <a:r>
              <a:t/>
            </a:r>
          </a:p>
          <a:p xmlns:a="http://schemas.openxmlformats.org/drawingml/2006/main">
            <a:r>
              <a:t>Finally, this is a long-run result. It does not say that length decreases at every individual step. A system can grow temporarily and still eventually decay.</a:t>
            </a:r>
          </a:p>
          <a:p xmlns:a="http://schemas.openxmlformats.org/drawingml/2006/main">
            <a:r>
              <a:t/>
            </a:r>
          </a:p>
          <a:p xmlns:a="http://schemas.openxmlformats.org/drawingml/2006/main">
            <a:r>
              <a:t>The next examples make that last point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example multiplies every coordinate by zero-point-eight. Each step reduces length, so the system decays. The second multiplies every coordinate by one-point-one, so nonzero inputs grow.</a:t>
            </a:r>
          </a:p>
          <a:p xmlns:a="http://schemas.openxmlformats.org/drawingml/2006/main">
            <a:r>
              <a:t/>
            </a:r>
          </a:p>
          <a:p xmlns:a="http://schemas.openxmlformats.org/drawingml/2006/main">
            <a:r>
              <a:t>The third matrix also has spectral radius zero-point-eight, but it contains a coupling term of four. That coupling can produce a substantial initial increase before the long-run decay takes over.</a:t>
            </a:r>
          </a:p>
          <a:p xmlns:a="http://schemas.openxmlformats.org/drawingml/2006/main">
            <a:r>
              <a:t/>
            </a:r>
          </a:p>
          <a:p xmlns:a="http://schemas.openxmlformats.org/drawingml/2006/main">
            <a:r>
              <a:t>The notebook trajectories help separate two ideas: what happens early, and what happens eventually. When reading a plot, check the starting vector and the axes as well as the curve.</a:t>
            </a:r>
          </a:p>
          <a:p xmlns:a="http://schemas.openxmlformats.org/drawingml/2006/main">
            <a:r>
              <a:t/>
            </a:r>
          </a:p>
          <a:p xmlns:a="http://schemas.openxmlformats.org/drawingml/2006/main">
            <a:r>
              <a:t>The numbers on this slide are spectral radii. They are not universal bounds on how much a vector’s length can change in a single step. For that question, the matrix norm is relevant.</a:t>
            </a:r>
          </a:p>
          <a:p xmlns:a="http://schemas.openxmlformats.org/drawingml/2006/main">
            <a:r>
              <a:t/>
            </a:r>
          </a:p>
          <a:p xmlns:a="http://schemas.openxmlformats.org/drawingml/2006/main">
            <a:r>
              <a:t>Here are two ways a single observation can mislead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left, the matrix has diagonal entries one-point-one and zero-point-nine. If we start exactly along the second coordinate, that trajectory decays. But the first coordinate contains an unstable mode. A component in that direction grows. Observing one decaying trajectory does not prove that every trajectory decays.</a:t>
            </a:r>
          </a:p>
          <a:p xmlns:a="http://schemas.openxmlformats.org/drawingml/2006/main">
            <a:r>
              <a:t/>
            </a:r>
          </a:p>
          <a:p xmlns:a="http://schemas.openxmlformats.org/drawingml/2006/main">
            <a:r>
              <a:t>On the right, we use the coupled matrix from the previous slide. Starting from zero comma one gives four comma zero-point-eight after one step. Its length is about four-point-zero-eight, compared with an initial length of one.</a:t>
            </a:r>
          </a:p>
          <a:p xmlns:a="http://schemas.openxmlformats.org/drawingml/2006/main">
            <a:r>
              <a:t/>
            </a:r>
          </a:p>
          <a:p xmlns:a="http://schemas.openxmlformats.org/drawingml/2006/main">
            <a:r>
              <a:t>Nevertheless, the spectral radius is below one, so the trajectory eventually tends to zero. Temporary amplification and eventual decay are compatible.</a:t>
            </a:r>
          </a:p>
          <a:p xmlns:a="http://schemas.openxmlformats.org/drawingml/2006/main">
            <a:r>
              <a:t/>
            </a:r>
          </a:p>
          <a:p xmlns:a="http://schemas.openxmlformats.org/drawingml/2006/main">
            <a:r>
              <a:t>Always ask whether a claim concerns one starting point, all starting points, one step, or the long run.</a:t>
            </a:r>
          </a:p>
          <a:p xmlns:a="http://schemas.openxmlformats.org/drawingml/2006/main">
            <a:r>
              <a:t/>
            </a:r>
          </a:p>
          <a:p xmlns:a="http://schemas.openxmlformats.org/drawingml/2006/main">
            <a:r>
              <a:t>Now let us consider how to compute a dominant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Power iteration repeatedly multiplies a vector by the matrix and normalizes the result. The normalization prevents the size alone from becoming the focus; we want to study the direction.</a:t>
            </a:r>
          </a:p>
          <a:p xmlns:a="http://schemas.openxmlformats.org/drawingml/2006/main">
            <a:r>
              <a:t/>
            </a:r>
          </a:p>
          <a:p xmlns:a="http://schemas.openxmlformats.org/drawingml/2006/main">
            <a:r>
              <a:t>The intuition is that a mode with a strictly larger eigenvalue magnitude can increasingly dominate the others. But the starting vector must excite that mode. If it has no component in the required direction, the iteration can miss it.</a:t>
            </a:r>
          </a:p>
          <a:p xmlns:a="http://schemas.openxmlformats.org/drawingml/2006/main">
            <a:r>
              <a:t/>
            </a:r>
          </a:p>
          <a:p xmlns:a="http://schemas.openxmlformats.org/drawingml/2006/main">
            <a:r>
              <a:t>Once we have a candidate, we estimate its eigenvalue and check the residual. For a unit real vector, the Rayleigh quotient is u transpose A u. We also need evidence that the selected mode is dominant, not merely an accurate eigenpair.</a:t>
            </a:r>
          </a:p>
          <a:p xmlns:a="http://schemas.openxmlformats.org/drawingml/2006/main">
            <a:r>
              <a:t/>
            </a:r>
          </a:p>
          <a:p xmlns:a="http://schemas.openxmlformats.org/drawingml/2006/main">
            <a:r>
              <a:t>Equal-magnitude competing eigenvalues can prevent the simple convergence we expect. A negative dominant eigenvalue may also make the vector’s sign alternate while its line converges.</a:t>
            </a:r>
          </a:p>
          <a:p xmlns:a="http://schemas.openxmlformats.org/drawingml/2006/main">
            <a:r>
              <a:t/>
            </a:r>
          </a:p>
          <a:p xmlns:a="http://schemas.openxmlformats.org/drawingml/2006/main">
            <a:r>
              <a:t>To understand why the method can work, imagine an input containing some of the mode with multiplier three and some of the mode with multiplier one. After several steps, the first contribution has been multiplied by three repeatedly, while the second has not grown. Dividing by the length changes the overall size but preserves their relative proportions. The amplified mode therefore becomes more prominent. This explanation depends on the stated assumptions; normalization alone cannot create convergence.</a:t>
            </a:r>
          </a:p>
          <a:p xmlns:a="http://schemas.openxmlformats.org/drawingml/2006/main">
            <a:r>
              <a:t/>
            </a:r>
          </a:p>
          <a:p xmlns:a="http://schemas.openxmlformats.org/drawingml/2006/main">
            <a:r>
              <a:t>A deceptively stable number illustrates the danger.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the diagonal matrix with entries one and minus one, and start with equal nonzero coordinates. After normalization, the coordinates have equal squared magnitudes.</a:t>
            </a:r>
          </a:p>
          <a:p xmlns:a="http://schemas.openxmlformats.org/drawingml/2006/main">
            <a:r>
              <a:t/>
            </a:r>
          </a:p>
          <a:p xmlns:a="http://schemas.openxmlformats.org/drawingml/2006/main">
            <a:r>
              <a:t>The Rayleigh quotient subtracts one of those squared magnitudes from the other, so it is zero. It stays zero at every iteration. A stopping rule that checks only whether this number has changed could declare success.</a:t>
            </a:r>
          </a:p>
          <a:p xmlns:a="http://schemas.openxmlformats.org/drawingml/2006/main">
            <a:r>
              <a:t/>
            </a:r>
          </a:p>
          <a:p xmlns:a="http://schemas.openxmlformats.org/drawingml/2006/main">
            <a:r>
              <a:t>But the residual for the proposed eigenvalue zero has length one. It is not small. The matrix has eigenvalues one and minus one, not zero. Meanwhile, the vector alternates rather than settling into a single eigenvector direction.</a:t>
            </a:r>
          </a:p>
          <a:p xmlns:a="http://schemas.openxmlformats.org/drawingml/2006/main">
            <a:r>
              <a:t/>
            </a:r>
          </a:p>
          <a:p xmlns:a="http://schemas.openxmlformats.org/drawingml/2006/main">
            <a:r>
              <a:t>This is why a stable estimate is not enough. Check the defining equation, not just the apparent stability of a printed number.</a:t>
            </a:r>
          </a:p>
          <a:p xmlns:a="http://schemas.openxmlformats.org/drawingml/2006/main">
            <a:r>
              <a:t/>
            </a:r>
          </a:p>
          <a:p xmlns:a="http://schemas.openxmlformats.org/drawingml/2006/main">
            <a:r>
              <a:t>Let us connect eigenvectors to a familiar statistical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Principal component analysis, or PCA, finds directions of variation in data. Begin by subtracting each variable’s mean. This centers the data so that we study variation around the mean rather than the location of the whole dataset.</a:t>
            </a:r>
          </a:p>
          <a:p xmlns:a="http://schemas.openxmlformats.org/drawingml/2006/main">
            <a:r>
              <a:t/>
            </a:r>
          </a:p>
          <a:p xmlns:a="http://schemas.openxmlformats.org/drawingml/2006/main">
            <a:r>
              <a:t>Next, form the covariance matrix. It describes how the centered variables vary individually and together. Its eigenvectors can be chosen perpendicular to one another. These are the principal directions, and their eigenvalues measure the variance along those directions.</a:t>
            </a:r>
          </a:p>
          <a:p xmlns:a="http://schemas.openxmlformats.org/drawingml/2006/main">
            <a:r>
              <a:t/>
            </a:r>
          </a:p>
          <a:p xmlns:a="http://schemas.openxmlformats.org/drawingml/2006/main">
            <a:r>
              <a:t>Choosing a direction with a large eigenvalue retains a large amount of sample variation. That is a useful compression objective. It is not automatically a measure of predictive power, causality, or social importance.</a:t>
            </a:r>
          </a:p>
          <a:p xmlns:a="http://schemas.openxmlformats.org/drawingml/2006/main">
            <a:r>
              <a:t/>
            </a:r>
          </a:p>
          <a:p xmlns:a="http://schemas.openxmlformats.org/drawingml/2006/main">
            <a:r>
              <a:t>Measurement units matter: changing the scale of a variable can change covariance-based PCA. Centering is not the same as standardizing.</a:t>
            </a:r>
          </a:p>
          <a:p xmlns:a="http://schemas.openxmlformats.org/drawingml/2006/main">
            <a:r>
              <a:t/>
            </a:r>
          </a:p>
          <a:p xmlns:a="http://schemas.openxmlformats.org/drawingml/2006/main">
            <a:r>
              <a:t>Standardizing goes further than centering: it also divides each variable by a measure of its spread, usually its standard deviation. That changes the relative influence of the variables. For instance, measuring a quantity in thousands rather than single units can change covariance-based PCA unless we account for the scaling. The appropriate choice depends on what variation we want the analysis to represent.</a:t>
            </a:r>
          </a:p>
          <a:p xmlns:a="http://schemas.openxmlformats.org/drawingml/2006/main">
            <a:r>
              <a:t/>
            </a:r>
          </a:p>
          <a:p xmlns:a="http://schemas.openxmlformats.org/drawingml/2006/main">
            <a:r>
              <a:t>A four-observation example shows the calculation’s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observations are two comma one, three comma two, four comma two-point-five, and five comma four. Both coordinates generally increase together. That is the intuitive reason one direction captures so much of their variation. The covariance matrix summarizes this pattern, and its eigenvectors identify the directions along and across it. Projecting onto the first direction gives a one-dimensional summary, while discarding the second direction loses a small amount of sample variation.</a:t>
            </a:r>
          </a:p>
          <a:p xmlns:a="http://schemas.openxmlformats.org/drawingml/2006/main">
            <a:r>
              <a:t/>
            </a:r>
          </a:p>
          <a:p xmlns:a="http://schemas.openxmlformats.org/drawingml/2006/main">
            <a:r>
              <a:t>These four observations are synthetic. The mean is three-point-five for the first variable and two-point-three-seven-five for the second. Subtract those means from each observation. For example, the first centered observation is minus one-point-five, minus one-point-three-seven-five.</a:t>
            </a:r>
          </a:p>
          <a:p xmlns:a="http://schemas.openxmlformats.org/drawingml/2006/main">
            <a:r>
              <a:t/>
            </a:r>
          </a:p>
          <a:p xmlns:a="http://schemas.openxmlformats.org/drawingml/2006/main">
            <a:r>
              <a:t>For sample covariance, we divide by n minus one, which here is three. The resulting eigenvalues are approximately three-point-one-nine-eight-seven-seven and zero-point-zero-three-zero-three-nine. Their sum equals the total sample variance.</a:t>
            </a:r>
          </a:p>
          <a:p xmlns:a="http://schemas.openxmlformats.org/drawingml/2006/main">
            <a:r>
              <a:t/>
            </a:r>
          </a:p>
          <a:p xmlns:a="http://schemas.openxmlformats.org/drawingml/2006/main">
            <a:r>
              <a:t>Divide each eigenvalue by that total. The first direction accounts for about ninety-nine-point-zero-six percent of the variance, and the second for about zero-point-nine-four percent.</a:t>
            </a:r>
          </a:p>
          <a:p xmlns:a="http://schemas.openxmlformats.org/drawingml/2006/main">
            <a:r>
              <a:t/>
            </a:r>
          </a:p>
          <a:p xmlns:a="http://schemas.openxmlformats.org/drawingml/2006/main">
            <a:r>
              <a:t>This means that the data lie mostly along one principal direction in the chosen units. It does not mean that we have established ninety-nine percent predictive accuracy.</a:t>
            </a:r>
          </a:p>
          <a:p xmlns:a="http://schemas.openxmlformats.org/drawingml/2006/main">
            <a:r>
              <a:t/>
            </a:r>
          </a:p>
          <a:p xmlns:a="http://schemas.openxmlformats.org/drawingml/2006/main">
            <a:r>
              <a:t>Let us make that boundary explicit.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does the percentage say? One principal direction captures most of the sample variance in these four observations, with these measurement units.</a:t>
            </a:r>
          </a:p>
          <a:p xmlns:a="http://schemas.openxmlformats.org/drawingml/2006/main">
            <a:r>
              <a:t/>
            </a:r>
          </a:p>
          <a:p xmlns:a="http://schemas.openxmlformats.org/drawingml/2006/main">
            <a:r>
              <a:t>What does it not say? It does not say that the model predicts with ninety-nine-point-zero-six percent accuracy. Explained variance and predictive accuracy are different quantities. It also does not show that four observations represent a wider population.</a:t>
            </a:r>
          </a:p>
          <a:p xmlns:a="http://schemas.openxmlformats.org/drawingml/2006/main">
            <a:r>
              <a:t/>
            </a:r>
          </a:p>
          <a:p xmlns:a="http://schemas.openxmlformats.org/drawingml/2006/main">
            <a:r>
              <a:t>Before using the result, ask whether the scaling is appropriate, whether the sample is suitable, and what decision objective matters. A low-variance feature could still be crucial to that objective.</a:t>
            </a:r>
          </a:p>
          <a:p xmlns:a="http://schemas.openxmlformats.org/drawingml/2006/main">
            <a:r>
              <a:t/>
            </a:r>
          </a:p>
          <a:p xmlns:a="http://schemas.openxmlformats.org/drawingml/2006/main">
            <a:r>
              <a:t>If a predictive claim is intended, it needs an appropriate validation design. If a causal or policy claim is intended, further evidence is required. A precise percentage should not hide those missing steps.</a:t>
            </a:r>
          </a:p>
          <a:p xmlns:a="http://schemas.openxmlformats.org/drawingml/2006/main">
            <a:r>
              <a:t/>
            </a:r>
          </a:p>
          <a:p xmlns:a="http://schemas.openxmlformats.org/drawingml/2006/main">
            <a:r>
              <a:t>The same discipline applies to our sector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model is an illustration, not an estimate for a country. Its coefficients are invented for teaching. The four components are Agriculture, Health, Energy and Transport, in that order.</a:t>
            </a:r>
          </a:p>
          <a:p xmlns:a="http://schemas.openxmlformats.org/drawingml/2006/main">
            <a:r>
              <a:t/>
            </a:r>
          </a:p>
          <a:p xmlns:a="http://schemas.openxmlformats.org/drawingml/2006/main">
            <a:r>
              <a:t>The dominant eigenvector has been normalized so that its components sum to one. That makes relative components easier to describe: about twenty-point-zero-two percent, twenty-three-point-two-eight percent, twenty-eight-point-two-six percent and twenty-eight-point-four-three percent.</a:t>
            </a:r>
          </a:p>
          <a:p xmlns:a="http://schemas.openxmlformats.org/drawingml/2006/main">
            <a:r>
              <a:t/>
            </a:r>
          </a:p>
          <a:p xmlns:a="http://schemas.openxmlformats.org/drawingml/2006/main">
            <a:r>
              <a:t>The associated multiplier is approximately one-point-three-one-one-four-eight per model step. Along this mode, the system amplifies rather than settles. The step has not been calibrated as one year.</a:t>
            </a:r>
          </a:p>
          <a:p xmlns:a="http://schemas.openxmlformats.org/drawingml/2006/main">
            <a:r>
              <a:t/>
            </a:r>
          </a:p>
          <a:p xmlns:a="http://schemas.openxmlformats.org/drawingml/2006/main">
            <a:r>
              <a:t>Normalization does not turn these components into spending shares or probabilities. The matrix is not a stochastic transition matrix. These numbers describe the specified transformation, not an allocation rule.</a:t>
            </a:r>
          </a:p>
          <a:p xmlns:a="http://schemas.openxmlformats.org/drawingml/2006/main">
            <a:r>
              <a:t/>
            </a:r>
          </a:p>
          <a:p xmlns:a="http://schemas.openxmlformats.org/drawingml/2006/main">
            <a:r>
              <a:t>An eigenvector can be multiplied by any nonzero constant and still represent the same mode. Choosing components that sum to one is therefore a reporting convention, not a new empirical finding. If we multiplied every component by ten, the eigenpair relationship would still hold with the same eigenvalue. The relative pattern, rather than that arbitrary overall scale, is what the eigenvector describes.</a:t>
            </a:r>
          </a:p>
          <a:p xmlns:a="http://schemas.openxmlformats.org/drawingml/2006/main">
            <a:r>
              <a:t/>
            </a:r>
          </a:p>
          <a:p xmlns:a="http://schemas.openxmlformats.org/drawingml/2006/main">
            <a:r>
              <a:t>What would be wrong with converting them directly into a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largest component means the largest budget.” Why is that not justified? Because the model’s eigenvector describes a mathematical mode. It does not measure the benefit of spending an additional dollar in each sector.</a:t>
            </a:r>
          </a:p>
          <a:p xmlns:a="http://schemas.openxmlformats.org/drawingml/2006/main">
            <a:r>
              <a:t/>
            </a:r>
          </a:p>
          <a:p xmlns:a="http://schemas.openxmlformats.org/drawingml/2006/main">
            <a:r>
              <a:t>To make a budget recommendation, we would need validated relationships, an account of how interventions affect outcomes, explicit objectives, costs and constraints. We would also need to examine uncertainty and sensitivity.</a:t>
            </a:r>
          </a:p>
          <a:p xmlns:a="http://schemas.openxmlformats.org/drawingml/2006/main">
            <a:r>
              <a:t/>
            </a:r>
          </a:p>
          <a:p xmlns:a="http://schemas.openxmlformats.org/drawingml/2006/main">
            <a:r>
              <a:t>A numerically accurate eigenpair does not supply these missing ingredients. Nor does the word dominant mean desirable. A dominant mode could describe behavior that we want to reduce rather than encourage.</a:t>
            </a:r>
          </a:p>
          <a:p xmlns:a="http://schemas.openxmlformats.org/drawingml/2006/main">
            <a:r>
              <a:t/>
            </a:r>
          </a:p>
          <a:p xmlns:a="http://schemas.openxmlformats.org/drawingml/2006/main">
            <a:r>
              <a:t>The defensible conclusion is narrower: this synthetic matrix has a particular amplifying mode, and we have checked its computation. Translating that into policy would require a separate, evidence-based argument.</a:t>
            </a:r>
          </a:p>
          <a:p xmlns:a="http://schemas.openxmlformats.org/drawingml/2006/main">
            <a:r>
              <a:t/>
            </a:r>
          </a:p>
          <a:p xmlns:a="http://schemas.openxmlformats.org/drawingml/2006/main">
            <a:r>
              <a:t>Let us test whether the distinctions are now clear.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what does an eigenvalue of minus two do? For a real eigenpair, it reverses orientation and doubles length. The input remains nonzero.</a:t>
            </a:r>
          </a:p>
          <a:p xmlns:a="http://schemas.openxmlformats.org/drawingml/2006/main">
            <a:r>
              <a:t/>
            </a:r>
          </a:p>
          <a:p xmlns:a="http://schemas.openxmlformats.org/drawingml/2006/main">
            <a:r>
              <a:t>Second: does zero residual prove dominance? No. It verifies the eigenpair equation, but another eigenvalue may have a larger magnitude. In our diagonal three, one example, the vertical eigenvector has zero residual with eigenvalue one, but it is not dominant.</a:t>
            </a:r>
          </a:p>
          <a:p xmlns:a="http://schemas.openxmlformats.org/drawingml/2006/main">
            <a:r>
              <a:t/>
            </a:r>
          </a:p>
          <a:p xmlns:a="http://schemas.openxmlformats.org/drawingml/2006/main">
            <a:r>
              <a:t>Third: can spectral radius zero-point-eight allow early growth? Yes. Coupling can produce transient amplification, as our triangular example showed, even though every trajectory eventually decays.</a:t>
            </a:r>
          </a:p>
          <a:p xmlns:a="http://schemas.openxmlformats.org/drawingml/2006/main">
            <a:r>
              <a:t/>
            </a:r>
          </a:p>
          <a:p xmlns:a="http://schemas.openxmlformats.org/drawingml/2006/main">
            <a:r>
              <a:t>Fourth: does ninety-nine percent explained variance mean ninety-nine percent accuracy? No. One describes retained variation; the other would require a defined predictive task and suitable validation.</a:t>
            </a:r>
          </a:p>
          <a:p xmlns:a="http://schemas.openxmlformats.org/drawingml/2006/main">
            <a:r>
              <a:t/>
            </a:r>
          </a:p>
          <a:p xmlns:a="http://schemas.openxmlformats.org/drawingml/2006/main">
            <a:r>
              <a:t>If you can explain why each answer holds, you have grasped the core reasoning.</a:t>
            </a:r>
          </a:p>
          <a:p xmlns:a="http://schemas.openxmlformats.org/drawingml/2006/main">
            <a:r>
              <a:t/>
            </a:r>
          </a:p>
          <a:p xmlns:a="http://schemas.openxmlformats.org/drawingml/2006/main">
            <a:r>
              <a:t>The notebook lets you reproduce these ideas for yourself.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matching Lesson 6 notebook and follow its dependency instructions, including the srai_math package. Select the intended Python environment in VS Code, or follow the notebook’s Colab setup.</a:t>
            </a:r>
          </a:p>
          <a:p xmlns:a="http://schemas.openxmlformats.org/drawingml/2006/main">
            <a:r>
              <a:t/>
            </a:r>
          </a:p>
          <a:p xmlns:a="http://schemas.openxmlformats.org/drawingml/2006/main">
            <a:r>
              <a:t>Restart the kernel or runtime and run every cell in order. This is important: a notebook can appear to work because variables remain from an earlier session. A clean run makes that hidden dependence less likely.</a:t>
            </a:r>
          </a:p>
          <a:p xmlns:a="http://schemas.openxmlformats.org/drawingml/2006/main">
            <a:r>
              <a:t/>
            </a:r>
          </a:p>
          <a:p xmlns:a="http://schemas.openxmlformats.org/drawingml/2006/main">
            <a:r>
              <a:t>Inspect the figures as well as the assertions. Check that the numerical results match the examples and retain an executed copy with the environment information.</a:t>
            </a:r>
          </a:p>
          <a:p xmlns:a="http://schemas.openxmlformats.org/drawingml/2006/main">
            <a:r>
              <a:t/>
            </a:r>
          </a:p>
          <a:p xmlns:a="http://schemas.openxmlformats.org/drawingml/2006/main">
            <a:r>
              <a:t>If an assertion fails, do not simply remove it. Investigate execution order, inputs and package versions. Use the chapter and worked solutions to understand what the computation is supposed to establish.</a:t>
            </a:r>
          </a:p>
          <a:p xmlns:a="http://schemas.openxmlformats.org/drawingml/2006/main">
            <a:r>
              <a:t/>
            </a:r>
          </a:p>
          <a:p xmlns:a="http://schemas.openxmlformats.org/drawingml/2006/main">
            <a:r>
              <a:t>Reproducibility means being able to explain and repeat the result, not merely seeing a successful output once.</a:t>
            </a:r>
          </a:p>
          <a:p xmlns:a="http://schemas.openxmlformats.org/drawingml/2006/main">
            <a:r>
              <a:t/>
            </a:r>
          </a:p>
          <a:p xmlns:a="http://schemas.openxmlformats.org/drawingml/2006/main">
            <a:r>
              <a:t>Let us finish with three ideas to carry 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an eigenvector identifies a special direction, and its eigenvalue tells us how that direction is multiplied.</a:t>
            </a:r>
          </a:p>
          <a:p xmlns:a="http://schemas.openxmlformats.org/drawingml/2006/main">
            <a:r>
              <a:t/>
            </a:r>
          </a:p>
          <a:p xmlns:a="http://schemas.openxmlformats.org/drawingml/2006/main">
            <a:r>
              <a:t>Second, repeated transformations depend on the spectrum, the starting vector and the matrix structure. Numerical checks help us distinguish a plausible output from a verified eigenpair.</a:t>
            </a:r>
          </a:p>
          <a:p xmlns:a="http://schemas.openxmlformats.org/drawingml/2006/main">
            <a:r>
              <a:t/>
            </a:r>
          </a:p>
          <a:p xmlns:a="http://schemas.openxmlformats.org/drawingml/2006/main">
            <a:r>
              <a:t>Third, a mathematical result must remain within its assumptions. Explained variance is not accuracy, and a normalized model component is not a budget recommendation.</a:t>
            </a:r>
          </a:p>
          <a:p xmlns:a="http://schemas.openxmlformats.org/drawingml/2006/main">
            <a:r>
              <a:t/>
            </a:r>
          </a:p>
          <a:p xmlns:a="http://schemas.openxmlformats.org/drawingml/2006/main">
            <a:r>
              <a:t>Use the chapter for the derivations, the notebook for reproducible computation, the exercises for independent practice, and the Executive Brief for management interpretation. Try explaining one example to someone else without starting with a formula.</a:t>
            </a:r>
          </a:p>
          <a:p xmlns:a="http://schemas.openxmlformats.org/drawingml/2006/main">
            <a:r>
              <a:t/>
            </a:r>
          </a:p>
          <a:p xmlns:a="http://schemas.openxmlformats.org/drawingml/2006/main">
            <a:r>
              <a:t>This is the SRAI approach: make every numerical result interpretable, reproducible and accountable. Thank you for following Lesson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ea88813f5542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0dde25ab4460b" /><Relationship Type="http://schemas.openxmlformats.org/officeDocument/2006/relationships/slideLayout" Target="/ppt/slideLayouts/slideLayout1.xml" Id="Rfcbda111bc794e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bda111bc794e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e3ca7fac9841fd" /><Relationship Type="http://schemas.openxmlformats.org/officeDocument/2006/relationships/notesSlide" Target="/ppt/notesSlides/notesSlide1.xml" Id="R27f2143267e64c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c6e8da90964139" /><Relationship Type="http://schemas.openxmlformats.org/officeDocument/2006/relationships/notesSlide" Target="/ppt/notesSlides/notesSlide2.xml" Id="Rd8ca87b4904f48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08f33c7f4f46ee" /><Relationship Type="http://schemas.openxmlformats.org/officeDocument/2006/relationships/notesSlide" Target="/ppt/notesSlides/notesSlide3.xml" Id="Re983a14c55954c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7179619c164fcd" /><Relationship Type="http://schemas.openxmlformats.org/officeDocument/2006/relationships/notesSlide" Target="/ppt/notesSlides/notesSlide4.xml" Id="Rbb2f15d2716842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23f19c52424fae" /><Relationship Type="http://schemas.openxmlformats.org/officeDocument/2006/relationships/notesSlide" Target="/ppt/notesSlides/notesSlide5.xml" Id="Rbbf7f90546bd45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b2df9577c64290" /><Relationship Type="http://schemas.openxmlformats.org/officeDocument/2006/relationships/notesSlide" Target="/ppt/notesSlides/notesSlide6.xml" Id="R790c3953f2e042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44e99d2a014783" /><Relationship Type="http://schemas.openxmlformats.org/officeDocument/2006/relationships/notesSlide" Target="/ppt/notesSlides/notesSlide7.xml" Id="R9c88f428d21849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0ba2b2e7f643df" /><Relationship Type="http://schemas.openxmlformats.org/officeDocument/2006/relationships/notesSlide" Target="/ppt/notesSlides/notesSlide8.xml" Id="Re4ce6e59ad86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68a6c8c5de4ba8" /><Relationship Type="http://schemas.openxmlformats.org/officeDocument/2006/relationships/notesSlide" Target="/ppt/notesSlides/notesSlide9.xml" Id="Rcad3c90475124f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26813fd00df40ca" /><Relationship Type="http://schemas.openxmlformats.org/officeDocument/2006/relationships/notesSlide" Target="/ppt/notesSlides/notesSlide10.xml" Id="R38f06a3d84a748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0da66d3c3048e8" /><Relationship Type="http://schemas.openxmlformats.org/officeDocument/2006/relationships/notesSlide" Target="/ppt/notesSlides/notesSlide11.xml" Id="Rb9a8430a633645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c8a0cd835846a5" /><Relationship Type="http://schemas.openxmlformats.org/officeDocument/2006/relationships/notesSlide" Target="/ppt/notesSlides/notesSlide12.xml" Id="Rfb81c083a40f49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be8da872b44055" /><Relationship Type="http://schemas.openxmlformats.org/officeDocument/2006/relationships/notesSlide" Target="/ppt/notesSlides/notesSlide13.xml" Id="R7d9ab9284ddc41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5038a313fd485e" /><Relationship Type="http://schemas.openxmlformats.org/officeDocument/2006/relationships/notesSlide" Target="/ppt/notesSlides/notesSlide14.xml" Id="Rb6e68252682741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c84c7bc10284e86" /><Relationship Type="http://schemas.openxmlformats.org/officeDocument/2006/relationships/notesSlide" Target="/ppt/notesSlides/notesSlide15.xml" Id="R34b7dc2876a0485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38d492eb634704" /><Relationship Type="http://schemas.openxmlformats.org/officeDocument/2006/relationships/notesSlide" Target="/ppt/notesSlides/notesSlide16.xml" Id="Rcc621dfe35804b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223113aab1425b" /><Relationship Type="http://schemas.openxmlformats.org/officeDocument/2006/relationships/notesSlide" Target="/ppt/notesSlides/notesSlide17.xml" Id="R8ae2863fb91b46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44227c7667c494e" /><Relationship Type="http://schemas.openxmlformats.org/officeDocument/2006/relationships/notesSlide" Target="/ppt/notesSlides/notesSlide18.xml" Id="R7bd8472526304be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770a913bce84a8f" /><Relationship Type="http://schemas.openxmlformats.org/officeDocument/2006/relationships/notesSlide" Target="/ppt/notesSlides/notesSlide19.xml" Id="R24a801b9350641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660c3ef46214d8d" /><Relationship Type="http://schemas.openxmlformats.org/officeDocument/2006/relationships/notesSlide" Target="/ppt/notesSlides/notesSlide20.xml" Id="Rd9a1d464ad634d9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37d0ea46b2c4103" /><Relationship Type="http://schemas.openxmlformats.org/officeDocument/2006/relationships/notesSlide" Target="/ppt/notesSlides/notesSlide21.xml" Id="R1afa8ad7fbf34e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eacb2977635454f" /><Relationship Type="http://schemas.openxmlformats.org/officeDocument/2006/relationships/notesSlide" Target="/ppt/notesSlides/notesSlide22.xml" Id="R5da523c24129494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bf46190c5e4206" /><Relationship Type="http://schemas.openxmlformats.org/officeDocument/2006/relationships/notesSlide" Target="/ppt/notesSlides/notesSlide23.xml" Id="R0b8e5e76c52e4b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e0b0449f57d4503" /><Relationship Type="http://schemas.openxmlformats.org/officeDocument/2006/relationships/notesSlide" Target="/ppt/notesSlides/notesSlide24.xml" Id="Re3dc57052816425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ad642f12fdb4eda" /><Relationship Type="http://schemas.openxmlformats.org/officeDocument/2006/relationships/notesSlide" Target="/ppt/notesSlides/notesSlide25.xml" Id="Rb4bac1148fb0470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112cbb64244c02" /><Relationship Type="http://schemas.openxmlformats.org/officeDocument/2006/relationships/notesSlide" Target="/ppt/notesSlides/notesSlide26.xml" Id="R3fae5e191fce45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b6db2fa774441cf" /><Relationship Type="http://schemas.openxmlformats.org/officeDocument/2006/relationships/notesSlide" Target="/ppt/notesSlides/notesSlide27.xml" Id="Rfd5f185efc974fa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29e622fc0db4d31" /><Relationship Type="http://schemas.openxmlformats.org/officeDocument/2006/relationships/notesSlide" Target="/ppt/notesSlides/notesSlide28.xml" Id="Rbf6deb4a7c454c6e" /></Relationships>
</file>

<file path=ppt/slides/slide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DB2CD0A-9BDF-4EEB-8C53-1388634535B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161281-FD7C-4251-8EA2-F28AE99CB4EF}"/>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C513DE0F-2CF8-4EA2-B636-F33513DA13F6}"/>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LESSON 6 · EIGENVALUES</a:t>
            </a:r>
          </a:p>
        </p:txBody>
      </p:sp>
      <p:sp>
        <p:nvSpPr>
          <p:cNvPr id="4" name="">
            <a:extLst xmlns:a="http://schemas.openxmlformats.org/drawingml/2006/main">
              <a:ext uri="{FF2B5EF4-FFF2-40B4-BE49-F238E27FC236}">
                <a16:creationId xmlns:a16="http://schemas.microsoft.com/office/drawing/2014/main" id="{1F110731-C256-46CB-BCAC-4EF7F0A834D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01</a:t>
            </a:r>
          </a:p>
        </p:txBody>
      </p:sp>
      <p:sp>
        <p:nvSpPr>
          <p:cNvPr id="5" name="">
            <a:extLst xmlns:a="http://schemas.openxmlformats.org/drawingml/2006/main">
              <a:ext uri="{FF2B5EF4-FFF2-40B4-BE49-F238E27FC236}">
                <a16:creationId xmlns:a16="http://schemas.microsoft.com/office/drawing/2014/main" id="{055843E4-CC33-42CD-B5F2-BC4801513B48}"/>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45171D1C-94C3-4AD7-841A-C402D13177D9}"/>
              </a:ext>
            </a:extLst>
          </p:cNvPr>
          <p:cNvSpPr>
            <a:spLocks xmlns:a="http://schemas.openxmlformats.org/drawingml/2006/main" noGrp="1"/>
          </p:cNvSpPr>
          <p:nvPr/>
        </p:nvSpPr>
        <p:spPr>
          <a:xfrm xmlns:a="http://schemas.openxmlformats.org/drawingml/2006/main">
            <a:off x="552450" y="112395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F7F2E8"/>
                </a:solidFill>
              </a:defRPr>
            </a:pPr>
            <a:r>
              <a:rPr sz="4050" b="1">
                <a:solidFill>
                  <a:srgbClr val="F7F2E8"/>
                </a:solidFill>
              </a:rPr>
              <a:t>WHAT DOES YOUR</a:t>
            </a:r>
          </a:p>
        </p:txBody>
      </p:sp>
      <p:sp>
        <p:nvSpPr>
          <p:cNvPr id="7" name="">
            <a:extLst xmlns:a="http://schemas.openxmlformats.org/drawingml/2006/main">
              <a:ext uri="{FF2B5EF4-FFF2-40B4-BE49-F238E27FC236}">
                <a16:creationId xmlns:a16="http://schemas.microsoft.com/office/drawing/2014/main" id="{8B180C9B-40BA-4C80-B55B-1F3B06A93824}"/>
              </a:ext>
            </a:extLst>
          </p:cNvPr>
          <p:cNvSpPr>
            <a:spLocks xmlns:a="http://schemas.openxmlformats.org/drawingml/2006/main" noGrp="1"/>
          </p:cNvSpPr>
          <p:nvPr/>
        </p:nvSpPr>
        <p:spPr>
          <a:xfrm xmlns:a="http://schemas.openxmlformats.org/drawingml/2006/main">
            <a:off x="552450" y="1828800"/>
            <a:ext cx="723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D9A441"/>
                </a:solidFill>
              </a:defRPr>
            </a:pPr>
            <a:r>
              <a:rPr sz="4050" b="1">
                <a:solidFill>
                  <a:srgbClr val="D9A441"/>
                </a:solidFill>
              </a:rPr>
              <a:t>SYSTEM AMPLIFY?</a:t>
            </a:r>
          </a:p>
        </p:txBody>
      </p:sp>
      <p:sp>
        <p:nvSpPr>
          <p:cNvPr id="8" name="">
            <a:extLst xmlns:a="http://schemas.openxmlformats.org/drawingml/2006/main">
              <a:ext uri="{FF2B5EF4-FFF2-40B4-BE49-F238E27FC236}">
                <a16:creationId xmlns:a16="http://schemas.microsoft.com/office/drawing/2014/main" id="{178C9D59-66B9-4757-BA3F-0CB5AF620428}"/>
              </a:ext>
            </a:extLst>
          </p:cNvPr>
          <p:cNvSpPr>
            <a:spLocks xmlns:a="http://schemas.openxmlformats.org/drawingml/2006/main" noGrp="1"/>
          </p:cNvSpPr>
          <p:nvPr/>
        </p:nvSpPr>
        <p:spPr>
          <a:xfrm xmlns:a="http://schemas.openxmlformats.org/drawingml/2006/main">
            <a:off x="581025" y="2781300"/>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79D7CC"/>
                </a:solidFill>
              </a:defRPr>
            </a:pPr>
            <a:r>
              <a:rPr sz="1875" b="1">
                <a:solidFill>
                  <a:srgbClr val="79D7CC"/>
                </a:solidFill>
              </a:rPr>
              <a:t>Eigenvalues, Eigenvectors and Spectral Intuition</a:t>
            </a:r>
          </a:p>
        </p:txBody>
      </p:sp>
      <p:sp>
        <p:nvSpPr>
          <p:cNvPr id="9" name="">
            <a:extLst xmlns:a="http://schemas.openxmlformats.org/drawingml/2006/main">
              <a:ext uri="{FF2B5EF4-FFF2-40B4-BE49-F238E27FC236}">
                <a16:creationId xmlns:a16="http://schemas.microsoft.com/office/drawing/2014/main" id="{1E84DCEE-3421-4DF9-AB58-C0ABA6E31084}"/>
              </a:ext>
            </a:extLst>
          </p:cNvPr>
          <p:cNvSpPr>
            <a:spLocks xmlns:a="http://schemas.openxmlformats.org/drawingml/2006/main" noGrp="1"/>
          </p:cNvSpPr>
          <p:nvPr/>
        </p:nvSpPr>
        <p:spPr>
          <a:xfrm xmlns:a="http://schemas.openxmlformats.org/drawingml/2006/main">
            <a:off x="8153400" y="1047750"/>
            <a:ext cx="2952750" cy="3352800"/>
          </a:xfrm>
          <a:prstGeom xmlns:a="http://schemas.openxmlformats.org/drawingml/2006/main" prst="roundRect">
            <a:avLst>
              <a:gd name="adj" fmla="val 2581"/>
            </a:avLst>
          </a:prstGeom>
          <a:solidFill xmlns:a="http://schemas.openxmlformats.org/drawingml/2006/main">
            <a:srgbClr val="0D2A43"/>
          </a:solidFill>
          <a:ln xmlns:a="http://schemas.openxmlformats.org/drawingml/2006/main" w="9525">
            <a:solidFill>
              <a:srgbClr val="22B8A7"/>
            </a:solidFill>
            <a:prstDash val="solid"/>
          </a:ln>
        </p:spPr>
      </p:sp>
      <p:sp>
        <p:nvSpPr>
          <p:cNvPr id="10" name="">
            <a:extLst xmlns:a="http://schemas.openxmlformats.org/drawingml/2006/main">
              <a:ext uri="{FF2B5EF4-FFF2-40B4-BE49-F238E27FC236}">
                <a16:creationId xmlns:a16="http://schemas.microsoft.com/office/drawing/2014/main" id="{6A1300A8-E439-47DC-A3FB-321F249B8F95}"/>
              </a:ext>
            </a:extLst>
          </p:cNvPr>
          <p:cNvSpPr>
            <a:spLocks xmlns:a="http://schemas.openxmlformats.org/drawingml/2006/main" noGrp="1"/>
          </p:cNvSpPr>
          <p:nvPr/>
        </p:nvSpPr>
        <p:spPr>
          <a:xfrm xmlns:a="http://schemas.openxmlformats.org/drawingml/2006/main">
            <a:off x="8448675" y="1381125"/>
            <a:ext cx="2362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5400" b="1">
                <a:solidFill>
                  <a:srgbClr val="D9A441"/>
                </a:solidFill>
              </a:defRPr>
            </a:pPr>
            <a:r>
              <a:rPr sz="5400" b="1">
                <a:solidFill>
                  <a:srgbClr val="D9A441"/>
                </a:solidFill>
              </a:rPr>
              <a:t>Av=λv</a:t>
            </a:r>
          </a:p>
        </p:txBody>
      </p:sp>
      <p:sp>
        <p:nvSpPr>
          <p:cNvPr id="11" name="">
            <a:extLst xmlns:a="http://schemas.openxmlformats.org/drawingml/2006/main">
              <a:ext uri="{FF2B5EF4-FFF2-40B4-BE49-F238E27FC236}">
                <a16:creationId xmlns:a16="http://schemas.microsoft.com/office/drawing/2014/main" id="{B8C091A0-6F2E-4AE7-AD7B-9DD5FE4FF8B6}"/>
              </a:ext>
            </a:extLst>
          </p:cNvPr>
          <p:cNvSpPr>
            <a:spLocks xmlns:a="http://schemas.openxmlformats.org/drawingml/2006/main" noGrp="1"/>
          </p:cNvSpPr>
          <p:nvPr/>
        </p:nvSpPr>
        <p:spPr>
          <a:xfrm xmlns:a="http://schemas.openxmlformats.org/drawingml/2006/main">
            <a:off x="8448675" y="233362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direction × multiplier</a:t>
            </a:r>
          </a:p>
        </p:txBody>
      </p:sp>
      <p:sp>
        <p:nvSpPr>
          <p:cNvPr id="12" name="">
            <a:extLst xmlns:a="http://schemas.openxmlformats.org/drawingml/2006/main">
              <a:ext uri="{FF2B5EF4-FFF2-40B4-BE49-F238E27FC236}">
                <a16:creationId xmlns:a16="http://schemas.microsoft.com/office/drawing/2014/main" id="{C865A9E9-EFDF-4CC3-84A9-958D12C43414}"/>
              </a:ext>
            </a:extLst>
          </p:cNvPr>
          <p:cNvSpPr>
            <a:spLocks xmlns:a="http://schemas.openxmlformats.org/drawingml/2006/main" noGrp="1"/>
          </p:cNvSpPr>
          <p:nvPr/>
        </p:nvSpPr>
        <p:spPr>
          <a:xfrm xmlns:a="http://schemas.openxmlformats.org/drawingml/2006/main">
            <a:off x="8639175" y="3067050"/>
            <a:ext cx="2028825" cy="0"/>
          </a:xfrm>
          <a:prstGeom xmlns:a="http://schemas.openxmlformats.org/drawingml/2006/main" prst="line">
            <a:avLst/>
          </a:prstGeom>
          <a:noFill xmlns:a="http://schemas.openxmlformats.org/drawingml/2006/main"/>
          <a:ln xmlns:a="http://schemas.openxmlformats.org/drawingml/2006/main" w="19050">
            <a:solidFill>
              <a:srgbClr val="AFC1CE"/>
            </a:solidFill>
            <a:prstDash val="solid"/>
          </a:ln>
        </p:spPr>
      </p:sp>
      <p:sp>
        <p:nvSpPr>
          <p:cNvPr id="13" name="">
            <a:extLst xmlns:a="http://schemas.openxmlformats.org/drawingml/2006/main">
              <a:ext uri="{FF2B5EF4-FFF2-40B4-BE49-F238E27FC236}">
                <a16:creationId xmlns:a16="http://schemas.microsoft.com/office/drawing/2014/main" id="{435F9B03-9C85-4ADD-8A27-BCFD86BD6EE4}"/>
              </a:ext>
            </a:extLst>
          </p:cNvPr>
          <p:cNvSpPr>
            <a:spLocks xmlns:a="http://schemas.openxmlformats.org/drawingml/2006/main" noGrp="1"/>
          </p:cNvSpPr>
          <p:nvPr/>
        </p:nvSpPr>
        <p:spPr>
          <a:xfrm xmlns:a="http://schemas.openxmlformats.org/drawingml/2006/main">
            <a:off x="8448675" y="3238500"/>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AFC1CE"/>
                </a:solidFill>
              </a:defRPr>
            </a:pPr>
            <a:r>
              <a:rPr sz="1350" b="0">
                <a:solidFill>
                  <a:srgbClr val="AFC1CE"/>
                </a:solidFill>
              </a:rPr>
              <a:t>Numerical accuracy</a:t>
            </a:r>
          </a:p>
        </p:txBody>
      </p:sp>
      <p:sp>
        <p:nvSpPr>
          <p:cNvPr id="14" name="">
            <a:extLst xmlns:a="http://schemas.openxmlformats.org/drawingml/2006/main">
              <a:ext uri="{FF2B5EF4-FFF2-40B4-BE49-F238E27FC236}">
                <a16:creationId xmlns:a16="http://schemas.microsoft.com/office/drawing/2014/main" id="{1190BA45-3C53-4E54-B884-0EEC962D643B}"/>
              </a:ext>
            </a:extLst>
          </p:cNvPr>
          <p:cNvSpPr>
            <a:spLocks xmlns:a="http://schemas.openxmlformats.org/drawingml/2006/main" noGrp="1"/>
          </p:cNvSpPr>
          <p:nvPr/>
        </p:nvSpPr>
        <p:spPr>
          <a:xfrm xmlns:a="http://schemas.openxmlformats.org/drawingml/2006/main">
            <a:off x="8448675" y="3619500"/>
            <a:ext cx="236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07A73"/>
                </a:solidFill>
              </a:defRPr>
            </a:pPr>
            <a:r>
              <a:rPr sz="2250" b="1">
                <a:solidFill>
                  <a:srgbClr val="F07A73"/>
                </a:solidFill>
              </a:rPr>
              <a:t>≠</a:t>
            </a:r>
          </a:p>
        </p:txBody>
      </p:sp>
      <p:sp>
        <p:nvSpPr>
          <p:cNvPr id="15" name="">
            <a:extLst xmlns:a="http://schemas.openxmlformats.org/drawingml/2006/main">
              <a:ext uri="{FF2B5EF4-FFF2-40B4-BE49-F238E27FC236}">
                <a16:creationId xmlns:a16="http://schemas.microsoft.com/office/drawing/2014/main" id="{C0634110-C2C7-415A-A481-BADA2BA423BB}"/>
              </a:ext>
            </a:extLst>
          </p:cNvPr>
          <p:cNvSpPr>
            <a:spLocks xmlns:a="http://schemas.openxmlformats.org/drawingml/2006/main" noGrp="1"/>
          </p:cNvSpPr>
          <p:nvPr/>
        </p:nvSpPr>
        <p:spPr>
          <a:xfrm xmlns:a="http://schemas.openxmlformats.org/drawingml/2006/main">
            <a:off x="8448675" y="4048125"/>
            <a:ext cx="236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Model validity</a:t>
            </a:r>
          </a:p>
        </p:txBody>
      </p:sp>
      <p:sp>
        <p:nvSpPr>
          <p:cNvPr id="16" name="">
            <a:extLst xmlns:a="http://schemas.openxmlformats.org/drawingml/2006/main">
              <a:ext uri="{FF2B5EF4-FFF2-40B4-BE49-F238E27FC236}">
                <a16:creationId xmlns:a16="http://schemas.microsoft.com/office/drawing/2014/main" id="{97A241DA-D264-4D75-B084-48339A3AA966}"/>
              </a:ext>
            </a:extLst>
          </p:cNvPr>
          <p:cNvSpPr>
            <a:spLocks xmlns:a="http://schemas.openxmlformats.org/drawingml/2006/main" noGrp="1"/>
          </p:cNvSpPr>
          <p:nvPr/>
        </p:nvSpPr>
        <p:spPr>
          <a:xfrm xmlns:a="http://schemas.openxmlformats.org/drawingml/2006/main">
            <a:off x="581025" y="595312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0">
                <a:solidFill>
                  <a:srgbClr val="AFC1CE"/>
                </a:solidFill>
              </a:defRPr>
            </a:pPr>
            <a:r>
              <a:rPr sz="1275" b="0">
                <a:solidFill>
                  <a:srgbClr val="AFC1CE"/>
                </a:solidFill>
              </a:rPr>
              <a:t>PU-B01-C06  •  Mbaye Kebe</a:t>
            </a:r>
          </a:p>
        </p:txBody>
      </p:sp>
    </p:spTree>
    <p:extLst>
      <p:ext uri="{BB962C8B-B14F-4D97-AF65-F5344CB8AC3E}">
        <p14:creationId xmlns:p14="http://schemas.microsoft.com/office/powerpoint/2010/main" val="461721385"/>
      </p:ext>
    </p:extLst>
  </p:cSld>
</p:sld>
</file>

<file path=ppt/slides/slide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EBA481-20AF-4B01-8AAD-43FCA7A1CF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ADE4AD-3D5C-4081-81A5-DB6D918B4554}"/>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A69237D-6A02-4BDC-B41F-011D24508654}"/>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LEARNING ROUTE</a:t>
            </a:r>
          </a:p>
        </p:txBody>
      </p:sp>
      <p:sp>
        <p:nvSpPr>
          <p:cNvPr id="4" name="">
            <a:extLst xmlns:a="http://schemas.openxmlformats.org/drawingml/2006/main">
              <a:ext uri="{FF2B5EF4-FFF2-40B4-BE49-F238E27FC236}">
                <a16:creationId xmlns:a16="http://schemas.microsoft.com/office/drawing/2014/main" id="{3ADE149B-DA04-4107-9499-7EB9FA99AC0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02</a:t>
            </a:r>
          </a:p>
        </p:txBody>
      </p:sp>
      <p:sp>
        <p:nvSpPr>
          <p:cNvPr id="5" name="">
            <a:extLst xmlns:a="http://schemas.openxmlformats.org/drawingml/2006/main">
              <a:ext uri="{FF2B5EF4-FFF2-40B4-BE49-F238E27FC236}">
                <a16:creationId xmlns:a16="http://schemas.microsoft.com/office/drawing/2014/main" id="{724FDECE-BAAA-4C54-B6DE-54F675CF0AF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D6DCC9CA-5200-41C3-8CB6-5ACF210ABD03}"/>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Four questions guide the lesson.</a:t>
            </a:r>
          </a:p>
        </p:txBody>
      </p:sp>
      <p:sp>
        <p:nvSpPr>
          <p:cNvPr id="7" name="">
            <a:extLst xmlns:a="http://schemas.openxmlformats.org/drawingml/2006/main">
              <a:ext uri="{FF2B5EF4-FFF2-40B4-BE49-F238E27FC236}">
                <a16:creationId xmlns:a16="http://schemas.microsoft.com/office/drawing/2014/main" id="{4A53E64E-8969-427E-869A-FE0F213B370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We start with small examples, then connect the mathematics to interpretation.</a:t>
            </a:r>
          </a:p>
        </p:txBody>
      </p:sp>
      <p:sp>
        <p:nvSpPr>
          <p:cNvPr id="8" name="">
            <a:extLst xmlns:a="http://schemas.openxmlformats.org/drawingml/2006/main">
              <a:ext uri="{FF2B5EF4-FFF2-40B4-BE49-F238E27FC236}">
                <a16:creationId xmlns:a16="http://schemas.microsoft.com/office/drawing/2014/main" id="{1CFCEF6C-D784-4368-98FA-F9913993522E}"/>
              </a:ext>
            </a:extLst>
          </p:cNvPr>
          <p:cNvSpPr>
            <a:spLocks xmlns:a="http://schemas.openxmlformats.org/drawingml/2006/main" noGrp="1"/>
          </p:cNvSpPr>
          <p:nvPr/>
        </p:nvSpPr>
        <p:spPr>
          <a:xfrm xmlns:a="http://schemas.openxmlformats.org/drawingml/2006/main">
            <a:off x="55245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5C70E09F-E6DE-42DA-9480-F26561C1DF24}"/>
              </a:ext>
            </a:extLst>
          </p:cNvPr>
          <p:cNvSpPr>
            <a:spLocks xmlns:a="http://schemas.openxmlformats.org/drawingml/2006/main" noGrp="1"/>
          </p:cNvSpPr>
          <p:nvPr/>
        </p:nvSpPr>
        <p:spPr>
          <a:xfrm xmlns:a="http://schemas.openxmlformats.org/drawingml/2006/main">
            <a:off x="78105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DIRECTION</a:t>
            </a:r>
          </a:p>
        </p:txBody>
      </p:sp>
      <p:sp>
        <p:nvSpPr>
          <p:cNvPr id="10" name="">
            <a:extLst xmlns:a="http://schemas.openxmlformats.org/drawingml/2006/main">
              <a:ext uri="{FF2B5EF4-FFF2-40B4-BE49-F238E27FC236}">
                <a16:creationId xmlns:a16="http://schemas.microsoft.com/office/drawing/2014/main" id="{5B3AAA24-CBE1-4889-B779-D9A868F42A62}"/>
              </a:ext>
            </a:extLst>
          </p:cNvPr>
          <p:cNvSpPr>
            <a:spLocks xmlns:a="http://schemas.openxmlformats.org/drawingml/2006/main" noGrp="1"/>
          </p:cNvSpPr>
          <p:nvPr/>
        </p:nvSpPr>
        <p:spPr>
          <a:xfrm xmlns:a="http://schemas.openxmlformats.org/drawingml/2006/main">
            <a:off x="78105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Which inputs stay on the same line?</a:t>
            </a:r>
          </a:p>
        </p:txBody>
      </p:sp>
      <p:sp>
        <p:nvSpPr>
          <p:cNvPr id="11" name="">
            <a:extLst xmlns:a="http://schemas.openxmlformats.org/drawingml/2006/main">
              <a:ext uri="{FF2B5EF4-FFF2-40B4-BE49-F238E27FC236}">
                <a16:creationId xmlns:a16="http://schemas.microsoft.com/office/drawing/2014/main" id="{2062DD73-0164-4804-868C-CCC8493AF097}"/>
              </a:ext>
            </a:extLst>
          </p:cNvPr>
          <p:cNvSpPr>
            <a:spLocks xmlns:a="http://schemas.openxmlformats.org/drawingml/2006/main" noGrp="1"/>
          </p:cNvSpPr>
          <p:nvPr/>
        </p:nvSpPr>
        <p:spPr>
          <a:xfrm xmlns:a="http://schemas.openxmlformats.org/drawingml/2006/main">
            <a:off x="617220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CDFD91DA-995F-40DA-9203-F7DD246C6D3B}"/>
              </a:ext>
            </a:extLst>
          </p:cNvPr>
          <p:cNvSpPr>
            <a:spLocks xmlns:a="http://schemas.openxmlformats.org/drawingml/2006/main" noGrp="1"/>
          </p:cNvSpPr>
          <p:nvPr/>
        </p:nvSpPr>
        <p:spPr>
          <a:xfrm xmlns:a="http://schemas.openxmlformats.org/drawingml/2006/main">
            <a:off x="640080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MULTIPLIER</a:t>
            </a:r>
          </a:p>
        </p:txBody>
      </p:sp>
      <p:sp>
        <p:nvSpPr>
          <p:cNvPr id="13" name="">
            <a:extLst xmlns:a="http://schemas.openxmlformats.org/drawingml/2006/main">
              <a:ext uri="{FF2B5EF4-FFF2-40B4-BE49-F238E27FC236}">
                <a16:creationId xmlns:a16="http://schemas.microsoft.com/office/drawing/2014/main" id="{00EF25AA-1DE4-4E88-A247-F24B2E7462DD}"/>
              </a:ext>
            </a:extLst>
          </p:cNvPr>
          <p:cNvSpPr>
            <a:spLocks xmlns:a="http://schemas.openxmlformats.org/drawingml/2006/main" noGrp="1"/>
          </p:cNvSpPr>
          <p:nvPr/>
        </p:nvSpPr>
        <p:spPr>
          <a:xfrm xmlns:a="http://schemas.openxmlformats.org/drawingml/2006/main">
            <a:off x="640080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Does the matrix stretch or reverse them?</a:t>
            </a:r>
          </a:p>
        </p:txBody>
      </p:sp>
      <p:sp>
        <p:nvSpPr>
          <p:cNvPr id="14" name="">
            <a:extLst xmlns:a="http://schemas.openxmlformats.org/drawingml/2006/main">
              <a:ext uri="{FF2B5EF4-FFF2-40B4-BE49-F238E27FC236}">
                <a16:creationId xmlns:a16="http://schemas.microsoft.com/office/drawing/2014/main" id="{752F40CB-9E79-4EE3-B598-3F949D838A9D}"/>
              </a:ext>
            </a:extLst>
          </p:cNvPr>
          <p:cNvSpPr>
            <a:spLocks xmlns:a="http://schemas.openxmlformats.org/drawingml/2006/main" noGrp="1"/>
          </p:cNvSpPr>
          <p:nvPr/>
        </p:nvSpPr>
        <p:spPr>
          <a:xfrm xmlns:a="http://schemas.openxmlformats.org/drawingml/2006/main">
            <a:off x="55245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BC80BCF-CA24-4771-B6AC-595D9013E84B}"/>
              </a:ext>
            </a:extLst>
          </p:cNvPr>
          <p:cNvSpPr>
            <a:spLocks xmlns:a="http://schemas.openxmlformats.org/drawingml/2006/main" noGrp="1"/>
          </p:cNvSpPr>
          <p:nvPr/>
        </p:nvSpPr>
        <p:spPr>
          <a:xfrm xmlns:a="http://schemas.openxmlformats.org/drawingml/2006/main">
            <a:off x="78105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REPETITION</a:t>
            </a:r>
          </a:p>
        </p:txBody>
      </p:sp>
      <p:sp>
        <p:nvSpPr>
          <p:cNvPr id="16" name="">
            <a:extLst xmlns:a="http://schemas.openxmlformats.org/drawingml/2006/main">
              <a:ext uri="{FF2B5EF4-FFF2-40B4-BE49-F238E27FC236}">
                <a16:creationId xmlns:a16="http://schemas.microsoft.com/office/drawing/2014/main" id="{BF4238E5-E9BD-4483-9443-CC8F7A76AE74}"/>
              </a:ext>
            </a:extLst>
          </p:cNvPr>
          <p:cNvSpPr>
            <a:spLocks xmlns:a="http://schemas.openxmlformats.org/drawingml/2006/main" noGrp="1"/>
          </p:cNvSpPr>
          <p:nvPr/>
        </p:nvSpPr>
        <p:spPr>
          <a:xfrm xmlns:a="http://schemas.openxmlformats.org/drawingml/2006/main">
            <a:off x="78105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What happens after many steps?</a:t>
            </a:r>
          </a:p>
        </p:txBody>
      </p:sp>
      <p:sp>
        <p:nvSpPr>
          <p:cNvPr id="17" name="">
            <a:extLst xmlns:a="http://schemas.openxmlformats.org/drawingml/2006/main">
              <a:ext uri="{FF2B5EF4-FFF2-40B4-BE49-F238E27FC236}">
                <a16:creationId xmlns:a16="http://schemas.microsoft.com/office/drawing/2014/main" id="{815A75F7-75C4-40BF-A8FF-DD6937BA8BB9}"/>
              </a:ext>
            </a:extLst>
          </p:cNvPr>
          <p:cNvSpPr>
            <a:spLocks xmlns:a="http://schemas.openxmlformats.org/drawingml/2006/main" noGrp="1"/>
          </p:cNvSpPr>
          <p:nvPr/>
        </p:nvSpPr>
        <p:spPr>
          <a:xfrm xmlns:a="http://schemas.openxmlformats.org/drawingml/2006/main">
            <a:off x="617220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F07A73"/>
            </a:solidFill>
            <a:prstDash val="solid"/>
          </a:ln>
        </p:spPr>
      </p:sp>
      <p:sp>
        <p:nvSpPr>
          <p:cNvPr id="18" name="">
            <a:extLst xmlns:a="http://schemas.openxmlformats.org/drawingml/2006/main">
              <a:ext uri="{FF2B5EF4-FFF2-40B4-BE49-F238E27FC236}">
                <a16:creationId xmlns:a16="http://schemas.microsoft.com/office/drawing/2014/main" id="{3BA94553-8E6B-400F-BBE7-DB3986D6D104}"/>
              </a:ext>
            </a:extLst>
          </p:cNvPr>
          <p:cNvSpPr>
            <a:spLocks xmlns:a="http://schemas.openxmlformats.org/drawingml/2006/main" noGrp="1"/>
          </p:cNvSpPr>
          <p:nvPr/>
        </p:nvSpPr>
        <p:spPr>
          <a:xfrm xmlns:a="http://schemas.openxmlformats.org/drawingml/2006/main">
            <a:off x="640080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07A73"/>
                </a:solidFill>
              </a:defRPr>
            </a:pPr>
            <a:r>
              <a:rPr sz="1350" b="1">
                <a:solidFill>
                  <a:srgbClr val="F07A73"/>
                </a:solidFill>
              </a:rPr>
              <a:t>INTERPRETATION</a:t>
            </a:r>
          </a:p>
        </p:txBody>
      </p:sp>
      <p:sp>
        <p:nvSpPr>
          <p:cNvPr id="19" name="">
            <a:extLst xmlns:a="http://schemas.openxmlformats.org/drawingml/2006/main">
              <a:ext uri="{FF2B5EF4-FFF2-40B4-BE49-F238E27FC236}">
                <a16:creationId xmlns:a16="http://schemas.microsoft.com/office/drawing/2014/main" id="{1C429725-F753-458F-A000-C63B43BBDA16}"/>
              </a:ext>
            </a:extLst>
          </p:cNvPr>
          <p:cNvSpPr>
            <a:spLocks xmlns:a="http://schemas.openxmlformats.org/drawingml/2006/main" noGrp="1"/>
          </p:cNvSpPr>
          <p:nvPr/>
        </p:nvSpPr>
        <p:spPr>
          <a:xfrm xmlns:a="http://schemas.openxmlformats.org/drawingml/2006/main">
            <a:off x="64008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What does the result actually support?</a:t>
            </a:r>
          </a:p>
        </p:txBody>
      </p:sp>
    </p:spTree>
    <p:extLst>
      <p:ext uri="{BB962C8B-B14F-4D97-AF65-F5344CB8AC3E}">
        <p14:creationId xmlns:p14="http://schemas.microsoft.com/office/powerpoint/2010/main" val="1859790207"/>
      </p:ext>
    </p:extLst>
  </p:cSld>
</p:sld>
</file>

<file path=ppt/slides/slide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827E4D3-E758-4E35-ACEF-392B525A81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86A3D3-718F-4694-A610-B654E03EF751}"/>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768098C-8FFA-4F56-8A8D-B40C8A139C3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FOUNDATIONS</a:t>
            </a:r>
          </a:p>
        </p:txBody>
      </p:sp>
      <p:sp>
        <p:nvSpPr>
          <p:cNvPr id="4" name="">
            <a:extLst xmlns:a="http://schemas.openxmlformats.org/drawingml/2006/main">
              <a:ext uri="{FF2B5EF4-FFF2-40B4-BE49-F238E27FC236}">
                <a16:creationId xmlns:a16="http://schemas.microsoft.com/office/drawing/2014/main" id="{7222C629-6F57-44E1-98C2-D3826438DBC1}"/>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03</a:t>
            </a:r>
          </a:p>
        </p:txBody>
      </p:sp>
      <p:sp>
        <p:nvSpPr>
          <p:cNvPr id="5" name="">
            <a:extLst xmlns:a="http://schemas.openxmlformats.org/drawingml/2006/main">
              <a:ext uri="{FF2B5EF4-FFF2-40B4-BE49-F238E27FC236}">
                <a16:creationId xmlns:a16="http://schemas.microsoft.com/office/drawing/2014/main" id="{185376EA-7080-4C69-8ACA-CC7DCFAC51F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1E2E96C-4130-46CB-B7CB-13819114FA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matrix is a rule for changing a vector.</a:t>
            </a:r>
          </a:p>
        </p:txBody>
      </p:sp>
      <p:sp>
        <p:nvSpPr>
          <p:cNvPr id="7" name="">
            <a:extLst xmlns:a="http://schemas.openxmlformats.org/drawingml/2006/main">
              <a:ext uri="{FF2B5EF4-FFF2-40B4-BE49-F238E27FC236}">
                <a16:creationId xmlns:a16="http://schemas.microsoft.com/office/drawing/2014/main" id="{0452185E-2ACE-44B1-AF28-066959F6482E}"/>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Think of an operation on an ordered list—not just a table of numbers.</a:t>
            </a:r>
          </a:p>
        </p:txBody>
      </p:sp>
      <p:sp>
        <p:nvSpPr>
          <p:cNvPr id="8" name="">
            <a:extLst xmlns:a="http://schemas.openxmlformats.org/drawingml/2006/main">
              <a:ext uri="{FF2B5EF4-FFF2-40B4-BE49-F238E27FC236}">
                <a16:creationId xmlns:a16="http://schemas.microsoft.com/office/drawing/2014/main" id="{350017FF-10AC-49D1-92AE-D7F3F5F89DE3}"/>
              </a:ext>
            </a:extLst>
          </p:cNvPr>
          <p:cNvSpPr>
            <a:spLocks xmlns:a="http://schemas.openxmlformats.org/drawingml/2006/main" noGrp="1"/>
          </p:cNvSpPr>
          <p:nvPr/>
        </p:nvSpPr>
        <p:spPr>
          <a:xfrm xmlns:a="http://schemas.openxmlformats.org/drawingml/2006/main">
            <a:off x="55245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DFAB0C8-11E1-49F1-94E7-0857FD2A00EB}"/>
              </a:ext>
            </a:extLst>
          </p:cNvPr>
          <p:cNvSpPr>
            <a:spLocks xmlns:a="http://schemas.openxmlformats.org/drawingml/2006/main" noGrp="1"/>
          </p:cNvSpPr>
          <p:nvPr/>
        </p:nvSpPr>
        <p:spPr>
          <a:xfrm xmlns:a="http://schemas.openxmlformats.org/drawingml/2006/main">
            <a:off x="76200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INPUT</a:t>
            </a:r>
          </a:p>
        </p:txBody>
      </p:sp>
      <p:sp>
        <p:nvSpPr>
          <p:cNvPr id="10" name="">
            <a:extLst xmlns:a="http://schemas.openxmlformats.org/drawingml/2006/main">
              <a:ext uri="{FF2B5EF4-FFF2-40B4-BE49-F238E27FC236}">
                <a16:creationId xmlns:a16="http://schemas.microsoft.com/office/drawing/2014/main" id="{31688381-614E-405B-8EC0-A439FAE0DAA9}"/>
              </a:ext>
            </a:extLst>
          </p:cNvPr>
          <p:cNvSpPr>
            <a:spLocks xmlns:a="http://schemas.openxmlformats.org/drawingml/2006/main" noGrp="1"/>
          </p:cNvSpPr>
          <p:nvPr/>
        </p:nvSpPr>
        <p:spPr>
          <a:xfrm xmlns:a="http://schemas.openxmlformats.org/drawingml/2006/main">
            <a:off x="76200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A vector lists coordinates in a fixed order.</a:t>
            </a:r>
          </a:p>
        </p:txBody>
      </p:sp>
      <p:sp>
        <p:nvSpPr>
          <p:cNvPr id="11" name="">
            <a:extLst xmlns:a="http://schemas.openxmlformats.org/drawingml/2006/main">
              <a:ext uri="{FF2B5EF4-FFF2-40B4-BE49-F238E27FC236}">
                <a16:creationId xmlns:a16="http://schemas.microsoft.com/office/drawing/2014/main" id="{F3A23DE4-C2F6-4114-ABAD-DD0741506A55}"/>
              </a:ext>
            </a:extLst>
          </p:cNvPr>
          <p:cNvSpPr>
            <a:spLocks xmlns:a="http://schemas.openxmlformats.org/drawingml/2006/main" noGrp="1"/>
          </p:cNvSpPr>
          <p:nvPr/>
        </p:nvSpPr>
        <p:spPr>
          <a:xfrm xmlns:a="http://schemas.openxmlformats.org/drawingml/2006/main">
            <a:off x="617220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51109CE7-9C61-4DDA-A024-357E13122AB6}"/>
              </a:ext>
            </a:extLst>
          </p:cNvPr>
          <p:cNvSpPr>
            <a:spLocks xmlns:a="http://schemas.openxmlformats.org/drawingml/2006/main" noGrp="1"/>
          </p:cNvSpPr>
          <p:nvPr/>
        </p:nvSpPr>
        <p:spPr>
          <a:xfrm xmlns:a="http://schemas.openxmlformats.org/drawingml/2006/main">
            <a:off x="638175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OPERATION</a:t>
            </a:r>
          </a:p>
        </p:txBody>
      </p:sp>
      <p:sp>
        <p:nvSpPr>
          <p:cNvPr id="13" name="">
            <a:extLst xmlns:a="http://schemas.openxmlformats.org/drawingml/2006/main">
              <a:ext uri="{FF2B5EF4-FFF2-40B4-BE49-F238E27FC236}">
                <a16:creationId xmlns:a16="http://schemas.microsoft.com/office/drawing/2014/main" id="{0E163BAB-D933-426E-B22D-6FE97FC852CA}"/>
              </a:ext>
            </a:extLst>
          </p:cNvPr>
          <p:cNvSpPr>
            <a:spLocks xmlns:a="http://schemas.openxmlformats.org/drawingml/2006/main" noGrp="1"/>
          </p:cNvSpPr>
          <p:nvPr/>
        </p:nvSpPr>
        <p:spPr>
          <a:xfrm xmlns:a="http://schemas.openxmlformats.org/drawingml/2006/main">
            <a:off x="638175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Matrix multiplication combines coordinates.</a:t>
            </a:r>
          </a:p>
        </p:txBody>
      </p:sp>
      <p:sp>
        <p:nvSpPr>
          <p:cNvPr id="14" name="">
            <a:extLst xmlns:a="http://schemas.openxmlformats.org/drawingml/2006/main">
              <a:ext uri="{FF2B5EF4-FFF2-40B4-BE49-F238E27FC236}">
                <a16:creationId xmlns:a16="http://schemas.microsoft.com/office/drawing/2014/main" id="{84907878-1312-4850-885E-792D96904DCE}"/>
              </a:ext>
            </a:extLst>
          </p:cNvPr>
          <p:cNvSpPr>
            <a:spLocks xmlns:a="http://schemas.openxmlformats.org/drawingml/2006/main" noGrp="1"/>
          </p:cNvSpPr>
          <p:nvPr/>
        </p:nvSpPr>
        <p:spPr>
          <a:xfrm xmlns:a="http://schemas.openxmlformats.org/drawingml/2006/main">
            <a:off x="552450" y="3667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F97A318-CAC8-4D31-8F0F-70192F6EEAC1}"/>
              </a:ext>
            </a:extLst>
          </p:cNvPr>
          <p:cNvSpPr>
            <a:spLocks xmlns:a="http://schemas.openxmlformats.org/drawingml/2006/main" noGrp="1"/>
          </p:cNvSpPr>
          <p:nvPr/>
        </p:nvSpPr>
        <p:spPr>
          <a:xfrm xmlns:a="http://schemas.openxmlformats.org/drawingml/2006/main">
            <a:off x="76200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OUTPUT</a:t>
            </a:r>
          </a:p>
        </p:txBody>
      </p:sp>
      <p:sp>
        <p:nvSpPr>
          <p:cNvPr id="16" name="">
            <a:extLst xmlns:a="http://schemas.openxmlformats.org/drawingml/2006/main">
              <a:ext uri="{FF2B5EF4-FFF2-40B4-BE49-F238E27FC236}">
                <a16:creationId xmlns:a16="http://schemas.microsoft.com/office/drawing/2014/main" id="{9A4FA51D-865D-4853-8A75-F966C2CA668F}"/>
              </a:ext>
            </a:extLst>
          </p:cNvPr>
          <p:cNvSpPr>
            <a:spLocks xmlns:a="http://schemas.openxmlformats.org/drawingml/2006/main" noGrp="1"/>
          </p:cNvSpPr>
          <p:nvPr/>
        </p:nvSpPr>
        <p:spPr>
          <a:xfrm xmlns:a="http://schemas.openxmlformats.org/drawingml/2006/main">
            <a:off x="76200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The new arrow can change length and direction.</a:t>
            </a:r>
          </a:p>
        </p:txBody>
      </p:sp>
      <p:sp>
        <p:nvSpPr>
          <p:cNvPr id="17" name="">
            <a:extLst xmlns:a="http://schemas.openxmlformats.org/drawingml/2006/main">
              <a:ext uri="{FF2B5EF4-FFF2-40B4-BE49-F238E27FC236}">
                <a16:creationId xmlns:a16="http://schemas.microsoft.com/office/drawing/2014/main" id="{851DFE5C-06D3-4537-9109-CD358C0FDC2C}"/>
              </a:ext>
            </a:extLst>
          </p:cNvPr>
          <p:cNvSpPr>
            <a:spLocks xmlns:a="http://schemas.openxmlformats.org/drawingml/2006/main" noGrp="1"/>
          </p:cNvSpPr>
          <p:nvPr/>
        </p:nvSpPr>
        <p:spPr>
          <a:xfrm xmlns:a="http://schemas.openxmlformats.org/drawingml/2006/main">
            <a:off x="6172200" y="3667125"/>
            <a:ext cx="5238750" cy="1219200"/>
          </a:xfrm>
          <a:prstGeom xmlns:a="http://schemas.openxmlformats.org/drawingml/2006/main" prst="roundRect">
            <a:avLst>
              <a:gd name="adj" fmla="val 6250"/>
            </a:avLst>
          </a:prstGeom>
          <a:solidFill xmlns:a="http://schemas.openxmlformats.org/drawingml/2006/main">
            <a:srgbClr val="154D57"/>
          </a:solidFill>
          <a:ln xmlns:a="http://schemas.openxmlformats.org/drawingml/2006/main" w="9525">
            <a:solidFill>
              <a:srgbClr val="D9A441"/>
            </a:solidFill>
            <a:prstDash val="solid"/>
          </a:ln>
        </p:spPr>
      </p:sp>
      <p:sp>
        <p:nvSpPr>
          <p:cNvPr id="18" name="">
            <a:extLst xmlns:a="http://schemas.openxmlformats.org/drawingml/2006/main">
              <a:ext uri="{FF2B5EF4-FFF2-40B4-BE49-F238E27FC236}">
                <a16:creationId xmlns:a16="http://schemas.microsoft.com/office/drawing/2014/main" id="{6051895B-F96E-4AFA-82E3-E390C2551AB5}"/>
              </a:ext>
            </a:extLst>
          </p:cNvPr>
          <p:cNvSpPr>
            <a:spLocks xmlns:a="http://schemas.openxmlformats.org/drawingml/2006/main" noGrp="1"/>
          </p:cNvSpPr>
          <p:nvPr/>
        </p:nvSpPr>
        <p:spPr>
          <a:xfrm xmlns:a="http://schemas.openxmlformats.org/drawingml/2006/main">
            <a:off x="638175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9A441"/>
                </a:solidFill>
              </a:defRPr>
            </a:pPr>
            <a:r>
              <a:rPr sz="1350" b="1">
                <a:solidFill>
                  <a:srgbClr val="D9A441"/>
                </a:solidFill>
              </a:rPr>
              <a:t>EXAMPLE</a:t>
            </a:r>
          </a:p>
        </p:txBody>
      </p:sp>
      <p:sp>
        <p:nvSpPr>
          <p:cNvPr id="19" name="">
            <a:extLst xmlns:a="http://schemas.openxmlformats.org/drawingml/2006/main">
              <a:ext uri="{FF2B5EF4-FFF2-40B4-BE49-F238E27FC236}">
                <a16:creationId xmlns:a16="http://schemas.microsoft.com/office/drawing/2014/main" id="{75BC24E5-9423-426A-A54F-78106946FD5A}"/>
              </a:ext>
            </a:extLst>
          </p:cNvPr>
          <p:cNvSpPr>
            <a:spLocks xmlns:a="http://schemas.openxmlformats.org/drawingml/2006/main" noGrp="1"/>
          </p:cNvSpPr>
          <p:nvPr/>
        </p:nvSpPr>
        <p:spPr>
          <a:xfrm xmlns:a="http://schemas.openxmlformats.org/drawingml/2006/main">
            <a:off x="638175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A horizontal stretch changes the first coordinate.</a:t>
            </a:r>
          </a:p>
        </p:txBody>
      </p:sp>
    </p:spTree>
    <p:extLst>
      <p:ext uri="{BB962C8B-B14F-4D97-AF65-F5344CB8AC3E}">
        <p14:creationId xmlns:p14="http://schemas.microsoft.com/office/powerpoint/2010/main" val="1623536807"/>
      </p:ext>
    </p:extLst>
  </p:cSld>
</p:sld>
</file>

<file path=ppt/slides/slide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SPECIAL DIRECTIONS</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04</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Some inputs stay on the same line.</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real eigenpairs, “same line” allows reversal; zero collapses the output.</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ORDINARY INPUT</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The output can point</a:t>
            </a:r>
          </a:p>
          <a:p xmlns:a="http://schemas.openxmlformats.org/drawingml/2006/main">
            <a:pPr algn="ctr">
              <a:buNone/>
              <a:defRPr sz="2250" b="1">
                <a:solidFill>
                  <a:srgbClr val="F7F2E8"/>
                </a:solidFill>
              </a:defRPr>
            </a:pPr>
            <a:r>
              <a:rPr sz="2250" b="1">
                <a:solidFill>
                  <a:srgbClr val="F7F2E8"/>
                </a:solidFill>
              </a:rPr>
              <a:t>along a different line.</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Not necessarily an eigenvector</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EIGENVECTOR</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The output is a multiple</a:t>
            </a:r>
          </a:p>
          <a:p xmlns:a="http://schemas.openxmlformats.org/drawingml/2006/main">
            <a:pPr algn="ctr">
              <a:buNone/>
              <a:defRPr sz="2250" b="1">
                <a:solidFill>
                  <a:srgbClr val="F7F2E8"/>
                </a:solidFill>
              </a:defRPr>
            </a:pPr>
            <a:r>
              <a:rPr sz="2250" b="1">
                <a:solidFill>
                  <a:srgbClr val="F7F2E8"/>
                </a:solidFill>
              </a:rPr>
              <a:t>of the nonzero input.</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One scalar describes the change</a:t>
            </a:r>
          </a:p>
        </p:txBody>
      </p:sp>
    </p:spTree>
    <p:extLst>
      <p:ext uri="{BB962C8B-B14F-4D97-AF65-F5344CB8AC3E}">
        <p14:creationId xmlns:p14="http://schemas.microsoft.com/office/powerpoint/2010/main" val="1848015540"/>
      </p:ext>
    </p:extLst>
  </p:cSld>
</p:sld>
</file>

<file path=ppt/slides/slide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F52369-1D6C-4A76-BBED-547B24AD635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F2382-A27C-493C-A982-DFD35BEBB5C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DD298C1-23CB-4DB4-89A1-84F6CF069CA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THE EIGENPAIR</a:t>
            </a:r>
          </a:p>
        </p:txBody>
      </p:sp>
      <p:sp>
        <p:nvSpPr>
          <p:cNvPr id="4" name="">
            <a:extLst xmlns:a="http://schemas.openxmlformats.org/drawingml/2006/main">
              <a:ext uri="{FF2B5EF4-FFF2-40B4-BE49-F238E27FC236}">
                <a16:creationId xmlns:a16="http://schemas.microsoft.com/office/drawing/2014/main" id="{6B11DCE9-ECA1-4362-8B4D-D9CFA25AE557}"/>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05</a:t>
            </a:r>
          </a:p>
        </p:txBody>
      </p:sp>
      <p:sp>
        <p:nvSpPr>
          <p:cNvPr id="5" name="">
            <a:extLst xmlns:a="http://schemas.openxmlformats.org/drawingml/2006/main">
              <a:ext uri="{FF2B5EF4-FFF2-40B4-BE49-F238E27FC236}">
                <a16:creationId xmlns:a16="http://schemas.microsoft.com/office/drawing/2014/main" id="{DC9B4FDB-8E3D-405C-9706-372B0E9A8AB2}"/>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178C46C3-76A3-401A-BA9B-79A08C6A451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equation says exactly what must happen.</a:t>
            </a:r>
          </a:p>
        </p:txBody>
      </p:sp>
      <p:sp>
        <p:nvSpPr>
          <p:cNvPr id="7" name="">
            <a:extLst xmlns:a="http://schemas.openxmlformats.org/drawingml/2006/main">
              <a:ext uri="{FF2B5EF4-FFF2-40B4-BE49-F238E27FC236}">
                <a16:creationId xmlns:a16="http://schemas.microsoft.com/office/drawing/2014/main" id="{859095A2-626A-4759-A576-FBE160410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is square, v is nonzero, and λ (lambda) is a scalar multiplier.</a:t>
            </a:r>
          </a:p>
        </p:txBody>
      </p:sp>
      <p:sp>
        <p:nvSpPr>
          <p:cNvPr id="8" name="">
            <a:extLst xmlns:a="http://schemas.openxmlformats.org/drawingml/2006/main">
              <a:ext uri="{FF2B5EF4-FFF2-40B4-BE49-F238E27FC236}">
                <a16:creationId xmlns:a16="http://schemas.microsoft.com/office/drawing/2014/main" id="{1223E019-4A2C-4734-B611-DBA22D0F22FE}"/>
              </a:ext>
            </a:extLst>
          </p:cNvPr>
          <p:cNvSpPr>
            <a:spLocks xmlns:a="http://schemas.openxmlformats.org/drawingml/2006/main" noGrp="1"/>
          </p:cNvSpPr>
          <p:nvPr/>
        </p:nvSpPr>
        <p:spPr>
          <a:xfrm xmlns:a="http://schemas.openxmlformats.org/drawingml/2006/main">
            <a:off x="590550" y="2190750"/>
            <a:ext cx="6858000" cy="2857500"/>
          </a:xfrm>
          <a:prstGeom xmlns:a="http://schemas.openxmlformats.org/drawingml/2006/main" prst="roundRect">
            <a:avLst>
              <a:gd name="adj" fmla="val 2667"/>
            </a:avLst>
          </a:prstGeom>
          <a:solidFill xmlns:a="http://schemas.openxmlformats.org/drawingml/2006/main">
            <a:srgbClr val="06131F"/>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A760EAF-103C-47E8-A19B-88597E82C6CC}"/>
              </a:ext>
            </a:extLst>
          </p:cNvPr>
          <p:cNvSpPr>
            <a:spLocks xmlns:a="http://schemas.openxmlformats.org/drawingml/2006/main" noGrp="1"/>
          </p:cNvSpPr>
          <p:nvPr/>
        </p:nvSpPr>
        <p:spPr>
          <a:xfrm xmlns:a="http://schemas.openxmlformats.org/drawingml/2006/main">
            <a:off x="857250" y="245745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D7F8F2"/>
                </a:solidFill>
              </a:defRPr>
            </a:pPr>
            <a:r>
              <a:rPr sz="1650" b="0">
                <a:solidFill>
                  <a:srgbClr val="D7F8F2"/>
                </a:solidFill>
              </a:rPr>
              <a:t>Av = λv</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Applying A to v gives the same result</a:t>
            </a:r>
          </a:p>
          <a:p xmlns:a="http://schemas.openxmlformats.org/drawingml/2006/main">
            <a:pPr algn="l">
              <a:buNone/>
              <a:defRPr sz="1650" b="0">
                <a:solidFill>
                  <a:srgbClr val="D7F8F2"/>
                </a:solidFill>
              </a:defRPr>
            </a:pPr>
            <a:r>
              <a:rPr sz="1650" b="0">
                <a:solidFill>
                  <a:srgbClr val="D7F8F2"/>
                </a:solidFill>
              </a:rPr>
              <a:t>as multiplying v by the number λ.</a:t>
            </a:r>
          </a:p>
          <a:p xmlns:a="http://schemas.openxmlformats.org/drawingml/2006/main">
            <a:pPr algn="l">
              <a:buNone/>
              <a:defRPr sz="1650" b="0">
                <a:solidFill>
                  <a:srgbClr val="D7F8F2"/>
                </a:solidFill>
              </a:defRPr>
            </a:pPr>
            <a:r>
              <a:rPr sz="1650" b="0">
                <a:solidFill>
                  <a:srgbClr val="D7F8F2"/>
                </a:solidFill>
              </a:rPr>
              <a:t/>
            </a:r>
          </a:p>
          <a:p xmlns:a="http://schemas.openxmlformats.org/drawingml/2006/main">
            <a:pPr algn="l">
              <a:buNone/>
              <a:defRPr sz="1650" b="0">
                <a:solidFill>
                  <a:srgbClr val="D7F8F2"/>
                </a:solidFill>
              </a:defRPr>
            </a:pPr>
            <a:r>
              <a:rPr sz="1650" b="0">
                <a:solidFill>
                  <a:srgbClr val="D7F8F2"/>
                </a:solidFill>
              </a:rPr>
              <a:t>Not every vector satisfies this equation.</a:t>
            </a:r>
          </a:p>
        </p:txBody>
      </p:sp>
      <p:sp>
        <p:nvSpPr>
          <p:cNvPr id="10" name="">
            <a:extLst xmlns:a="http://schemas.openxmlformats.org/drawingml/2006/main">
              <a:ext uri="{FF2B5EF4-FFF2-40B4-BE49-F238E27FC236}">
                <a16:creationId xmlns:a16="http://schemas.microsoft.com/office/drawing/2014/main" id="{15DB8409-60C6-46F6-AF62-A58F358F720A}"/>
              </a:ext>
            </a:extLst>
          </p:cNvPr>
          <p:cNvSpPr>
            <a:spLocks xmlns:a="http://schemas.openxmlformats.org/drawingml/2006/main" noGrp="1"/>
          </p:cNvSpPr>
          <p:nvPr/>
        </p:nvSpPr>
        <p:spPr>
          <a:xfrm xmlns:a="http://schemas.openxmlformats.org/drawingml/2006/main">
            <a:off x="8058150" y="2381250"/>
            <a:ext cx="3143250" cy="2190750"/>
          </a:xfrm>
          <a:prstGeom xmlns:a="http://schemas.openxmlformats.org/drawingml/2006/main" prst="roundRect">
            <a:avLst>
              <a:gd name="adj" fmla="val 3478"/>
            </a:avLst>
          </a:prstGeom>
          <a:solidFill xmlns:a="http://schemas.openxmlformats.org/drawingml/2006/main">
            <a:srgbClr val="103A3F"/>
          </a:solidFill>
          <a:ln xmlns:a="http://schemas.openxmlformats.org/drawingml/2006/main" w="9525">
            <a:solidFill>
              <a:srgbClr val="D9A441"/>
            </a:solidFill>
            <a:prstDash val="solid"/>
          </a:ln>
        </p:spPr>
      </p:sp>
      <p:sp>
        <p:nvSpPr>
          <p:cNvPr id="11" name="">
            <a:extLst xmlns:a="http://schemas.openxmlformats.org/drawingml/2006/main">
              <a:ext uri="{FF2B5EF4-FFF2-40B4-BE49-F238E27FC236}">
                <a16:creationId xmlns:a16="http://schemas.microsoft.com/office/drawing/2014/main" id="{8E670E22-A0C5-41C2-8835-BF7E161C86AE}"/>
              </a:ext>
            </a:extLst>
          </p:cNvPr>
          <p:cNvSpPr>
            <a:spLocks xmlns:a="http://schemas.openxmlformats.org/drawingml/2006/main" noGrp="1"/>
          </p:cNvSpPr>
          <p:nvPr/>
        </p:nvSpPr>
        <p:spPr>
          <a:xfrm xmlns:a="http://schemas.openxmlformats.org/drawingml/2006/main">
            <a:off x="8991600" y="2571750"/>
            <a:ext cx="128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350" b="1">
                <a:solidFill>
                  <a:srgbClr val="79D7CC"/>
                </a:solidFill>
              </a:defRPr>
            </a:pPr>
            <a:r>
              <a:rPr sz="4350" b="1">
                <a:solidFill>
                  <a:srgbClr val="79D7CC"/>
                </a:solidFill>
              </a:rPr>
              <a:t>λ</a:t>
            </a:r>
          </a:p>
        </p:txBody>
      </p:sp>
      <p:sp>
        <p:nvSpPr>
          <p:cNvPr id="12" name="">
            <a:extLst xmlns:a="http://schemas.openxmlformats.org/drawingml/2006/main">
              <a:ext uri="{FF2B5EF4-FFF2-40B4-BE49-F238E27FC236}">
                <a16:creationId xmlns:a16="http://schemas.microsoft.com/office/drawing/2014/main" id="{79FC6D09-B9F1-4070-B017-B299C33772C4}"/>
              </a:ext>
            </a:extLst>
          </p:cNvPr>
          <p:cNvSpPr>
            <a:spLocks xmlns:a="http://schemas.openxmlformats.org/drawingml/2006/main" noGrp="1"/>
          </p:cNvSpPr>
          <p:nvPr/>
        </p:nvSpPr>
        <p:spPr>
          <a:xfrm xmlns:a="http://schemas.openxmlformats.org/drawingml/2006/main">
            <a:off x="8382000" y="3476625"/>
            <a:ext cx="249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A multiplier</a:t>
            </a:r>
          </a:p>
          <a:p xmlns:a="http://schemas.openxmlformats.org/drawingml/2006/main">
            <a:pPr algn="ctr">
              <a:buNone/>
              <a:defRPr sz="1875" b="1">
                <a:solidFill>
                  <a:srgbClr val="F7F2E8"/>
                </a:solidFill>
              </a:defRPr>
            </a:pPr>
            <a:r>
              <a:rPr sz="1875" b="1">
                <a:solidFill>
                  <a:srgbClr val="F7F2E8"/>
                </a:solidFill>
              </a:rPr>
              <a:t>paired with</a:t>
            </a:r>
          </a:p>
          <a:p xmlns:a="http://schemas.openxmlformats.org/drawingml/2006/main">
            <a:pPr algn="ctr">
              <a:buNone/>
              <a:defRPr sz="1875" b="1">
                <a:solidFill>
                  <a:srgbClr val="F7F2E8"/>
                </a:solidFill>
              </a:defRPr>
            </a:pPr>
            <a:r>
              <a:rPr sz="1875" b="1">
                <a:solidFill>
                  <a:srgbClr val="F7F2E8"/>
                </a:solidFill>
              </a:rPr>
              <a:t>a direction</a:t>
            </a:r>
          </a:p>
        </p:txBody>
      </p:sp>
    </p:spTree>
    <p:extLst>
      <p:ext uri="{BB962C8B-B14F-4D97-AF65-F5344CB8AC3E}">
        <p14:creationId xmlns:p14="http://schemas.microsoft.com/office/powerpoint/2010/main" val="2099694137"/>
      </p:ext>
    </p:extLst>
  </p:cSld>
</p:sld>
</file>

<file path=ppt/slides/slide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DF2817-725B-4938-8ABF-977F4F590F2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6E7DF7-1392-4A3A-A6F6-0CA5CA6FE69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40112630-E53E-41D9-832A-5CCED8F2331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A SIMPLE STRETCH</a:t>
            </a:r>
          </a:p>
        </p:txBody>
      </p:sp>
      <p:sp>
        <p:nvSpPr>
          <p:cNvPr id="4" name="">
            <a:extLst xmlns:a="http://schemas.openxmlformats.org/drawingml/2006/main">
              <a:ext uri="{FF2B5EF4-FFF2-40B4-BE49-F238E27FC236}">
                <a16:creationId xmlns:a16="http://schemas.microsoft.com/office/drawing/2014/main" id="{85973738-9B04-4313-88C4-4E97247F4DB9}"/>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06</a:t>
            </a:r>
          </a:p>
        </p:txBody>
      </p:sp>
      <p:sp>
        <p:nvSpPr>
          <p:cNvPr id="5" name="">
            <a:extLst xmlns:a="http://schemas.openxmlformats.org/drawingml/2006/main">
              <a:ext uri="{FF2B5EF4-FFF2-40B4-BE49-F238E27FC236}">
                <a16:creationId xmlns:a16="http://schemas.microsoft.com/office/drawing/2014/main" id="{8278253D-6C96-4FB9-89ED-C2BBFAAE1BC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BAE41526-3697-4714-BC66-18CC0FFF1505}"/>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Tripling one coordinate reveals special directions.</a:t>
            </a:r>
          </a:p>
        </p:txBody>
      </p:sp>
      <p:sp>
        <p:nvSpPr>
          <p:cNvPr id="7" name="">
            <a:extLst xmlns:a="http://schemas.openxmlformats.org/drawingml/2006/main">
              <a:ext uri="{FF2B5EF4-FFF2-40B4-BE49-F238E27FC236}">
                <a16:creationId xmlns:a16="http://schemas.microsoft.com/office/drawing/2014/main" id="{A53612E4-30D8-4781-A527-119141DE1D0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A = diag(3, 1), the horizontal coordinate triples; the vertical is unchanged.</a:t>
            </a:r>
          </a:p>
        </p:txBody>
      </p:sp>
      <p:sp>
        <p:nvSpPr>
          <p:cNvPr id="8" name="">
            <a:extLst xmlns:a="http://schemas.openxmlformats.org/drawingml/2006/main">
              <a:ext uri="{FF2B5EF4-FFF2-40B4-BE49-F238E27FC236}">
                <a16:creationId xmlns:a16="http://schemas.microsoft.com/office/drawing/2014/main" id="{8DD86A21-4027-44B2-BCBE-4F10E33FCF9E}"/>
              </a:ext>
            </a:extLst>
          </p:cNvPr>
          <p:cNvSpPr>
            <a:spLocks xmlns:a="http://schemas.openxmlformats.org/drawingml/2006/main" noGrp="1"/>
          </p:cNvSpPr>
          <p:nvPr/>
        </p:nvSpPr>
        <p:spPr>
          <a:xfrm xmlns:a="http://schemas.openxmlformats.org/drawingml/2006/main">
            <a:off x="1143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401F5192-BCB2-4A64-9B36-9FD5D6372492}"/>
              </a:ext>
            </a:extLst>
          </p:cNvPr>
          <p:cNvSpPr>
            <a:spLocks xmlns:a="http://schemas.openxmlformats.org/drawingml/2006/main" noGrp="1"/>
          </p:cNvSpPr>
          <p:nvPr/>
        </p:nvSpPr>
        <p:spPr>
          <a:xfrm xmlns:a="http://schemas.openxmlformats.org/drawingml/2006/main">
            <a:off x="1333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HORIZONTAL</a:t>
            </a:r>
          </a:p>
        </p:txBody>
      </p:sp>
      <p:sp>
        <p:nvSpPr>
          <p:cNvPr id="10" name="">
            <a:extLst xmlns:a="http://schemas.openxmlformats.org/drawingml/2006/main">
              <a:ext uri="{FF2B5EF4-FFF2-40B4-BE49-F238E27FC236}">
                <a16:creationId xmlns:a16="http://schemas.microsoft.com/office/drawing/2014/main" id="{2A5729DF-6C09-4EBF-AFFB-60777A410D72}"/>
              </a:ext>
            </a:extLst>
          </p:cNvPr>
          <p:cNvSpPr>
            <a:spLocks xmlns:a="http://schemas.openxmlformats.org/drawingml/2006/main" noGrp="1"/>
          </p:cNvSpPr>
          <p:nvPr/>
        </p:nvSpPr>
        <p:spPr>
          <a:xfrm xmlns:a="http://schemas.openxmlformats.org/drawingml/2006/main">
            <a:off x="1333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×3</a:t>
            </a:r>
          </a:p>
        </p:txBody>
      </p:sp>
      <p:sp>
        <p:nvSpPr>
          <p:cNvPr id="11" name="">
            <a:extLst xmlns:a="http://schemas.openxmlformats.org/drawingml/2006/main">
              <a:ext uri="{FF2B5EF4-FFF2-40B4-BE49-F238E27FC236}">
                <a16:creationId xmlns:a16="http://schemas.microsoft.com/office/drawing/2014/main" id="{EC5EBA52-C1AD-4178-A1CE-A8FA55601458}"/>
              </a:ext>
            </a:extLst>
          </p:cNvPr>
          <p:cNvSpPr>
            <a:spLocks xmlns:a="http://schemas.openxmlformats.org/drawingml/2006/main" noGrp="1"/>
          </p:cNvSpPr>
          <p:nvPr/>
        </p:nvSpPr>
        <p:spPr>
          <a:xfrm xmlns:a="http://schemas.openxmlformats.org/drawingml/2006/main">
            <a:off x="1333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(1, 0) → (3, 0)</a:t>
            </a:r>
          </a:p>
        </p:txBody>
      </p:sp>
      <p:sp>
        <p:nvSpPr>
          <p:cNvPr id="12" name="">
            <a:extLst xmlns:a="http://schemas.openxmlformats.org/drawingml/2006/main">
              <a:ext uri="{FF2B5EF4-FFF2-40B4-BE49-F238E27FC236}">
                <a16:creationId xmlns:a16="http://schemas.microsoft.com/office/drawing/2014/main" id="{E6C23502-DA06-45EA-8A5B-E82B221BC6E5}"/>
              </a:ext>
            </a:extLst>
          </p:cNvPr>
          <p:cNvSpPr>
            <a:spLocks xmlns:a="http://schemas.openxmlformats.org/drawingml/2006/main" noGrp="1"/>
          </p:cNvSpPr>
          <p:nvPr/>
        </p:nvSpPr>
        <p:spPr>
          <a:xfrm xmlns:a="http://schemas.openxmlformats.org/drawingml/2006/main">
            <a:off x="4572000" y="2381250"/>
            <a:ext cx="2857500" cy="2095500"/>
          </a:xfrm>
          <a:prstGeom xmlns:a="http://schemas.openxmlformats.org/drawingml/2006/main" prst="roundRect">
            <a:avLst>
              <a:gd name="adj" fmla="val 3636"/>
            </a:avLst>
          </a:prstGeom>
          <a:solidFill xmlns:a="http://schemas.openxmlformats.org/drawingml/2006/main">
            <a:srgbClr val="154D57"/>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53D8B61B-13D5-4D6F-8D5E-B41DBB3A2B1E}"/>
              </a:ext>
            </a:extLst>
          </p:cNvPr>
          <p:cNvSpPr>
            <a:spLocks xmlns:a="http://schemas.openxmlformats.org/drawingml/2006/main" noGrp="1"/>
          </p:cNvSpPr>
          <p:nvPr/>
        </p:nvSpPr>
        <p:spPr>
          <a:xfrm xmlns:a="http://schemas.openxmlformats.org/drawingml/2006/main">
            <a:off x="4762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VERTICAL</a:t>
            </a:r>
          </a:p>
        </p:txBody>
      </p:sp>
      <p:sp>
        <p:nvSpPr>
          <p:cNvPr id="14" name="">
            <a:extLst xmlns:a="http://schemas.openxmlformats.org/drawingml/2006/main">
              <a:ext uri="{FF2B5EF4-FFF2-40B4-BE49-F238E27FC236}">
                <a16:creationId xmlns:a16="http://schemas.microsoft.com/office/drawing/2014/main" id="{C48ECA60-9A18-44DA-9BAC-4C42FE5953F8}"/>
              </a:ext>
            </a:extLst>
          </p:cNvPr>
          <p:cNvSpPr>
            <a:spLocks xmlns:a="http://schemas.openxmlformats.org/drawingml/2006/main" noGrp="1"/>
          </p:cNvSpPr>
          <p:nvPr/>
        </p:nvSpPr>
        <p:spPr>
          <a:xfrm xmlns:a="http://schemas.openxmlformats.org/drawingml/2006/main">
            <a:off x="4762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×1</a:t>
            </a:r>
          </a:p>
        </p:txBody>
      </p:sp>
      <p:sp>
        <p:nvSpPr>
          <p:cNvPr id="15" name="">
            <a:extLst xmlns:a="http://schemas.openxmlformats.org/drawingml/2006/main">
              <a:ext uri="{FF2B5EF4-FFF2-40B4-BE49-F238E27FC236}">
                <a16:creationId xmlns:a16="http://schemas.microsoft.com/office/drawing/2014/main" id="{BC193A3E-1CB2-490B-9323-F13E48E682F5}"/>
              </a:ext>
            </a:extLst>
          </p:cNvPr>
          <p:cNvSpPr>
            <a:spLocks xmlns:a="http://schemas.openxmlformats.org/drawingml/2006/main" noGrp="1"/>
          </p:cNvSpPr>
          <p:nvPr/>
        </p:nvSpPr>
        <p:spPr>
          <a:xfrm xmlns:a="http://schemas.openxmlformats.org/drawingml/2006/main">
            <a:off x="4762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(0, 1) → (0, 1)</a:t>
            </a:r>
          </a:p>
        </p:txBody>
      </p:sp>
      <p:sp>
        <p:nvSpPr>
          <p:cNvPr id="16" name="">
            <a:extLst xmlns:a="http://schemas.openxmlformats.org/drawingml/2006/main">
              <a:ext uri="{FF2B5EF4-FFF2-40B4-BE49-F238E27FC236}">
                <a16:creationId xmlns:a16="http://schemas.microsoft.com/office/drawing/2014/main" id="{9A11E346-D82C-420C-AECD-7F16DDEDD0D5}"/>
              </a:ext>
            </a:extLst>
          </p:cNvPr>
          <p:cNvSpPr>
            <a:spLocks xmlns:a="http://schemas.openxmlformats.org/drawingml/2006/main" noGrp="1"/>
          </p:cNvSpPr>
          <p:nvPr/>
        </p:nvSpPr>
        <p:spPr>
          <a:xfrm xmlns:a="http://schemas.openxmlformats.org/drawingml/2006/main">
            <a:off x="8001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C7D4888-ABC9-46BF-AF11-53B0B1FDA3A9}"/>
              </a:ext>
            </a:extLst>
          </p:cNvPr>
          <p:cNvSpPr>
            <a:spLocks xmlns:a="http://schemas.openxmlformats.org/drawingml/2006/main" noGrp="1"/>
          </p:cNvSpPr>
          <p:nvPr/>
        </p:nvSpPr>
        <p:spPr>
          <a:xfrm xmlns:a="http://schemas.openxmlformats.org/drawingml/2006/main">
            <a:off x="8191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DIAGONAL</a:t>
            </a:r>
          </a:p>
        </p:txBody>
      </p:sp>
      <p:sp>
        <p:nvSpPr>
          <p:cNvPr id="18" name="">
            <a:extLst xmlns:a="http://schemas.openxmlformats.org/drawingml/2006/main">
              <a:ext uri="{FF2B5EF4-FFF2-40B4-BE49-F238E27FC236}">
                <a16:creationId xmlns:a16="http://schemas.microsoft.com/office/drawing/2014/main" id="{C1061CCF-3FD1-4A71-8A54-D6D9A0DC02F8}"/>
              </a:ext>
            </a:extLst>
          </p:cNvPr>
          <p:cNvSpPr>
            <a:spLocks xmlns:a="http://schemas.openxmlformats.org/drawingml/2006/main" noGrp="1"/>
          </p:cNvSpPr>
          <p:nvPr/>
        </p:nvSpPr>
        <p:spPr>
          <a:xfrm xmlns:a="http://schemas.openxmlformats.org/drawingml/2006/main">
            <a:off x="8191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a:t>
            </a:r>
          </a:p>
        </p:txBody>
      </p:sp>
      <p:sp>
        <p:nvSpPr>
          <p:cNvPr id="19" name="">
            <a:extLst xmlns:a="http://schemas.openxmlformats.org/drawingml/2006/main">
              <a:ext uri="{FF2B5EF4-FFF2-40B4-BE49-F238E27FC236}">
                <a16:creationId xmlns:a16="http://schemas.microsoft.com/office/drawing/2014/main" id="{2E6591C7-55FD-4AD5-968D-50A9EBF63A00}"/>
              </a:ext>
            </a:extLst>
          </p:cNvPr>
          <p:cNvSpPr>
            <a:spLocks xmlns:a="http://schemas.openxmlformats.org/drawingml/2006/main" noGrp="1"/>
          </p:cNvSpPr>
          <p:nvPr/>
        </p:nvSpPr>
        <p:spPr>
          <a:xfrm xmlns:a="http://schemas.openxmlformats.org/drawingml/2006/main">
            <a:off x="8191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(1, 1) → (3, 1)</a:t>
            </a:r>
          </a:p>
        </p:txBody>
      </p:sp>
      <p:sp>
        <p:nvSpPr>
          <p:cNvPr id="20" name="">
            <a:extLst xmlns:a="http://schemas.openxmlformats.org/drawingml/2006/main">
              <a:ext uri="{FF2B5EF4-FFF2-40B4-BE49-F238E27FC236}">
                <a16:creationId xmlns:a16="http://schemas.microsoft.com/office/drawing/2014/main" id="{5590C928-27F2-40AF-A6CC-4F2205FEF9AF}"/>
              </a:ext>
            </a:extLst>
          </p:cNvPr>
          <p:cNvSpPr>
            <a:spLocks xmlns:a="http://schemas.openxmlformats.org/drawingml/2006/main" noGrp="1"/>
          </p:cNvSpPr>
          <p:nvPr/>
        </p:nvSpPr>
        <p:spPr>
          <a:xfrm xmlns:a="http://schemas.openxmlformats.org/drawingml/2006/main">
            <a:off x="1666875" y="504825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The first two stay on their lines; the third does not.</a:t>
            </a:r>
          </a:p>
        </p:txBody>
      </p:sp>
    </p:spTree>
    <p:extLst>
      <p:ext uri="{BB962C8B-B14F-4D97-AF65-F5344CB8AC3E}">
        <p14:creationId xmlns:p14="http://schemas.microsoft.com/office/powerpoint/2010/main" val="1358859806"/>
      </p:ext>
    </p:extLst>
  </p:cSld>
</p:sld>
</file>

<file path=ppt/slides/slide7.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VERIFY BY MULTIPLICATION</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07</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One multiplier must work for every coordinate.</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Here A = diag(3, 1). The superscript T denotes a column vector, not a power.</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AN EIGENPAIR</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A(1, 0)ᵀ = (3, 0)ᵀ</a:t>
            </a:r>
          </a:p>
          <a:p xmlns:a="http://schemas.openxmlformats.org/drawingml/2006/main">
            <a:pPr algn="ctr">
              <a:buNone/>
              <a:defRPr sz="2250" b="1">
                <a:solidFill>
                  <a:srgbClr val="F7F2E8"/>
                </a:solidFill>
              </a:defRPr>
            </a:pPr>
            <a:r>
              <a:rPr sz="2250" b="1">
                <a:solidFill>
                  <a:srgbClr val="F7F2E8"/>
                </a:solidFill>
              </a:rPr>
              <a:t>= 3(1, 0)ᵀ</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The same multiplier works: λ = 3</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NOT AN EIGENVECTOR</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A(1, 1)ᵀ = (3, 1)ᵀ</a:t>
            </a:r>
          </a:p>
          <a:p xmlns:a="http://schemas.openxmlformats.org/drawingml/2006/main">
            <a:pPr algn="ctr">
              <a:buNone/>
              <a:defRPr sz="2250" b="1">
                <a:solidFill>
                  <a:srgbClr val="F7F2E8"/>
                </a:solidFill>
              </a:defRPr>
            </a:pPr>
            <a:r>
              <a:rPr sz="2250" b="1">
                <a:solidFill>
                  <a:srgbClr val="F7F2E8"/>
                </a:solidFill>
              </a:rPr>
              <a:t>3 ≠ 1</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The coordinates disagree</a:t>
            </a:r>
          </a:p>
        </p:txBody>
      </p:sp>
    </p:spTree>
    <p:extLst>
      <p:ext uri="{BB962C8B-B14F-4D97-AF65-F5344CB8AC3E}">
        <p14:creationId xmlns:p14="http://schemas.microsoft.com/office/powerpoint/2010/main" val="1848015540"/>
      </p:ext>
    </p:extLst>
  </p:cSld>
</p:sld>
</file>

<file path=ppt/slides/slide8.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F4EE0BB-73EE-46DE-A299-71E06B1C41D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29FEF9-6575-4667-89A4-FD946265ECD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8821F87F-4F76-4DC9-A745-2D95FC1C766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READ THE MULTIPLIER</a:t>
            </a:r>
          </a:p>
        </p:txBody>
      </p:sp>
      <p:sp>
        <p:nvSpPr>
          <p:cNvPr id="4" name="">
            <a:extLst xmlns:a="http://schemas.openxmlformats.org/drawingml/2006/main">
              <a:ext uri="{FF2B5EF4-FFF2-40B4-BE49-F238E27FC236}">
                <a16:creationId xmlns:a16="http://schemas.microsoft.com/office/drawing/2014/main" id="{D986A8C8-F336-4478-8321-F2CBD116E696}"/>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08</a:t>
            </a:r>
          </a:p>
        </p:txBody>
      </p:sp>
      <p:sp>
        <p:nvSpPr>
          <p:cNvPr id="5" name="">
            <a:extLst xmlns:a="http://schemas.openxmlformats.org/drawingml/2006/main">
              <a:ext uri="{FF2B5EF4-FFF2-40B4-BE49-F238E27FC236}">
                <a16:creationId xmlns:a16="http://schemas.microsoft.com/office/drawing/2014/main" id="{BF995346-73B0-41A1-A0A9-8E6E5DAE96E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7AD37A30-E55C-45D9-AD4C-9EE534D6A167}"/>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sign and magnitude explain the change.</a:t>
            </a:r>
          </a:p>
        </p:txBody>
      </p:sp>
      <p:sp>
        <p:nvSpPr>
          <p:cNvPr id="7" name="">
            <a:extLst xmlns:a="http://schemas.openxmlformats.org/drawingml/2006/main">
              <a:ext uri="{FF2B5EF4-FFF2-40B4-BE49-F238E27FC236}">
                <a16:creationId xmlns:a16="http://schemas.microsoft.com/office/drawing/2014/main" id="{ABBD21CB-5BFD-4278-882A-2174D5BDB3E7}"/>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These geometric descriptions apply to real eigenpairs.</a:t>
            </a:r>
          </a:p>
        </p:txBody>
      </p:sp>
      <p:sp>
        <p:nvSpPr>
          <p:cNvPr id="8" name="">
            <a:extLst xmlns:a="http://schemas.openxmlformats.org/drawingml/2006/main">
              <a:ext uri="{FF2B5EF4-FFF2-40B4-BE49-F238E27FC236}">
                <a16:creationId xmlns:a16="http://schemas.microsoft.com/office/drawing/2014/main" id="{91FED8EC-7A17-4EE0-A299-C713DAB54A95}"/>
              </a:ext>
            </a:extLst>
          </p:cNvPr>
          <p:cNvSpPr>
            <a:spLocks xmlns:a="http://schemas.openxmlformats.org/drawingml/2006/main" noGrp="1"/>
          </p:cNvSpPr>
          <p:nvPr/>
        </p:nvSpPr>
        <p:spPr>
          <a:xfrm xmlns:a="http://schemas.openxmlformats.org/drawingml/2006/main">
            <a:off x="590550" y="2381250"/>
            <a:ext cx="2000250" cy="1752600"/>
          </a:xfrm>
          <a:prstGeom xmlns:a="http://schemas.openxmlformats.org/drawingml/2006/main" prst="roundRect">
            <a:avLst>
              <a:gd name="adj" fmla="val 4348"/>
            </a:avLst>
          </a:prstGeom>
          <a:solidFill xmlns:a="http://schemas.openxmlformats.org/drawingml/2006/main">
            <a:srgbClr val="154D57"/>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B0F42EE9-47E3-4292-A0F3-0D4321216333}"/>
              </a:ext>
            </a:extLst>
          </p:cNvPr>
          <p:cNvSpPr>
            <a:spLocks xmlns:a="http://schemas.openxmlformats.org/drawingml/2006/main" noGrp="1"/>
          </p:cNvSpPr>
          <p:nvPr/>
        </p:nvSpPr>
        <p:spPr>
          <a:xfrm xmlns:a="http://schemas.openxmlformats.org/drawingml/2006/main">
            <a:off x="8286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D9A441"/>
                </a:solidFill>
              </a:defRPr>
            </a:pPr>
            <a:r>
              <a:rPr sz="2550" b="1">
                <a:solidFill>
                  <a:srgbClr val="D9A441"/>
                </a:solidFill>
              </a:rPr>
              <a:t>3</a:t>
            </a:r>
          </a:p>
        </p:txBody>
      </p:sp>
      <p:sp>
        <p:nvSpPr>
          <p:cNvPr id="10" name="">
            <a:extLst xmlns:a="http://schemas.openxmlformats.org/drawingml/2006/main">
              <a:ext uri="{FF2B5EF4-FFF2-40B4-BE49-F238E27FC236}">
                <a16:creationId xmlns:a16="http://schemas.microsoft.com/office/drawing/2014/main" id="{2EF93A45-6DD7-4665-B590-AD2F0A63C0B2}"/>
              </a:ext>
            </a:extLst>
          </p:cNvPr>
          <p:cNvSpPr>
            <a:spLocks xmlns:a="http://schemas.openxmlformats.org/drawingml/2006/main" noGrp="1"/>
          </p:cNvSpPr>
          <p:nvPr/>
        </p:nvSpPr>
        <p:spPr>
          <a:xfrm xmlns:a="http://schemas.openxmlformats.org/drawingml/2006/main">
            <a:off x="7810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Triple length</a:t>
            </a:r>
          </a:p>
        </p:txBody>
      </p:sp>
      <p:sp>
        <p:nvSpPr>
          <p:cNvPr id="11" name="">
            <a:extLst xmlns:a="http://schemas.openxmlformats.org/drawingml/2006/main">
              <a:ext uri="{FF2B5EF4-FFF2-40B4-BE49-F238E27FC236}">
                <a16:creationId xmlns:a16="http://schemas.microsoft.com/office/drawing/2014/main" id="{09C25C01-F85A-4738-9F3F-1950F03B2F89}"/>
              </a:ext>
            </a:extLst>
          </p:cNvPr>
          <p:cNvSpPr>
            <a:spLocks xmlns:a="http://schemas.openxmlformats.org/drawingml/2006/main" noGrp="1"/>
          </p:cNvSpPr>
          <p:nvPr/>
        </p:nvSpPr>
        <p:spPr>
          <a:xfrm xmlns:a="http://schemas.openxmlformats.org/drawingml/2006/main">
            <a:off x="28384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4A5835A8-8A0F-40A2-A651-D330E3134D3A}"/>
              </a:ext>
            </a:extLst>
          </p:cNvPr>
          <p:cNvSpPr>
            <a:spLocks xmlns:a="http://schemas.openxmlformats.org/drawingml/2006/main" noGrp="1"/>
          </p:cNvSpPr>
          <p:nvPr/>
        </p:nvSpPr>
        <p:spPr>
          <a:xfrm xmlns:a="http://schemas.openxmlformats.org/drawingml/2006/main">
            <a:off x="30765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1</a:t>
            </a:r>
          </a:p>
        </p:txBody>
      </p:sp>
      <p:sp>
        <p:nvSpPr>
          <p:cNvPr id="13" name="">
            <a:extLst xmlns:a="http://schemas.openxmlformats.org/drawingml/2006/main">
              <a:ext uri="{FF2B5EF4-FFF2-40B4-BE49-F238E27FC236}">
                <a16:creationId xmlns:a16="http://schemas.microsoft.com/office/drawing/2014/main" id="{4B3F2516-24DE-430E-889A-2CC521DC46C3}"/>
              </a:ext>
            </a:extLst>
          </p:cNvPr>
          <p:cNvSpPr>
            <a:spLocks xmlns:a="http://schemas.openxmlformats.org/drawingml/2006/main" noGrp="1"/>
          </p:cNvSpPr>
          <p:nvPr/>
        </p:nvSpPr>
        <p:spPr>
          <a:xfrm xmlns:a="http://schemas.openxmlformats.org/drawingml/2006/main">
            <a:off x="30289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Unchanged</a:t>
            </a:r>
          </a:p>
        </p:txBody>
      </p:sp>
      <p:sp>
        <p:nvSpPr>
          <p:cNvPr id="14" name="">
            <a:extLst xmlns:a="http://schemas.openxmlformats.org/drawingml/2006/main">
              <a:ext uri="{FF2B5EF4-FFF2-40B4-BE49-F238E27FC236}">
                <a16:creationId xmlns:a16="http://schemas.microsoft.com/office/drawing/2014/main" id="{283A7553-81C9-42C2-A171-83484BCA0F4E}"/>
              </a:ext>
            </a:extLst>
          </p:cNvPr>
          <p:cNvSpPr>
            <a:spLocks xmlns:a="http://schemas.openxmlformats.org/drawingml/2006/main" noGrp="1"/>
          </p:cNvSpPr>
          <p:nvPr/>
        </p:nvSpPr>
        <p:spPr>
          <a:xfrm xmlns:a="http://schemas.openxmlformats.org/drawingml/2006/main">
            <a:off x="50863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BA551314-7306-459A-9E9F-F356B805C0CA}"/>
              </a:ext>
            </a:extLst>
          </p:cNvPr>
          <p:cNvSpPr>
            <a:spLocks xmlns:a="http://schemas.openxmlformats.org/drawingml/2006/main" noGrp="1"/>
          </p:cNvSpPr>
          <p:nvPr/>
        </p:nvSpPr>
        <p:spPr>
          <a:xfrm xmlns:a="http://schemas.openxmlformats.org/drawingml/2006/main">
            <a:off x="53244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0.5</a:t>
            </a:r>
          </a:p>
        </p:txBody>
      </p:sp>
      <p:sp>
        <p:nvSpPr>
          <p:cNvPr id="16" name="">
            <a:extLst xmlns:a="http://schemas.openxmlformats.org/drawingml/2006/main">
              <a:ext uri="{FF2B5EF4-FFF2-40B4-BE49-F238E27FC236}">
                <a16:creationId xmlns:a16="http://schemas.microsoft.com/office/drawing/2014/main" id="{35CFC3F9-3BB4-4F21-BB23-1C4E82FF72A0}"/>
              </a:ext>
            </a:extLst>
          </p:cNvPr>
          <p:cNvSpPr>
            <a:spLocks xmlns:a="http://schemas.openxmlformats.org/drawingml/2006/main" noGrp="1"/>
          </p:cNvSpPr>
          <p:nvPr/>
        </p:nvSpPr>
        <p:spPr>
          <a:xfrm xmlns:a="http://schemas.openxmlformats.org/drawingml/2006/main">
            <a:off x="52768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Half length</a:t>
            </a:r>
          </a:p>
        </p:txBody>
      </p:sp>
      <p:sp>
        <p:nvSpPr>
          <p:cNvPr id="17" name="">
            <a:extLst xmlns:a="http://schemas.openxmlformats.org/drawingml/2006/main">
              <a:ext uri="{FF2B5EF4-FFF2-40B4-BE49-F238E27FC236}">
                <a16:creationId xmlns:a16="http://schemas.microsoft.com/office/drawing/2014/main" id="{B33BBFA4-56E4-419F-9F1F-79C4D9B6DC51}"/>
              </a:ext>
            </a:extLst>
          </p:cNvPr>
          <p:cNvSpPr>
            <a:spLocks xmlns:a="http://schemas.openxmlformats.org/drawingml/2006/main" noGrp="1"/>
          </p:cNvSpPr>
          <p:nvPr/>
        </p:nvSpPr>
        <p:spPr>
          <a:xfrm xmlns:a="http://schemas.openxmlformats.org/drawingml/2006/main">
            <a:off x="73342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ECE8844B-2C73-486D-B7BC-FB3F52644F6D}"/>
              </a:ext>
            </a:extLst>
          </p:cNvPr>
          <p:cNvSpPr>
            <a:spLocks xmlns:a="http://schemas.openxmlformats.org/drawingml/2006/main" noGrp="1"/>
          </p:cNvSpPr>
          <p:nvPr/>
        </p:nvSpPr>
        <p:spPr>
          <a:xfrm xmlns:a="http://schemas.openxmlformats.org/drawingml/2006/main">
            <a:off x="75723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−2</a:t>
            </a:r>
          </a:p>
        </p:txBody>
      </p:sp>
      <p:sp>
        <p:nvSpPr>
          <p:cNvPr id="19" name="">
            <a:extLst xmlns:a="http://schemas.openxmlformats.org/drawingml/2006/main">
              <a:ext uri="{FF2B5EF4-FFF2-40B4-BE49-F238E27FC236}">
                <a16:creationId xmlns:a16="http://schemas.microsoft.com/office/drawing/2014/main" id="{D336A5B4-BBB7-45E6-882B-020364F4763A}"/>
              </a:ext>
            </a:extLst>
          </p:cNvPr>
          <p:cNvSpPr>
            <a:spLocks xmlns:a="http://schemas.openxmlformats.org/drawingml/2006/main" noGrp="1"/>
          </p:cNvSpPr>
          <p:nvPr/>
        </p:nvSpPr>
        <p:spPr>
          <a:xfrm xmlns:a="http://schemas.openxmlformats.org/drawingml/2006/main">
            <a:off x="75247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Reverse, double</a:t>
            </a:r>
          </a:p>
        </p:txBody>
      </p:sp>
      <p:sp>
        <p:nvSpPr>
          <p:cNvPr id="20" name="">
            <a:extLst xmlns:a="http://schemas.openxmlformats.org/drawingml/2006/main">
              <a:ext uri="{FF2B5EF4-FFF2-40B4-BE49-F238E27FC236}">
                <a16:creationId xmlns:a16="http://schemas.microsoft.com/office/drawing/2014/main" id="{241FFF2D-3AF5-4304-840B-2CD2896C73C3}"/>
              </a:ext>
            </a:extLst>
          </p:cNvPr>
          <p:cNvSpPr>
            <a:spLocks xmlns:a="http://schemas.openxmlformats.org/drawingml/2006/main" noGrp="1"/>
          </p:cNvSpPr>
          <p:nvPr/>
        </p:nvSpPr>
        <p:spPr>
          <a:xfrm xmlns:a="http://schemas.openxmlformats.org/drawingml/2006/main">
            <a:off x="9582150" y="2381250"/>
            <a:ext cx="2000250" cy="1752600"/>
          </a:xfrm>
          <a:prstGeom xmlns:a="http://schemas.openxmlformats.org/drawingml/2006/main" prst="roundRect">
            <a:avLst>
              <a:gd name="adj" fmla="val 4348"/>
            </a:avLst>
          </a:prstGeom>
          <a:solidFill xmlns:a="http://schemas.openxmlformats.org/drawingml/2006/main">
            <a:srgbClr val="0D2A43"/>
          </a:solidFill>
          <a:ln xmlns:a="http://schemas.openxmlformats.org/drawingml/2006/main" w="9525">
            <a:solidFill>
              <a:srgbClr val="22B8A7"/>
            </a:solidFill>
            <a:prstDash val="solid"/>
          </a:ln>
        </p:spPr>
      </p:sp>
      <p:sp>
        <p:nvSpPr>
          <p:cNvPr id="21" name="">
            <a:extLst xmlns:a="http://schemas.openxmlformats.org/drawingml/2006/main">
              <a:ext uri="{FF2B5EF4-FFF2-40B4-BE49-F238E27FC236}">
                <a16:creationId xmlns:a16="http://schemas.microsoft.com/office/drawing/2014/main" id="{BB6039F4-CA0F-4D5D-9BE1-131337644650}"/>
              </a:ext>
            </a:extLst>
          </p:cNvPr>
          <p:cNvSpPr>
            <a:spLocks xmlns:a="http://schemas.openxmlformats.org/drawingml/2006/main" noGrp="1"/>
          </p:cNvSpPr>
          <p:nvPr/>
        </p:nvSpPr>
        <p:spPr>
          <a:xfrm xmlns:a="http://schemas.openxmlformats.org/drawingml/2006/main">
            <a:off x="9820275" y="257175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79D7CC"/>
                </a:solidFill>
              </a:defRPr>
            </a:pPr>
            <a:r>
              <a:rPr sz="2550" b="1">
                <a:solidFill>
                  <a:srgbClr val="79D7CC"/>
                </a:solidFill>
              </a:rPr>
              <a:t>0</a:t>
            </a:r>
          </a:p>
        </p:txBody>
      </p:sp>
      <p:sp>
        <p:nvSpPr>
          <p:cNvPr id="22" name="">
            <a:extLst xmlns:a="http://schemas.openxmlformats.org/drawingml/2006/main">
              <a:ext uri="{FF2B5EF4-FFF2-40B4-BE49-F238E27FC236}">
                <a16:creationId xmlns:a16="http://schemas.microsoft.com/office/drawing/2014/main" id="{89EB3FBB-6FC2-459C-95BA-F26DE9006FEA}"/>
              </a:ext>
            </a:extLst>
          </p:cNvPr>
          <p:cNvSpPr>
            <a:spLocks xmlns:a="http://schemas.openxmlformats.org/drawingml/2006/main" noGrp="1"/>
          </p:cNvSpPr>
          <p:nvPr/>
        </p:nvSpPr>
        <p:spPr>
          <a:xfrm xmlns:a="http://schemas.openxmlformats.org/drawingml/2006/main">
            <a:off x="9772650" y="3381375"/>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7F2E8"/>
                </a:solidFill>
              </a:defRPr>
            </a:pPr>
            <a:r>
              <a:rPr sz="1350" b="1">
                <a:solidFill>
                  <a:srgbClr val="F7F2E8"/>
                </a:solidFill>
              </a:rPr>
              <a:t>Map to zero</a:t>
            </a:r>
          </a:p>
        </p:txBody>
      </p:sp>
      <p:sp>
        <p:nvSpPr>
          <p:cNvPr id="23" name="">
            <a:extLst xmlns:a="http://schemas.openxmlformats.org/drawingml/2006/main">
              <a:ext uri="{FF2B5EF4-FFF2-40B4-BE49-F238E27FC236}">
                <a16:creationId xmlns:a16="http://schemas.microsoft.com/office/drawing/2014/main" id="{CB0A92BB-F8A9-4D71-988D-7E12488E7E55}"/>
              </a:ext>
            </a:extLst>
          </p:cNvPr>
          <p:cNvSpPr>
            <a:spLocks xmlns:a="http://schemas.openxmlformats.org/drawingml/2006/main" noGrp="1"/>
          </p:cNvSpPr>
          <p:nvPr/>
        </p:nvSpPr>
        <p:spPr>
          <a:xfrm xmlns:a="http://schemas.openxmlformats.org/drawingml/2006/main">
            <a:off x="857250" y="49149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F7F2E8"/>
                </a:solidFill>
              </a:defRPr>
            </a:pPr>
            <a:r>
              <a:rPr sz="1725" b="1">
                <a:solidFill>
                  <a:srgbClr val="F7F2E8"/>
                </a:solidFill>
              </a:rPr>
              <a:t>Length changes by |λ|. The input eigenvector must be nonzero.</a:t>
            </a:r>
          </a:p>
        </p:txBody>
      </p:sp>
    </p:spTree>
    <p:extLst>
      <p:ext uri="{BB962C8B-B14F-4D97-AF65-F5344CB8AC3E}">
        <p14:creationId xmlns:p14="http://schemas.microsoft.com/office/powerpoint/2010/main" val="1872338254"/>
      </p:ext>
    </p:extLst>
  </p:cSld>
</p:sld>
</file>

<file path=ppt/slides/slide9.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NOTATION CLINIC</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09</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subscript 2 does not mean squaring.</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v = (3, 4)ᵀ, distinguish its length from its squared length.</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EUCLIDEAN LENGTH</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‖v‖₂ = √(3² + 4²)</a:t>
            </a:r>
          </a:p>
          <a:p xmlns:a="http://schemas.openxmlformats.org/drawingml/2006/main">
            <a:pPr algn="ctr">
              <a:buNone/>
              <a:defRPr sz="2250" b="1">
                <a:solidFill>
                  <a:srgbClr val="F7F2E8"/>
                </a:solidFill>
              </a:defRPr>
            </a:pPr>
            <a:r>
              <a:rPr sz="2250" b="1">
                <a:solidFill>
                  <a:srgbClr val="F7F2E8"/>
                </a:solidFill>
              </a:rPr>
              <a:t>= 5</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Subscript: the type of norm</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SQUARED LENGTH</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‖v‖₂² = 3² + 4²</a:t>
            </a:r>
          </a:p>
          <a:p xmlns:a="http://schemas.openxmlformats.org/drawingml/2006/main">
            <a:pPr algn="ctr">
              <a:buNone/>
              <a:defRPr sz="2250" b="1">
                <a:solidFill>
                  <a:srgbClr val="F7F2E8"/>
                </a:solidFill>
              </a:defRPr>
            </a:pPr>
            <a:r>
              <a:rPr sz="2250" b="1">
                <a:solidFill>
                  <a:srgbClr val="F7F2E8"/>
                </a:solidFill>
              </a:rPr>
              <a:t>= 25</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Superscript: the power</a:t>
            </a:r>
          </a:p>
        </p:txBody>
      </p:sp>
    </p:spTree>
    <p:extLst>
      <p:ext uri="{BB962C8B-B14F-4D97-AF65-F5344CB8AC3E}">
        <p14:creationId xmlns:p14="http://schemas.microsoft.com/office/powerpoint/2010/main" val="1848015540"/>
      </p:ext>
    </p:extLst>
  </p:cSld>
</p:sld>
</file>

<file path=ppt/slides/slide10.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F52369-1D6C-4A76-BBED-547B24AD635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F2382-A27C-493C-A982-DFD35BEBB5C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DD298C1-23CB-4DB4-89A1-84F6CF069CA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NUMERICAL ACCEPTANCE</a:t>
            </a:r>
          </a:p>
        </p:txBody>
      </p:sp>
      <p:sp>
        <p:nvSpPr>
          <p:cNvPr id="4" name="">
            <a:extLst xmlns:a="http://schemas.openxmlformats.org/drawingml/2006/main">
              <a:ext uri="{FF2B5EF4-FFF2-40B4-BE49-F238E27FC236}">
                <a16:creationId xmlns:a16="http://schemas.microsoft.com/office/drawing/2014/main" id="{6B11DCE9-ECA1-4362-8B4D-D9CFA25AE557}"/>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10</a:t>
            </a:r>
          </a:p>
        </p:txBody>
      </p:sp>
      <p:sp>
        <p:nvSpPr>
          <p:cNvPr id="5" name="">
            <a:extLst xmlns:a="http://schemas.openxmlformats.org/drawingml/2006/main">
              <a:ext uri="{FF2B5EF4-FFF2-40B4-BE49-F238E27FC236}">
                <a16:creationId xmlns:a16="http://schemas.microsoft.com/office/drawing/2014/main" id="{DC9B4FDB-8E3D-405C-9706-372B0E9A8AB2}"/>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178C46C3-76A3-401A-BA9B-79A08C6A451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Check the eigenpair—not just the printed output.</a:t>
            </a:r>
          </a:p>
        </p:txBody>
      </p:sp>
      <p:sp>
        <p:nvSpPr>
          <p:cNvPr id="7" name="">
            <a:extLst xmlns:a="http://schemas.openxmlformats.org/drawingml/2006/main">
              <a:ext uri="{FF2B5EF4-FFF2-40B4-BE49-F238E27FC236}">
                <a16:creationId xmlns:a16="http://schemas.microsoft.com/office/drawing/2014/main" id="{859095A2-626A-4759-A576-FBE160410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Normalize a nonzero vector; then measure how far Av is from λv.</a:t>
            </a:r>
          </a:p>
        </p:txBody>
      </p:sp>
      <p:sp>
        <p:nvSpPr>
          <p:cNvPr id="8" name="">
            <a:extLst xmlns:a="http://schemas.openxmlformats.org/drawingml/2006/main">
              <a:ext uri="{FF2B5EF4-FFF2-40B4-BE49-F238E27FC236}">
                <a16:creationId xmlns:a16="http://schemas.microsoft.com/office/drawing/2014/main" id="{1223E019-4A2C-4734-B611-DBA22D0F22FE}"/>
              </a:ext>
            </a:extLst>
          </p:cNvPr>
          <p:cNvSpPr>
            <a:spLocks xmlns:a="http://schemas.openxmlformats.org/drawingml/2006/main" noGrp="1"/>
          </p:cNvSpPr>
          <p:nvPr/>
        </p:nvSpPr>
        <p:spPr>
          <a:xfrm xmlns:a="http://schemas.openxmlformats.org/drawingml/2006/main">
            <a:off x="590550" y="2190750"/>
            <a:ext cx="6858000" cy="2857500"/>
          </a:xfrm>
          <a:prstGeom xmlns:a="http://schemas.openxmlformats.org/drawingml/2006/main" prst="roundRect">
            <a:avLst>
              <a:gd name="adj" fmla="val 2667"/>
            </a:avLst>
          </a:prstGeom>
          <a:solidFill xmlns:a="http://schemas.openxmlformats.org/drawingml/2006/main">
            <a:srgbClr val="06131F"/>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A760EAF-103C-47E8-A19B-88597E82C6CC}"/>
              </a:ext>
            </a:extLst>
          </p:cNvPr>
          <p:cNvSpPr>
            <a:spLocks xmlns:a="http://schemas.openxmlformats.org/drawingml/2006/main" noGrp="1"/>
          </p:cNvSpPr>
          <p:nvPr/>
        </p:nvSpPr>
        <p:spPr>
          <a:xfrm xmlns:a="http://schemas.openxmlformats.org/drawingml/2006/main">
            <a:off x="857250" y="245745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D7F8F2"/>
                </a:solidFill>
              </a:defRPr>
            </a:pPr>
            <a:r>
              <a:rPr sz="1650" b="0">
                <a:solidFill>
                  <a:srgbClr val="D7F8F2"/>
                </a:solidFill>
              </a:rPr>
              <a:t>u = v / ‖v‖₂</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Residual: Au − λu</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A scaled residual should be small</a:t>
            </a:r>
          </a:p>
          <a:p xmlns:a="http://schemas.openxmlformats.org/drawingml/2006/main">
            <a:pPr algn="l">
              <a:buNone/>
              <a:defRPr sz="1650" b="0">
                <a:solidFill>
                  <a:srgbClr val="D7F8F2"/>
                </a:solidFill>
              </a:defRPr>
            </a:pPr>
            <a:r>
              <a:rPr sz="1650" b="0">
                <a:solidFill>
                  <a:srgbClr val="D7F8F2"/>
                </a:solidFill>
              </a:rPr>
              <a:t>relative to the documented tolerance.</a:t>
            </a:r>
          </a:p>
        </p:txBody>
      </p:sp>
      <p:sp>
        <p:nvSpPr>
          <p:cNvPr id="10" name="">
            <a:extLst xmlns:a="http://schemas.openxmlformats.org/drawingml/2006/main">
              <a:ext uri="{FF2B5EF4-FFF2-40B4-BE49-F238E27FC236}">
                <a16:creationId xmlns:a16="http://schemas.microsoft.com/office/drawing/2014/main" id="{15DB8409-60C6-46F6-AF62-A58F358F720A}"/>
              </a:ext>
            </a:extLst>
          </p:cNvPr>
          <p:cNvSpPr>
            <a:spLocks xmlns:a="http://schemas.openxmlformats.org/drawingml/2006/main" noGrp="1"/>
          </p:cNvSpPr>
          <p:nvPr/>
        </p:nvSpPr>
        <p:spPr>
          <a:xfrm xmlns:a="http://schemas.openxmlformats.org/drawingml/2006/main">
            <a:off x="8058150" y="2381250"/>
            <a:ext cx="3143250" cy="2190750"/>
          </a:xfrm>
          <a:prstGeom xmlns:a="http://schemas.openxmlformats.org/drawingml/2006/main" prst="roundRect">
            <a:avLst>
              <a:gd name="adj" fmla="val 3478"/>
            </a:avLst>
          </a:prstGeom>
          <a:solidFill xmlns:a="http://schemas.openxmlformats.org/drawingml/2006/main">
            <a:srgbClr val="103A3F"/>
          </a:solidFill>
          <a:ln xmlns:a="http://schemas.openxmlformats.org/drawingml/2006/main" w="9525">
            <a:solidFill>
              <a:srgbClr val="D9A441"/>
            </a:solidFill>
            <a:prstDash val="solid"/>
          </a:ln>
        </p:spPr>
      </p:sp>
      <p:sp>
        <p:nvSpPr>
          <p:cNvPr id="11" name="">
            <a:extLst xmlns:a="http://schemas.openxmlformats.org/drawingml/2006/main">
              <a:ext uri="{FF2B5EF4-FFF2-40B4-BE49-F238E27FC236}">
                <a16:creationId xmlns:a16="http://schemas.microsoft.com/office/drawing/2014/main" id="{8E670E22-A0C5-41C2-8835-BF7E161C86AE}"/>
              </a:ext>
            </a:extLst>
          </p:cNvPr>
          <p:cNvSpPr>
            <a:spLocks xmlns:a="http://schemas.openxmlformats.org/drawingml/2006/main" noGrp="1"/>
          </p:cNvSpPr>
          <p:nvPr/>
        </p:nvSpPr>
        <p:spPr>
          <a:xfrm xmlns:a="http://schemas.openxmlformats.org/drawingml/2006/main">
            <a:off x="8991600" y="2571750"/>
            <a:ext cx="128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350" b="1">
                <a:solidFill>
                  <a:srgbClr val="79D7CC"/>
                </a:solidFill>
              </a:defRPr>
            </a:pPr>
            <a:r>
              <a:rPr sz="4350" b="1">
                <a:solidFill>
                  <a:srgbClr val="79D7CC"/>
                </a:solidFill>
              </a:rPr>
              <a:t>✓</a:t>
            </a:r>
          </a:p>
        </p:txBody>
      </p:sp>
      <p:sp>
        <p:nvSpPr>
          <p:cNvPr id="12" name="">
            <a:extLst xmlns:a="http://schemas.openxmlformats.org/drawingml/2006/main">
              <a:ext uri="{FF2B5EF4-FFF2-40B4-BE49-F238E27FC236}">
                <a16:creationId xmlns:a16="http://schemas.microsoft.com/office/drawing/2014/main" id="{79FC6D09-B9F1-4070-B017-B299C33772C4}"/>
              </a:ext>
            </a:extLst>
          </p:cNvPr>
          <p:cNvSpPr>
            <a:spLocks xmlns:a="http://schemas.openxmlformats.org/drawingml/2006/main" noGrp="1"/>
          </p:cNvSpPr>
          <p:nvPr/>
        </p:nvSpPr>
        <p:spPr>
          <a:xfrm xmlns:a="http://schemas.openxmlformats.org/drawingml/2006/main">
            <a:off x="8382000" y="3476625"/>
            <a:ext cx="249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Unit length</a:t>
            </a:r>
          </a:p>
          <a:p xmlns:a="http://schemas.openxmlformats.org/drawingml/2006/main">
            <a:pPr algn="ctr">
              <a:buNone/>
              <a:defRPr sz="1875" b="1">
                <a:solidFill>
                  <a:srgbClr val="F7F2E8"/>
                </a:solidFill>
              </a:defRPr>
            </a:pPr>
            <a:r>
              <a:rPr sz="1875" b="1">
                <a:solidFill>
                  <a:srgbClr val="F7F2E8"/>
                </a:solidFill>
              </a:rPr>
              <a:t>Small residual</a:t>
            </a:r>
          </a:p>
          <a:p xmlns:a="http://schemas.openxmlformats.org/drawingml/2006/main">
            <a:pPr algn="ctr">
              <a:buNone/>
              <a:defRPr sz="1875" b="1">
                <a:solidFill>
                  <a:srgbClr val="F7F2E8"/>
                </a:solidFill>
              </a:defRPr>
            </a:pPr>
            <a:r>
              <a:rPr sz="1875" b="1">
                <a:solidFill>
                  <a:srgbClr val="F7F2E8"/>
                </a:solidFill>
              </a:rPr>
              <a:t>Clear tolerance</a:t>
            </a:r>
          </a:p>
        </p:txBody>
      </p:sp>
    </p:spTree>
    <p:extLst>
      <p:ext uri="{BB962C8B-B14F-4D97-AF65-F5344CB8AC3E}">
        <p14:creationId xmlns:p14="http://schemas.microsoft.com/office/powerpoint/2010/main" val="2099694137"/>
      </p:ext>
    </p:extLst>
  </p:cSld>
</p:sld>
</file>

<file path=ppt/slides/slide1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4BF762D-20C9-416A-B337-701314BCF8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F205B5-B4FF-414F-953B-9E792EC3FB1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30203D9E-8465-4E85-B4A8-7C0FA3EDA481}"/>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WORKED EXAMPLE</a:t>
            </a:r>
          </a:p>
        </p:txBody>
      </p:sp>
      <p:sp>
        <p:nvSpPr>
          <p:cNvPr id="4" name="">
            <a:extLst xmlns:a="http://schemas.openxmlformats.org/drawingml/2006/main">
              <a:ext uri="{FF2B5EF4-FFF2-40B4-BE49-F238E27FC236}">
                <a16:creationId xmlns:a16="http://schemas.microsoft.com/office/drawing/2014/main" id="{2E312B6E-3BCA-4F74-8D6A-545BA060CBD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11</a:t>
            </a:r>
          </a:p>
        </p:txBody>
      </p:sp>
      <p:sp>
        <p:nvSpPr>
          <p:cNvPr id="5" name="">
            <a:extLst xmlns:a="http://schemas.openxmlformats.org/drawingml/2006/main">
              <a:ext uri="{FF2B5EF4-FFF2-40B4-BE49-F238E27FC236}">
                <a16:creationId xmlns:a16="http://schemas.microsoft.com/office/drawing/2014/main" id="{78EDD98E-61FA-435F-804F-D600B7C7DBE0}"/>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F602BEA0-ADB1-4D1C-96D1-BF1FFA5AD8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Mixing coordinates can reveal a simpler basis.</a:t>
            </a:r>
          </a:p>
        </p:txBody>
      </p:sp>
      <p:sp>
        <p:nvSpPr>
          <p:cNvPr id="7" name="">
            <a:extLst xmlns:a="http://schemas.openxmlformats.org/drawingml/2006/main">
              <a:ext uri="{FF2B5EF4-FFF2-40B4-BE49-F238E27FC236}">
                <a16:creationId xmlns:a16="http://schemas.microsoft.com/office/drawing/2014/main" id="{CB88A2DE-D31A-496B-8E47-A35F76728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 two independent eigenvectors below span the plane and are orthogonal.</a:t>
            </a:r>
          </a:p>
        </p:txBody>
      </p:sp>
      <p:sp>
        <p:nvSpPr>
          <p:cNvPr id="8" name="">
            <a:extLst xmlns:a="http://schemas.openxmlformats.org/drawingml/2006/main">
              <a:ext uri="{FF2B5EF4-FFF2-40B4-BE49-F238E27FC236}">
                <a16:creationId xmlns:a16="http://schemas.microsoft.com/office/drawing/2014/main" id="{A6C707D1-5975-4578-A9DD-13B9A06885CE}"/>
              </a:ext>
            </a:extLst>
          </p:cNvPr>
          <p:cNvSpPr>
            <a:spLocks xmlns:a="http://schemas.openxmlformats.org/drawingml/2006/main" noGrp="1"/>
          </p:cNvSpPr>
          <p:nvPr/>
        </p:nvSpPr>
        <p:spPr>
          <a:xfrm xmlns:a="http://schemas.openxmlformats.org/drawingml/2006/main">
            <a:off x="685800" y="2343150"/>
            <a:ext cx="4810125" cy="2333625"/>
          </a:xfrm>
          <a:prstGeom xmlns:a="http://schemas.openxmlformats.org/drawingml/2006/main" prst="roundRect">
            <a:avLst>
              <a:gd name="adj" fmla="val 3265"/>
            </a:avLst>
          </a:prstGeom>
          <a:solidFill xmlns:a="http://schemas.openxmlformats.org/drawingml/2006/main">
            <a:srgbClr val="F7F2E8"/>
          </a:solidFill>
          <a:ln xmlns:a="http://schemas.openxmlformats.org/drawingml/2006/main" w="9525">
            <a:solidFill>
              <a:srgbClr val="D9A441"/>
            </a:solidFill>
            <a:prstDash val="solid"/>
          </a:ln>
        </p:spPr>
      </p:sp>
      <p:sp>
        <p:nvSpPr>
          <p:cNvPr id="9" name="">
            <a:extLst xmlns:a="http://schemas.openxmlformats.org/drawingml/2006/main">
              <a:ext uri="{FF2B5EF4-FFF2-40B4-BE49-F238E27FC236}">
                <a16:creationId xmlns:a16="http://schemas.microsoft.com/office/drawing/2014/main" id="{972ECA85-1FFB-47D9-A9F7-B2727679D58C}"/>
              </a:ext>
            </a:extLst>
          </p:cNvPr>
          <p:cNvSpPr>
            <a:spLocks xmlns:a="http://schemas.openxmlformats.org/drawingml/2006/main" noGrp="1"/>
          </p:cNvSpPr>
          <p:nvPr/>
        </p:nvSpPr>
        <p:spPr>
          <a:xfrm xmlns:a="http://schemas.openxmlformats.org/drawingml/2006/main">
            <a:off x="952500" y="26479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102436"/>
                </a:solidFill>
              </a:defRPr>
            </a:pPr>
            <a:r>
              <a:rPr sz="3150" b="1">
                <a:solidFill>
                  <a:srgbClr val="102436"/>
                </a:solidFill>
              </a:rPr>
              <a:t>S = [(2, 1);</a:t>
            </a:r>
          </a:p>
          <a:p xmlns:a="http://schemas.openxmlformats.org/drawingml/2006/main">
            <a:pPr algn="ctr">
              <a:buNone/>
              <a:defRPr sz="3150" b="1">
                <a:solidFill>
                  <a:srgbClr val="102436"/>
                </a:solidFill>
              </a:defRPr>
            </a:pPr>
            <a:r>
              <a:rPr sz="3150" b="1">
                <a:solidFill>
                  <a:srgbClr val="102436"/>
                </a:solidFill>
              </a:rPr>
              <a:t>       (1, 2)]</a:t>
            </a:r>
          </a:p>
        </p:txBody>
      </p:sp>
      <p:sp>
        <p:nvSpPr>
          <p:cNvPr id="10" name="">
            <a:extLst xmlns:a="http://schemas.openxmlformats.org/drawingml/2006/main">
              <a:ext uri="{FF2B5EF4-FFF2-40B4-BE49-F238E27FC236}">
                <a16:creationId xmlns:a16="http://schemas.microsoft.com/office/drawing/2014/main" id="{F8261175-3BFD-4B5E-995C-A8F9836230C2}"/>
              </a:ext>
            </a:extLst>
          </p:cNvPr>
          <p:cNvSpPr>
            <a:spLocks xmlns:a="http://schemas.openxmlformats.org/drawingml/2006/main" noGrp="1"/>
          </p:cNvSpPr>
          <p:nvPr/>
        </p:nvSpPr>
        <p:spPr>
          <a:xfrm xmlns:a="http://schemas.openxmlformats.org/drawingml/2006/main">
            <a:off x="1066800" y="3657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2436"/>
                </a:solidFill>
              </a:defRPr>
            </a:pPr>
            <a:r>
              <a:rPr sz="1650" b="1">
                <a:solidFill>
                  <a:srgbClr val="102436"/>
                </a:solidFill>
              </a:rPr>
              <a:t>λ₁ = 3</a:t>
            </a:r>
          </a:p>
        </p:txBody>
      </p:sp>
      <p:sp>
        <p:nvSpPr>
          <p:cNvPr id="11" name="">
            <a:extLst xmlns:a="http://schemas.openxmlformats.org/drawingml/2006/main">
              <a:ext uri="{FF2B5EF4-FFF2-40B4-BE49-F238E27FC236}">
                <a16:creationId xmlns:a16="http://schemas.microsoft.com/office/drawing/2014/main" id="{66555AE2-596F-4D9F-B90E-257E8DE4A572}"/>
              </a:ext>
            </a:extLst>
          </p:cNvPr>
          <p:cNvSpPr>
            <a:spLocks xmlns:a="http://schemas.openxmlformats.org/drawingml/2006/main" noGrp="1"/>
          </p:cNvSpPr>
          <p:nvPr/>
        </p:nvSpPr>
        <p:spPr>
          <a:xfrm xmlns:a="http://schemas.openxmlformats.org/drawingml/2006/main">
            <a:off x="3219450" y="3657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2436"/>
                </a:solidFill>
              </a:defRPr>
            </a:pPr>
            <a:r>
              <a:rPr sz="1650" b="1">
                <a:solidFill>
                  <a:srgbClr val="102436"/>
                </a:solidFill>
              </a:rPr>
              <a:t>λ₂ = 1</a:t>
            </a:r>
          </a:p>
        </p:txBody>
      </p:sp>
      <p:sp>
        <p:nvSpPr>
          <p:cNvPr id="12" name="">
            <a:extLst xmlns:a="http://schemas.openxmlformats.org/drawingml/2006/main">
              <a:ext uri="{FF2B5EF4-FFF2-40B4-BE49-F238E27FC236}">
                <a16:creationId xmlns:a16="http://schemas.microsoft.com/office/drawing/2014/main" id="{4851B8B2-C521-484E-A3D0-4656A80B0FC4}"/>
              </a:ext>
            </a:extLst>
          </p:cNvPr>
          <p:cNvSpPr>
            <a:spLocks xmlns:a="http://schemas.openxmlformats.org/drawingml/2006/main" noGrp="1"/>
          </p:cNvSpPr>
          <p:nvPr/>
        </p:nvSpPr>
        <p:spPr>
          <a:xfrm xmlns:a="http://schemas.openxmlformats.org/drawingml/2006/main">
            <a:off x="6096000" y="2343150"/>
            <a:ext cx="5257800" cy="2333625"/>
          </a:xfrm>
          <a:prstGeom xmlns:a="http://schemas.openxmlformats.org/drawingml/2006/main" prst="roundRect">
            <a:avLst>
              <a:gd name="adj" fmla="val 3265"/>
            </a:avLst>
          </a:prstGeom>
          <a:solidFill xmlns:a="http://schemas.openxmlformats.org/drawingml/2006/main">
            <a:srgbClr val="0D2A43"/>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49EA71AD-54BB-425B-9D86-136DEC4A7EA0}"/>
              </a:ext>
            </a:extLst>
          </p:cNvPr>
          <p:cNvSpPr>
            <a:spLocks xmlns:a="http://schemas.openxmlformats.org/drawingml/2006/main" noGrp="1"/>
          </p:cNvSpPr>
          <p:nvPr/>
        </p:nvSpPr>
        <p:spPr>
          <a:xfrm xmlns:a="http://schemas.openxmlformats.org/drawingml/2006/main">
            <a:off x="6400800" y="26098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v₁</a:t>
            </a:r>
          </a:p>
        </p:txBody>
      </p:sp>
      <p:sp>
        <p:nvSpPr>
          <p:cNvPr id="14" name="">
            <a:extLst xmlns:a="http://schemas.openxmlformats.org/drawingml/2006/main">
              <a:ext uri="{FF2B5EF4-FFF2-40B4-BE49-F238E27FC236}">
                <a16:creationId xmlns:a16="http://schemas.microsoft.com/office/drawing/2014/main" id="{1FDA4252-00C5-4FBA-BD5C-830EC0A8D088}"/>
              </a:ext>
            </a:extLst>
          </p:cNvPr>
          <p:cNvSpPr>
            <a:spLocks xmlns:a="http://schemas.openxmlformats.org/drawingml/2006/main" noGrp="1"/>
          </p:cNvSpPr>
          <p:nvPr/>
        </p:nvSpPr>
        <p:spPr>
          <a:xfrm xmlns:a="http://schemas.openxmlformats.org/drawingml/2006/main">
            <a:off x="7658100" y="26098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(1, 1)ᵀ</a:t>
            </a:r>
          </a:p>
        </p:txBody>
      </p:sp>
      <p:sp>
        <p:nvSpPr>
          <p:cNvPr id="15" name="">
            <a:extLst xmlns:a="http://schemas.openxmlformats.org/drawingml/2006/main">
              <a:ext uri="{FF2B5EF4-FFF2-40B4-BE49-F238E27FC236}">
                <a16:creationId xmlns:a16="http://schemas.microsoft.com/office/drawing/2014/main" id="{C4BDA145-AFDA-47A1-83D8-F692A6123094}"/>
              </a:ext>
            </a:extLst>
          </p:cNvPr>
          <p:cNvSpPr>
            <a:spLocks xmlns:a="http://schemas.openxmlformats.org/drawingml/2006/main" noGrp="1"/>
          </p:cNvSpPr>
          <p:nvPr/>
        </p:nvSpPr>
        <p:spPr>
          <a:xfrm xmlns:a="http://schemas.openxmlformats.org/drawingml/2006/main">
            <a:off x="6400800" y="32004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Sv₁</a:t>
            </a:r>
          </a:p>
        </p:txBody>
      </p:sp>
      <p:sp>
        <p:nvSpPr>
          <p:cNvPr id="16" name="">
            <a:extLst xmlns:a="http://schemas.openxmlformats.org/drawingml/2006/main">
              <a:ext uri="{FF2B5EF4-FFF2-40B4-BE49-F238E27FC236}">
                <a16:creationId xmlns:a16="http://schemas.microsoft.com/office/drawing/2014/main" id="{6767F0B8-384A-47C4-A39A-F9F6042242EF}"/>
              </a:ext>
            </a:extLst>
          </p:cNvPr>
          <p:cNvSpPr>
            <a:spLocks xmlns:a="http://schemas.openxmlformats.org/drawingml/2006/main" noGrp="1"/>
          </p:cNvSpPr>
          <p:nvPr/>
        </p:nvSpPr>
        <p:spPr>
          <a:xfrm xmlns:a="http://schemas.openxmlformats.org/drawingml/2006/main">
            <a:off x="7658100" y="32004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(3, 3)ᵀ = 3v₁</a:t>
            </a:r>
          </a:p>
        </p:txBody>
      </p:sp>
      <p:sp>
        <p:nvSpPr>
          <p:cNvPr id="17" name="">
            <a:extLst xmlns:a="http://schemas.openxmlformats.org/drawingml/2006/main">
              <a:ext uri="{FF2B5EF4-FFF2-40B4-BE49-F238E27FC236}">
                <a16:creationId xmlns:a16="http://schemas.microsoft.com/office/drawing/2014/main" id="{281CDEAE-3A19-452F-A522-B2DA08BC858E}"/>
              </a:ext>
            </a:extLst>
          </p:cNvPr>
          <p:cNvSpPr>
            <a:spLocks xmlns:a="http://schemas.openxmlformats.org/drawingml/2006/main" noGrp="1"/>
          </p:cNvSpPr>
          <p:nvPr/>
        </p:nvSpPr>
        <p:spPr>
          <a:xfrm xmlns:a="http://schemas.openxmlformats.org/drawingml/2006/main">
            <a:off x="6400800" y="37909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v₂</a:t>
            </a:r>
          </a:p>
        </p:txBody>
      </p:sp>
      <p:sp>
        <p:nvSpPr>
          <p:cNvPr id="18" name="">
            <a:extLst xmlns:a="http://schemas.openxmlformats.org/drawingml/2006/main">
              <a:ext uri="{FF2B5EF4-FFF2-40B4-BE49-F238E27FC236}">
                <a16:creationId xmlns:a16="http://schemas.microsoft.com/office/drawing/2014/main" id="{23F67011-BC6B-47B4-A51C-82042C3C6B9E}"/>
              </a:ext>
            </a:extLst>
          </p:cNvPr>
          <p:cNvSpPr>
            <a:spLocks xmlns:a="http://schemas.openxmlformats.org/drawingml/2006/main" noGrp="1"/>
          </p:cNvSpPr>
          <p:nvPr/>
        </p:nvSpPr>
        <p:spPr>
          <a:xfrm xmlns:a="http://schemas.openxmlformats.org/drawingml/2006/main">
            <a:off x="7658100" y="37909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(1, −1)ᵀ</a:t>
            </a:r>
          </a:p>
        </p:txBody>
      </p:sp>
      <p:sp>
        <p:nvSpPr>
          <p:cNvPr id="19" name="">
            <a:extLst xmlns:a="http://schemas.openxmlformats.org/drawingml/2006/main">
              <a:ext uri="{FF2B5EF4-FFF2-40B4-BE49-F238E27FC236}">
                <a16:creationId xmlns:a16="http://schemas.microsoft.com/office/drawing/2014/main" id="{F103EB31-2ACC-4D95-8069-014E57B83F27}"/>
              </a:ext>
            </a:extLst>
          </p:cNvPr>
          <p:cNvSpPr>
            <a:spLocks xmlns:a="http://schemas.openxmlformats.org/drawingml/2006/main" noGrp="1"/>
          </p:cNvSpPr>
          <p:nvPr/>
        </p:nvSpPr>
        <p:spPr>
          <a:xfrm xmlns:a="http://schemas.openxmlformats.org/drawingml/2006/main">
            <a:off x="6400800" y="42481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79D7CC"/>
                </a:solidFill>
              </a:defRPr>
            </a:pPr>
            <a:r>
              <a:rPr sz="1650" b="1">
                <a:solidFill>
                  <a:srgbClr val="79D7CC"/>
                </a:solidFill>
              </a:rPr>
              <a:t>Sv₂</a:t>
            </a:r>
          </a:p>
        </p:txBody>
      </p:sp>
      <p:sp>
        <p:nvSpPr>
          <p:cNvPr id="20" name="">
            <a:extLst xmlns:a="http://schemas.openxmlformats.org/drawingml/2006/main">
              <a:ext uri="{FF2B5EF4-FFF2-40B4-BE49-F238E27FC236}">
                <a16:creationId xmlns:a16="http://schemas.microsoft.com/office/drawing/2014/main" id="{AC0739D2-C64F-494B-B256-F43A1A83DADE}"/>
              </a:ext>
            </a:extLst>
          </p:cNvPr>
          <p:cNvSpPr>
            <a:spLocks xmlns:a="http://schemas.openxmlformats.org/drawingml/2006/main" noGrp="1"/>
          </p:cNvSpPr>
          <p:nvPr/>
        </p:nvSpPr>
        <p:spPr>
          <a:xfrm xmlns:a="http://schemas.openxmlformats.org/drawingml/2006/main">
            <a:off x="7658100" y="42481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(1, −1)ᵀ = v₂</a:t>
            </a:r>
          </a:p>
        </p:txBody>
      </p:sp>
    </p:spTree>
    <p:extLst>
      <p:ext uri="{BB962C8B-B14F-4D97-AF65-F5344CB8AC3E}">
        <p14:creationId xmlns:p14="http://schemas.microsoft.com/office/powerpoint/2010/main" val="819938950"/>
      </p:ext>
    </p:extLst>
  </p:cSld>
</p:sld>
</file>

<file path=ppt/slides/slide1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F52369-1D6C-4A76-BBED-547B24AD635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F2382-A27C-493C-A982-DFD35BEBB5C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DD298C1-23CB-4DB4-89A1-84F6CF069CA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FIND THE EIGENVALUES</a:t>
            </a:r>
          </a:p>
        </p:txBody>
      </p:sp>
      <p:sp>
        <p:nvSpPr>
          <p:cNvPr id="4" name="">
            <a:extLst xmlns:a="http://schemas.openxmlformats.org/drawingml/2006/main">
              <a:ext uri="{FF2B5EF4-FFF2-40B4-BE49-F238E27FC236}">
                <a16:creationId xmlns:a16="http://schemas.microsoft.com/office/drawing/2014/main" id="{6B11DCE9-ECA1-4362-8B4D-D9CFA25AE557}"/>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12</a:t>
            </a:r>
          </a:p>
        </p:txBody>
      </p:sp>
      <p:sp>
        <p:nvSpPr>
          <p:cNvPr id="5" name="">
            <a:extLst xmlns:a="http://schemas.openxmlformats.org/drawingml/2006/main">
              <a:ext uri="{FF2B5EF4-FFF2-40B4-BE49-F238E27FC236}">
                <a16:creationId xmlns:a16="http://schemas.microsoft.com/office/drawing/2014/main" id="{DC9B4FDB-8E3D-405C-9706-372B0E9A8AB2}"/>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178C46C3-76A3-401A-BA9B-79A08C6A451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determinant identifies possible multipliers.</a:t>
            </a:r>
          </a:p>
        </p:txBody>
      </p:sp>
      <p:sp>
        <p:nvSpPr>
          <p:cNvPr id="7" name="">
            <a:extLst xmlns:a="http://schemas.openxmlformats.org/drawingml/2006/main">
              <a:ext uri="{FF2B5EF4-FFF2-40B4-BE49-F238E27FC236}">
                <a16:creationId xmlns:a16="http://schemas.microsoft.com/office/drawing/2014/main" id="{859095A2-626A-4759-A576-FBE160410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S = [(2, 1); (1, 2)], require a nonzero solution of (S − λI)v = 0.</a:t>
            </a:r>
          </a:p>
        </p:txBody>
      </p:sp>
      <p:sp>
        <p:nvSpPr>
          <p:cNvPr id="8" name="">
            <a:extLst xmlns:a="http://schemas.openxmlformats.org/drawingml/2006/main">
              <a:ext uri="{FF2B5EF4-FFF2-40B4-BE49-F238E27FC236}">
                <a16:creationId xmlns:a16="http://schemas.microsoft.com/office/drawing/2014/main" id="{1223E019-4A2C-4734-B611-DBA22D0F22FE}"/>
              </a:ext>
            </a:extLst>
          </p:cNvPr>
          <p:cNvSpPr>
            <a:spLocks xmlns:a="http://schemas.openxmlformats.org/drawingml/2006/main" noGrp="1"/>
          </p:cNvSpPr>
          <p:nvPr/>
        </p:nvSpPr>
        <p:spPr>
          <a:xfrm xmlns:a="http://schemas.openxmlformats.org/drawingml/2006/main">
            <a:off x="590550" y="2190750"/>
            <a:ext cx="6858000" cy="2857500"/>
          </a:xfrm>
          <a:prstGeom xmlns:a="http://schemas.openxmlformats.org/drawingml/2006/main" prst="roundRect">
            <a:avLst>
              <a:gd name="adj" fmla="val 2667"/>
            </a:avLst>
          </a:prstGeom>
          <a:solidFill xmlns:a="http://schemas.openxmlformats.org/drawingml/2006/main">
            <a:srgbClr val="06131F"/>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A760EAF-103C-47E8-A19B-88597E82C6CC}"/>
              </a:ext>
            </a:extLst>
          </p:cNvPr>
          <p:cNvSpPr>
            <a:spLocks xmlns:a="http://schemas.openxmlformats.org/drawingml/2006/main" noGrp="1"/>
          </p:cNvSpPr>
          <p:nvPr/>
        </p:nvSpPr>
        <p:spPr>
          <a:xfrm xmlns:a="http://schemas.openxmlformats.org/drawingml/2006/main">
            <a:off x="857250" y="245745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D7F8F2"/>
                </a:solidFill>
              </a:defRPr>
            </a:pPr>
            <a:r>
              <a:rPr sz="1650" b="0">
                <a:solidFill>
                  <a:srgbClr val="D7F8F2"/>
                </a:solidFill>
              </a:rPr>
              <a:t>det(S − λI) = (2 − λ)² − 1</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 (λ − 3)(λ − 1) = 0</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So λ = 3 or λ = 1.</a:t>
            </a:r>
          </a:p>
          <a:p xmlns:a="http://schemas.openxmlformats.org/drawingml/2006/main">
            <a:pPr algn="l">
              <a:buNone/>
              <a:defRPr sz="1650" b="0">
                <a:solidFill>
                  <a:srgbClr val="D7F8F2"/>
                </a:solidFill>
              </a:defRPr>
            </a:pPr>
            <a:r>
              <a:rPr sz="1650" b="0">
                <a:solidFill>
                  <a:srgbClr val="D7F8F2"/>
                </a:solidFill>
              </a:rPr>
              <a:t>Then solve for each nonzero vector v.</a:t>
            </a:r>
          </a:p>
        </p:txBody>
      </p:sp>
      <p:sp>
        <p:nvSpPr>
          <p:cNvPr id="10" name="">
            <a:extLst xmlns:a="http://schemas.openxmlformats.org/drawingml/2006/main">
              <a:ext uri="{FF2B5EF4-FFF2-40B4-BE49-F238E27FC236}">
                <a16:creationId xmlns:a16="http://schemas.microsoft.com/office/drawing/2014/main" id="{15DB8409-60C6-46F6-AF62-A58F358F720A}"/>
              </a:ext>
            </a:extLst>
          </p:cNvPr>
          <p:cNvSpPr>
            <a:spLocks xmlns:a="http://schemas.openxmlformats.org/drawingml/2006/main" noGrp="1"/>
          </p:cNvSpPr>
          <p:nvPr/>
        </p:nvSpPr>
        <p:spPr>
          <a:xfrm xmlns:a="http://schemas.openxmlformats.org/drawingml/2006/main">
            <a:off x="8058150" y="2381250"/>
            <a:ext cx="3143250" cy="2190750"/>
          </a:xfrm>
          <a:prstGeom xmlns:a="http://schemas.openxmlformats.org/drawingml/2006/main" prst="roundRect">
            <a:avLst>
              <a:gd name="adj" fmla="val 3478"/>
            </a:avLst>
          </a:prstGeom>
          <a:solidFill xmlns:a="http://schemas.openxmlformats.org/drawingml/2006/main">
            <a:srgbClr val="103A3F"/>
          </a:solidFill>
          <a:ln xmlns:a="http://schemas.openxmlformats.org/drawingml/2006/main" w="9525">
            <a:solidFill>
              <a:srgbClr val="D9A441"/>
            </a:solidFill>
            <a:prstDash val="solid"/>
          </a:ln>
        </p:spPr>
      </p:sp>
      <p:sp>
        <p:nvSpPr>
          <p:cNvPr id="11" name="">
            <a:extLst xmlns:a="http://schemas.openxmlformats.org/drawingml/2006/main">
              <a:ext uri="{FF2B5EF4-FFF2-40B4-BE49-F238E27FC236}">
                <a16:creationId xmlns:a16="http://schemas.microsoft.com/office/drawing/2014/main" id="{8E670E22-A0C5-41C2-8835-BF7E161C86AE}"/>
              </a:ext>
            </a:extLst>
          </p:cNvPr>
          <p:cNvSpPr>
            <a:spLocks xmlns:a="http://schemas.openxmlformats.org/drawingml/2006/main" noGrp="1"/>
          </p:cNvSpPr>
          <p:nvPr/>
        </p:nvSpPr>
        <p:spPr>
          <a:xfrm xmlns:a="http://schemas.openxmlformats.org/drawingml/2006/main">
            <a:off x="8991600" y="2571750"/>
            <a:ext cx="128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350" b="1">
                <a:solidFill>
                  <a:srgbClr val="79D7CC"/>
                </a:solidFill>
              </a:defRPr>
            </a:pPr>
            <a:r>
              <a:rPr sz="4350" b="1">
                <a:solidFill>
                  <a:srgbClr val="79D7CC"/>
                </a:solidFill>
              </a:rPr>
              <a:t>3, 1</a:t>
            </a:r>
          </a:p>
        </p:txBody>
      </p:sp>
      <p:sp>
        <p:nvSpPr>
          <p:cNvPr id="12" name="">
            <a:extLst xmlns:a="http://schemas.openxmlformats.org/drawingml/2006/main">
              <a:ext uri="{FF2B5EF4-FFF2-40B4-BE49-F238E27FC236}">
                <a16:creationId xmlns:a16="http://schemas.microsoft.com/office/drawing/2014/main" id="{79FC6D09-B9F1-4070-B017-B299C33772C4}"/>
              </a:ext>
            </a:extLst>
          </p:cNvPr>
          <p:cNvSpPr>
            <a:spLocks xmlns:a="http://schemas.openxmlformats.org/drawingml/2006/main" noGrp="1"/>
          </p:cNvSpPr>
          <p:nvPr/>
        </p:nvSpPr>
        <p:spPr>
          <a:xfrm xmlns:a="http://schemas.openxmlformats.org/drawingml/2006/main">
            <a:off x="8382000" y="3476625"/>
            <a:ext cx="249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Find λ first.</a:t>
            </a:r>
          </a:p>
          <a:p xmlns:a="http://schemas.openxmlformats.org/drawingml/2006/main">
            <a:pPr algn="ctr">
              <a:buNone/>
              <a:defRPr sz="1875" b="1">
                <a:solidFill>
                  <a:srgbClr val="F7F2E8"/>
                </a:solidFill>
              </a:defRPr>
            </a:pPr>
            <a:r>
              <a:rPr sz="1875" b="1">
                <a:solidFill>
                  <a:srgbClr val="F7F2E8"/>
                </a:solidFill>
              </a:rPr>
              <a:t>Then find v.</a:t>
            </a:r>
          </a:p>
          <a:p xmlns:a="http://schemas.openxmlformats.org/drawingml/2006/main">
            <a:pPr algn="ctr">
              <a:buNone/>
              <a:defRPr sz="1875" b="1">
                <a:solidFill>
                  <a:srgbClr val="F7F2E8"/>
                </a:solidFill>
              </a:defRPr>
            </a:pPr>
            <a:r>
              <a:rPr sz="1875" b="1">
                <a:solidFill>
                  <a:srgbClr val="F7F2E8"/>
                </a:solidFill>
              </a:rPr>
              <a:t>Verify Sv = λv.</a:t>
            </a:r>
          </a:p>
        </p:txBody>
      </p:sp>
    </p:spTree>
    <p:extLst>
      <p:ext uri="{BB962C8B-B14F-4D97-AF65-F5344CB8AC3E}">
        <p14:creationId xmlns:p14="http://schemas.microsoft.com/office/powerpoint/2010/main" val="2099694137"/>
      </p:ext>
    </p:extLst>
  </p:cSld>
</p:sld>
</file>

<file path=ppt/slides/slide1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AFE456-7AA3-4A9D-9004-939249C54FC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38E338-EF5F-44A5-88DE-52638F456D9A}"/>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0A7C2252-16F6-4F66-A3C0-B7EBD01DDF6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THE EIGENBASIS</a:t>
            </a:r>
          </a:p>
        </p:txBody>
      </p:sp>
      <p:sp>
        <p:nvSpPr>
          <p:cNvPr id="4" name="">
            <a:extLst xmlns:a="http://schemas.openxmlformats.org/drawingml/2006/main">
              <a:ext uri="{FF2B5EF4-FFF2-40B4-BE49-F238E27FC236}">
                <a16:creationId xmlns:a16="http://schemas.microsoft.com/office/drawing/2014/main" id="{9B10CE8B-EB11-4CEF-AA29-E9D59669AD3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13</a:t>
            </a:r>
          </a:p>
        </p:txBody>
      </p:sp>
      <p:sp>
        <p:nvSpPr>
          <p:cNvPr id="5" name="">
            <a:extLst xmlns:a="http://schemas.openxmlformats.org/drawingml/2006/main">
              <a:ext uri="{FF2B5EF4-FFF2-40B4-BE49-F238E27FC236}">
                <a16:creationId xmlns:a16="http://schemas.microsoft.com/office/drawing/2014/main" id="{80D51761-FBF4-4CFA-926E-F964E0C256C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2E240E-D9A2-4B9A-A2BD-2529C3A0EF8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Change coordinates, scale, then change back.</a:t>
            </a:r>
          </a:p>
        </p:txBody>
      </p:sp>
      <p:sp>
        <p:nvSpPr>
          <p:cNvPr id="7" name="">
            <a:extLst xmlns:a="http://schemas.openxmlformats.org/drawingml/2006/main">
              <a:ext uri="{FF2B5EF4-FFF2-40B4-BE49-F238E27FC236}">
                <a16:creationId xmlns:a16="http://schemas.microsoft.com/office/drawing/2014/main" id="{112F5412-4208-41F3-AFC1-7AD89C032222}"/>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With orthonormal eigenvectors as columns of Q, S = QDQᵀ and D = diag(3, 1).</a:t>
            </a:r>
          </a:p>
        </p:txBody>
      </p:sp>
      <p:sp>
        <p:nvSpPr>
          <p:cNvPr id="8" name="">
            <a:extLst xmlns:a="http://schemas.openxmlformats.org/drawingml/2006/main">
              <a:ext uri="{FF2B5EF4-FFF2-40B4-BE49-F238E27FC236}">
                <a16:creationId xmlns:a16="http://schemas.microsoft.com/office/drawing/2014/main" id="{A52F5107-02F3-4412-B65C-52071336F53F}"/>
              </a:ext>
            </a:extLst>
          </p:cNvPr>
          <p:cNvSpPr>
            <a:spLocks xmlns:a="http://schemas.openxmlformats.org/drawingml/2006/main" noGrp="1"/>
          </p:cNvSpPr>
          <p:nvPr/>
        </p:nvSpPr>
        <p:spPr>
          <a:xfrm xmlns:a="http://schemas.openxmlformats.org/drawingml/2006/main">
            <a:off x="6667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74F7BA0-7684-498B-B9B0-15DA66A64F06}"/>
              </a:ext>
            </a:extLst>
          </p:cNvPr>
          <p:cNvSpPr>
            <a:spLocks xmlns:a="http://schemas.openxmlformats.org/drawingml/2006/main" noGrp="1"/>
          </p:cNvSpPr>
          <p:nvPr/>
        </p:nvSpPr>
        <p:spPr>
          <a:xfrm xmlns:a="http://schemas.openxmlformats.org/drawingml/2006/main">
            <a:off x="7429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Input x</a:t>
            </a:r>
          </a:p>
        </p:txBody>
      </p:sp>
      <p:sp>
        <p:nvSpPr>
          <p:cNvPr id="10" name="">
            <a:extLst xmlns:a="http://schemas.openxmlformats.org/drawingml/2006/main">
              <a:ext uri="{FF2B5EF4-FFF2-40B4-BE49-F238E27FC236}">
                <a16:creationId xmlns:a16="http://schemas.microsoft.com/office/drawing/2014/main" id="{7DD824D2-C6BC-4EA6-BA10-35F4ADD417AD}"/>
              </a:ext>
            </a:extLst>
          </p:cNvPr>
          <p:cNvSpPr>
            <a:spLocks xmlns:a="http://schemas.openxmlformats.org/drawingml/2006/main" noGrp="1"/>
          </p:cNvSpPr>
          <p:nvPr/>
        </p:nvSpPr>
        <p:spPr>
          <a:xfrm xmlns:a="http://schemas.openxmlformats.org/drawingml/2006/main">
            <a:off x="29908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1" name="">
            <a:extLst xmlns:a="http://schemas.openxmlformats.org/drawingml/2006/main">
              <a:ext uri="{FF2B5EF4-FFF2-40B4-BE49-F238E27FC236}">
                <a16:creationId xmlns:a16="http://schemas.microsoft.com/office/drawing/2014/main" id="{662176EB-4232-419B-9692-EE6688ADF19F}"/>
              </a:ext>
            </a:extLst>
          </p:cNvPr>
          <p:cNvSpPr>
            <a:spLocks xmlns:a="http://schemas.openxmlformats.org/drawingml/2006/main" noGrp="1"/>
          </p:cNvSpPr>
          <p:nvPr/>
        </p:nvSpPr>
        <p:spPr>
          <a:xfrm xmlns:a="http://schemas.openxmlformats.org/drawingml/2006/main">
            <a:off x="34480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AD4F03DC-8E56-464B-96F1-3F1DC7DF89EB}"/>
              </a:ext>
            </a:extLst>
          </p:cNvPr>
          <p:cNvSpPr>
            <a:spLocks xmlns:a="http://schemas.openxmlformats.org/drawingml/2006/main" noGrp="1"/>
          </p:cNvSpPr>
          <p:nvPr/>
        </p:nvSpPr>
        <p:spPr>
          <a:xfrm xmlns:a="http://schemas.openxmlformats.org/drawingml/2006/main">
            <a:off x="35242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Qᵀx</a:t>
            </a:r>
          </a:p>
        </p:txBody>
      </p:sp>
      <p:sp>
        <p:nvSpPr>
          <p:cNvPr id="13" name="">
            <a:extLst xmlns:a="http://schemas.openxmlformats.org/drawingml/2006/main">
              <a:ext uri="{FF2B5EF4-FFF2-40B4-BE49-F238E27FC236}">
                <a16:creationId xmlns:a16="http://schemas.microsoft.com/office/drawing/2014/main" id="{60CDA7CC-2E18-422D-8F44-17AD70AD076F}"/>
              </a:ext>
            </a:extLst>
          </p:cNvPr>
          <p:cNvSpPr>
            <a:spLocks xmlns:a="http://schemas.openxmlformats.org/drawingml/2006/main" noGrp="1"/>
          </p:cNvSpPr>
          <p:nvPr/>
        </p:nvSpPr>
        <p:spPr>
          <a:xfrm xmlns:a="http://schemas.openxmlformats.org/drawingml/2006/main">
            <a:off x="57721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4" name="">
            <a:extLst xmlns:a="http://schemas.openxmlformats.org/drawingml/2006/main">
              <a:ext uri="{FF2B5EF4-FFF2-40B4-BE49-F238E27FC236}">
                <a16:creationId xmlns:a16="http://schemas.microsoft.com/office/drawing/2014/main" id="{4971C6FC-EF59-4653-9296-3A8288DC34B4}"/>
              </a:ext>
            </a:extLst>
          </p:cNvPr>
          <p:cNvSpPr>
            <a:spLocks xmlns:a="http://schemas.openxmlformats.org/drawingml/2006/main" noGrp="1"/>
          </p:cNvSpPr>
          <p:nvPr/>
        </p:nvSpPr>
        <p:spPr>
          <a:xfrm xmlns:a="http://schemas.openxmlformats.org/drawingml/2006/main">
            <a:off x="62293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1F59A1E3-80B4-4563-AB24-60300301E1CA}"/>
              </a:ext>
            </a:extLst>
          </p:cNvPr>
          <p:cNvSpPr>
            <a:spLocks xmlns:a="http://schemas.openxmlformats.org/drawingml/2006/main" noGrp="1"/>
          </p:cNvSpPr>
          <p:nvPr/>
        </p:nvSpPr>
        <p:spPr>
          <a:xfrm xmlns:a="http://schemas.openxmlformats.org/drawingml/2006/main">
            <a:off x="63055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D(Qᵀx)</a:t>
            </a:r>
          </a:p>
        </p:txBody>
      </p:sp>
      <p:sp>
        <p:nvSpPr>
          <p:cNvPr id="16" name="">
            <a:extLst xmlns:a="http://schemas.openxmlformats.org/drawingml/2006/main">
              <a:ext uri="{FF2B5EF4-FFF2-40B4-BE49-F238E27FC236}">
                <a16:creationId xmlns:a16="http://schemas.microsoft.com/office/drawing/2014/main" id="{94FC43D6-68C5-4D1C-B9D9-7D3D237670B4}"/>
              </a:ext>
            </a:extLst>
          </p:cNvPr>
          <p:cNvSpPr>
            <a:spLocks xmlns:a="http://schemas.openxmlformats.org/drawingml/2006/main" noGrp="1"/>
          </p:cNvSpPr>
          <p:nvPr/>
        </p:nvSpPr>
        <p:spPr>
          <a:xfrm xmlns:a="http://schemas.openxmlformats.org/drawingml/2006/main">
            <a:off x="85534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7" name="">
            <a:extLst xmlns:a="http://schemas.openxmlformats.org/drawingml/2006/main">
              <a:ext uri="{FF2B5EF4-FFF2-40B4-BE49-F238E27FC236}">
                <a16:creationId xmlns:a16="http://schemas.microsoft.com/office/drawing/2014/main" id="{E876AA1B-EB98-435F-AA5A-5499B833BB91}"/>
              </a:ext>
            </a:extLst>
          </p:cNvPr>
          <p:cNvSpPr>
            <a:spLocks xmlns:a="http://schemas.openxmlformats.org/drawingml/2006/main" noGrp="1"/>
          </p:cNvSpPr>
          <p:nvPr/>
        </p:nvSpPr>
        <p:spPr>
          <a:xfrm xmlns:a="http://schemas.openxmlformats.org/drawingml/2006/main">
            <a:off x="90106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065FAE3E-A38D-4515-93C7-3E09F8032E04}"/>
              </a:ext>
            </a:extLst>
          </p:cNvPr>
          <p:cNvSpPr>
            <a:spLocks xmlns:a="http://schemas.openxmlformats.org/drawingml/2006/main" noGrp="1"/>
          </p:cNvSpPr>
          <p:nvPr/>
        </p:nvSpPr>
        <p:spPr>
          <a:xfrm xmlns:a="http://schemas.openxmlformats.org/drawingml/2006/main">
            <a:off x="90868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QDQᵀx</a:t>
            </a:r>
          </a:p>
        </p:txBody>
      </p:sp>
      <p:sp>
        <p:nvSpPr>
          <p:cNvPr id="19" name="">
            <a:extLst xmlns:a="http://schemas.openxmlformats.org/drawingml/2006/main">
              <a:ext uri="{FF2B5EF4-FFF2-40B4-BE49-F238E27FC236}">
                <a16:creationId xmlns:a16="http://schemas.microsoft.com/office/drawing/2014/main" id="{4F17AC2E-E4D4-4B29-B9E1-89DF32389714}"/>
              </a:ext>
            </a:extLst>
          </p:cNvPr>
          <p:cNvSpPr>
            <a:spLocks xmlns:a="http://schemas.openxmlformats.org/drawingml/2006/main" noGrp="1"/>
          </p:cNvSpPr>
          <p:nvPr/>
        </p:nvSpPr>
        <p:spPr>
          <a:xfrm xmlns:a="http://schemas.openxmlformats.org/drawingml/2006/main">
            <a:off x="666750" y="3762375"/>
            <a:ext cx="2266950" cy="742950"/>
          </a:xfrm>
          <a:prstGeom xmlns:a="http://schemas.openxmlformats.org/drawingml/2006/main" prst="roundRect">
            <a:avLst>
              <a:gd name="adj" fmla="val 10256"/>
            </a:avLst>
          </a:prstGeom>
          <a:solidFill xmlns:a="http://schemas.openxmlformats.org/drawingml/2006/main">
            <a:srgbClr val="154D57"/>
          </a:solidFill>
          <a:ln xmlns:a="http://schemas.openxmlformats.org/drawingml/2006/main" w="9525">
            <a:solidFill>
              <a:srgbClr val="D9A441"/>
            </a:solidFill>
            <a:prstDash val="solid"/>
          </a:ln>
        </p:spPr>
      </p:sp>
      <p:sp>
        <p:nvSpPr>
          <p:cNvPr id="20" name="">
            <a:extLst xmlns:a="http://schemas.openxmlformats.org/drawingml/2006/main">
              <a:ext uri="{FF2B5EF4-FFF2-40B4-BE49-F238E27FC236}">
                <a16:creationId xmlns:a16="http://schemas.microsoft.com/office/drawing/2014/main" id="{1E1E0141-14FA-4894-9FFA-79CD6DB10E0D}"/>
              </a:ext>
            </a:extLst>
          </p:cNvPr>
          <p:cNvSpPr>
            <a:spLocks xmlns:a="http://schemas.openxmlformats.org/drawingml/2006/main" noGrp="1"/>
          </p:cNvSpPr>
          <p:nvPr/>
        </p:nvSpPr>
        <p:spPr>
          <a:xfrm xmlns:a="http://schemas.openxmlformats.org/drawingml/2006/main">
            <a:off x="7429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Original basis</a:t>
            </a:r>
          </a:p>
        </p:txBody>
      </p:sp>
      <p:sp>
        <p:nvSpPr>
          <p:cNvPr id="21" name="">
            <a:extLst xmlns:a="http://schemas.openxmlformats.org/drawingml/2006/main">
              <a:ext uri="{FF2B5EF4-FFF2-40B4-BE49-F238E27FC236}">
                <a16:creationId xmlns:a16="http://schemas.microsoft.com/office/drawing/2014/main" id="{8E7BCC41-C2BD-4B4C-908A-FCA6AAE2B700}"/>
              </a:ext>
            </a:extLst>
          </p:cNvPr>
          <p:cNvSpPr>
            <a:spLocks xmlns:a="http://schemas.openxmlformats.org/drawingml/2006/main" noGrp="1"/>
          </p:cNvSpPr>
          <p:nvPr/>
        </p:nvSpPr>
        <p:spPr>
          <a:xfrm xmlns:a="http://schemas.openxmlformats.org/drawingml/2006/main">
            <a:off x="29908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2" name="">
            <a:extLst xmlns:a="http://schemas.openxmlformats.org/drawingml/2006/main">
              <a:ext uri="{FF2B5EF4-FFF2-40B4-BE49-F238E27FC236}">
                <a16:creationId xmlns:a16="http://schemas.microsoft.com/office/drawing/2014/main" id="{A531076C-4E75-4F81-94EF-F3CE8276BFBA}"/>
              </a:ext>
            </a:extLst>
          </p:cNvPr>
          <p:cNvSpPr>
            <a:spLocks xmlns:a="http://schemas.openxmlformats.org/drawingml/2006/main" noGrp="1"/>
          </p:cNvSpPr>
          <p:nvPr/>
        </p:nvSpPr>
        <p:spPr>
          <a:xfrm xmlns:a="http://schemas.openxmlformats.org/drawingml/2006/main">
            <a:off x="34480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3" name="">
            <a:extLst xmlns:a="http://schemas.openxmlformats.org/drawingml/2006/main">
              <a:ext uri="{FF2B5EF4-FFF2-40B4-BE49-F238E27FC236}">
                <a16:creationId xmlns:a16="http://schemas.microsoft.com/office/drawing/2014/main" id="{6F8A7849-0142-40B4-90E7-7A1A758A9269}"/>
              </a:ext>
            </a:extLst>
          </p:cNvPr>
          <p:cNvSpPr>
            <a:spLocks xmlns:a="http://schemas.openxmlformats.org/drawingml/2006/main" noGrp="1"/>
          </p:cNvSpPr>
          <p:nvPr/>
        </p:nvSpPr>
        <p:spPr>
          <a:xfrm xmlns:a="http://schemas.openxmlformats.org/drawingml/2006/main">
            <a:off x="35242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Eigenbasis</a:t>
            </a:r>
          </a:p>
        </p:txBody>
      </p:sp>
      <p:sp>
        <p:nvSpPr>
          <p:cNvPr id="24" name="">
            <a:extLst xmlns:a="http://schemas.openxmlformats.org/drawingml/2006/main">
              <a:ext uri="{FF2B5EF4-FFF2-40B4-BE49-F238E27FC236}">
                <a16:creationId xmlns:a16="http://schemas.microsoft.com/office/drawing/2014/main" id="{5E9A512D-1DF0-45F4-95A4-D5AEEB087CF0}"/>
              </a:ext>
            </a:extLst>
          </p:cNvPr>
          <p:cNvSpPr>
            <a:spLocks xmlns:a="http://schemas.openxmlformats.org/drawingml/2006/main" noGrp="1"/>
          </p:cNvSpPr>
          <p:nvPr/>
        </p:nvSpPr>
        <p:spPr>
          <a:xfrm xmlns:a="http://schemas.openxmlformats.org/drawingml/2006/main">
            <a:off x="57721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5" name="">
            <a:extLst xmlns:a="http://schemas.openxmlformats.org/drawingml/2006/main">
              <a:ext uri="{FF2B5EF4-FFF2-40B4-BE49-F238E27FC236}">
                <a16:creationId xmlns:a16="http://schemas.microsoft.com/office/drawing/2014/main" id="{2ADCDFB6-A2BF-4895-AE95-26E9A4920D07}"/>
              </a:ext>
            </a:extLst>
          </p:cNvPr>
          <p:cNvSpPr>
            <a:spLocks xmlns:a="http://schemas.openxmlformats.org/drawingml/2006/main" noGrp="1"/>
          </p:cNvSpPr>
          <p:nvPr/>
        </p:nvSpPr>
        <p:spPr>
          <a:xfrm xmlns:a="http://schemas.openxmlformats.org/drawingml/2006/main">
            <a:off x="62293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6" name="">
            <a:extLst xmlns:a="http://schemas.openxmlformats.org/drawingml/2006/main">
              <a:ext uri="{FF2B5EF4-FFF2-40B4-BE49-F238E27FC236}">
                <a16:creationId xmlns:a16="http://schemas.microsoft.com/office/drawing/2014/main" id="{033C7C86-F6D9-44D0-8E1D-97BF21683B9A}"/>
              </a:ext>
            </a:extLst>
          </p:cNvPr>
          <p:cNvSpPr>
            <a:spLocks xmlns:a="http://schemas.openxmlformats.org/drawingml/2006/main" noGrp="1"/>
          </p:cNvSpPr>
          <p:nvPr/>
        </p:nvSpPr>
        <p:spPr>
          <a:xfrm xmlns:a="http://schemas.openxmlformats.org/drawingml/2006/main">
            <a:off x="63055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Scale by 3, 1</a:t>
            </a:r>
          </a:p>
        </p:txBody>
      </p:sp>
      <p:sp>
        <p:nvSpPr>
          <p:cNvPr id="27" name="">
            <a:extLst xmlns:a="http://schemas.openxmlformats.org/drawingml/2006/main">
              <a:ext uri="{FF2B5EF4-FFF2-40B4-BE49-F238E27FC236}">
                <a16:creationId xmlns:a16="http://schemas.microsoft.com/office/drawing/2014/main" id="{CEBA2F1B-7E2D-4C72-B45B-F7FA0C4AB3E3}"/>
              </a:ext>
            </a:extLst>
          </p:cNvPr>
          <p:cNvSpPr>
            <a:spLocks xmlns:a="http://schemas.openxmlformats.org/drawingml/2006/main" noGrp="1"/>
          </p:cNvSpPr>
          <p:nvPr/>
        </p:nvSpPr>
        <p:spPr>
          <a:xfrm xmlns:a="http://schemas.openxmlformats.org/drawingml/2006/main">
            <a:off x="85534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8" name="">
            <a:extLst xmlns:a="http://schemas.openxmlformats.org/drawingml/2006/main">
              <a:ext uri="{FF2B5EF4-FFF2-40B4-BE49-F238E27FC236}">
                <a16:creationId xmlns:a16="http://schemas.microsoft.com/office/drawing/2014/main" id="{89F99DB6-9071-44FA-9471-407DB7A1B63F}"/>
              </a:ext>
            </a:extLst>
          </p:cNvPr>
          <p:cNvSpPr>
            <a:spLocks xmlns:a="http://schemas.openxmlformats.org/drawingml/2006/main" noGrp="1"/>
          </p:cNvSpPr>
          <p:nvPr/>
        </p:nvSpPr>
        <p:spPr>
          <a:xfrm xmlns:a="http://schemas.openxmlformats.org/drawingml/2006/main">
            <a:off x="90106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9" name="">
            <a:extLst xmlns:a="http://schemas.openxmlformats.org/drawingml/2006/main">
              <a:ext uri="{FF2B5EF4-FFF2-40B4-BE49-F238E27FC236}">
                <a16:creationId xmlns:a16="http://schemas.microsoft.com/office/drawing/2014/main" id="{CB9AED29-A8F3-46A5-8F0C-DF342B17433D}"/>
              </a:ext>
            </a:extLst>
          </p:cNvPr>
          <p:cNvSpPr>
            <a:spLocks xmlns:a="http://schemas.openxmlformats.org/drawingml/2006/main" noGrp="1"/>
          </p:cNvSpPr>
          <p:nvPr/>
        </p:nvSpPr>
        <p:spPr>
          <a:xfrm xmlns:a="http://schemas.openxmlformats.org/drawingml/2006/main">
            <a:off x="90868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Original basis</a:t>
            </a:r>
          </a:p>
        </p:txBody>
      </p:sp>
      <p:sp>
        <p:nvSpPr>
          <p:cNvPr id="30" name="">
            <a:extLst xmlns:a="http://schemas.openxmlformats.org/drawingml/2006/main">
              <a:ext uri="{FF2B5EF4-FFF2-40B4-BE49-F238E27FC236}">
                <a16:creationId xmlns:a16="http://schemas.microsoft.com/office/drawing/2014/main" id="{2E586133-C59C-497B-8D2B-A084446F2E34}"/>
              </a:ext>
            </a:extLst>
          </p:cNvPr>
          <p:cNvSpPr>
            <a:spLocks xmlns:a="http://schemas.openxmlformats.org/drawingml/2006/main" noGrp="1"/>
          </p:cNvSpPr>
          <p:nvPr/>
        </p:nvSpPr>
        <p:spPr>
          <a:xfrm xmlns:a="http://schemas.openxmlformats.org/drawingml/2006/main">
            <a:off x="809625" y="53625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D9A441"/>
                </a:solidFill>
              </a:defRPr>
            </a:pPr>
            <a:r>
              <a:rPr sz="1875" b="1">
                <a:solidFill>
                  <a:srgbClr val="D9A441"/>
                </a:solidFill>
              </a:rPr>
              <a:t>Repeated steps simplify: Sᵏ = QDᵏQᵀ.</a:t>
            </a:r>
          </a:p>
        </p:txBody>
      </p:sp>
    </p:spTree>
    <p:extLst>
      <p:ext uri="{BB962C8B-B14F-4D97-AF65-F5344CB8AC3E}">
        <p14:creationId xmlns:p14="http://schemas.microsoft.com/office/powerpoint/2010/main" val="482950221"/>
      </p:ext>
    </p:extLst>
  </p:cSld>
</p:sld>
</file>

<file path=ppt/slides/slide1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REPEATED TRANSFORMATIONS</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14</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Matrix powers become powers of multipliers.</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the symmetric example, the two modes have factors 3ᵏ and 1ᵏ.</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TEN STEPS</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3¹⁰ = 59049</a:t>
            </a:r>
          </a:p>
          <a:p xmlns:a="http://schemas.openxmlformats.org/drawingml/2006/main">
            <a:pPr algn="ctr">
              <a:buNone/>
              <a:defRPr sz="2250" b="1">
                <a:solidFill>
                  <a:srgbClr val="F7F2E8"/>
                </a:solidFill>
              </a:defRPr>
            </a:pPr>
            <a:r>
              <a:rPr sz="2250" b="1">
                <a:solidFill>
                  <a:srgbClr val="F7F2E8"/>
                </a:solidFill>
              </a:rPr>
              <a:t>1¹⁰ = 1</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Modes grow at different rates</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RECONSTRUCT S¹⁰</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[(29525, 29524);</a:t>
            </a:r>
          </a:p>
          <a:p xmlns:a="http://schemas.openxmlformats.org/drawingml/2006/main">
            <a:pPr algn="ctr">
              <a:buNone/>
              <a:defRPr sz="2250" b="1">
                <a:solidFill>
                  <a:srgbClr val="F7F2E8"/>
                </a:solidFill>
              </a:defRPr>
            </a:pPr>
            <a:r>
              <a:rPr sz="2250" b="1">
                <a:solidFill>
                  <a:srgbClr val="F7F2E8"/>
                </a:solidFill>
              </a:rPr>
              <a:t> (29524, 29525)]</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Check against direct multiplication</a:t>
            </a:r>
          </a:p>
        </p:txBody>
      </p:sp>
    </p:spTree>
    <p:extLst>
      <p:ext uri="{BB962C8B-B14F-4D97-AF65-F5344CB8AC3E}">
        <p14:creationId xmlns:p14="http://schemas.microsoft.com/office/powerpoint/2010/main" val="1848015540"/>
      </p:ext>
    </p:extLst>
  </p:cSld>
</p:sld>
</file>

<file path=ppt/slides/slide1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F52369-1D6C-4A76-BBED-547B24AD635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2F2382-A27C-493C-A982-DFD35BEBB5CC}"/>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DD298C1-23CB-4DB4-89A1-84F6CF069CA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WHEN DIAGONALIZATION FAILS</a:t>
            </a:r>
          </a:p>
        </p:txBody>
      </p:sp>
      <p:sp>
        <p:nvSpPr>
          <p:cNvPr id="4" name="">
            <a:extLst xmlns:a="http://schemas.openxmlformats.org/drawingml/2006/main">
              <a:ext uri="{FF2B5EF4-FFF2-40B4-BE49-F238E27FC236}">
                <a16:creationId xmlns:a16="http://schemas.microsoft.com/office/drawing/2014/main" id="{6B11DCE9-ECA1-4362-8B4D-D9CFA25AE557}"/>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15</a:t>
            </a:r>
          </a:p>
        </p:txBody>
      </p:sp>
      <p:sp>
        <p:nvSpPr>
          <p:cNvPr id="5" name="">
            <a:extLst xmlns:a="http://schemas.openxmlformats.org/drawingml/2006/main">
              <a:ext uri="{FF2B5EF4-FFF2-40B4-BE49-F238E27FC236}">
                <a16:creationId xmlns:a16="http://schemas.microsoft.com/office/drawing/2014/main" id="{DC9B4FDB-8E3D-405C-9706-372B0E9A8AB2}"/>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178C46C3-76A3-401A-BA9B-79A08C6A4512}"/>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Not every matrix has enough eigenvectors.</a:t>
            </a:r>
          </a:p>
        </p:txBody>
      </p:sp>
      <p:sp>
        <p:nvSpPr>
          <p:cNvPr id="7" name="">
            <a:extLst xmlns:a="http://schemas.openxmlformats.org/drawingml/2006/main">
              <a:ext uri="{FF2B5EF4-FFF2-40B4-BE49-F238E27FC236}">
                <a16:creationId xmlns:a16="http://schemas.microsoft.com/office/drawing/2014/main" id="{859095A2-626A-4759-A576-FBE16041073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repeated eigenvalue alone does not guarantee an eigenbasis.</a:t>
            </a:r>
          </a:p>
        </p:txBody>
      </p:sp>
      <p:sp>
        <p:nvSpPr>
          <p:cNvPr id="8" name="">
            <a:extLst xmlns:a="http://schemas.openxmlformats.org/drawingml/2006/main">
              <a:ext uri="{FF2B5EF4-FFF2-40B4-BE49-F238E27FC236}">
                <a16:creationId xmlns:a16="http://schemas.microsoft.com/office/drawing/2014/main" id="{1223E019-4A2C-4734-B611-DBA22D0F22FE}"/>
              </a:ext>
            </a:extLst>
          </p:cNvPr>
          <p:cNvSpPr>
            <a:spLocks xmlns:a="http://schemas.openxmlformats.org/drawingml/2006/main" noGrp="1"/>
          </p:cNvSpPr>
          <p:nvPr/>
        </p:nvSpPr>
        <p:spPr>
          <a:xfrm xmlns:a="http://schemas.openxmlformats.org/drawingml/2006/main">
            <a:off x="590550" y="2190750"/>
            <a:ext cx="6858000" cy="2857500"/>
          </a:xfrm>
          <a:prstGeom xmlns:a="http://schemas.openxmlformats.org/drawingml/2006/main" prst="roundRect">
            <a:avLst>
              <a:gd name="adj" fmla="val 2667"/>
            </a:avLst>
          </a:prstGeom>
          <a:solidFill xmlns:a="http://schemas.openxmlformats.org/drawingml/2006/main">
            <a:srgbClr val="06131F"/>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A760EAF-103C-47E8-A19B-88597E82C6CC}"/>
              </a:ext>
            </a:extLst>
          </p:cNvPr>
          <p:cNvSpPr>
            <a:spLocks xmlns:a="http://schemas.openxmlformats.org/drawingml/2006/main" noGrp="1"/>
          </p:cNvSpPr>
          <p:nvPr/>
        </p:nvSpPr>
        <p:spPr>
          <a:xfrm xmlns:a="http://schemas.openxmlformats.org/drawingml/2006/main">
            <a:off x="857250" y="2457450"/>
            <a:ext cx="6286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D7F8F2"/>
                </a:solidFill>
              </a:defRPr>
            </a:pPr>
            <a:r>
              <a:rPr sz="1650" b="0">
                <a:solidFill>
                  <a:srgbClr val="D7F8F2"/>
                </a:solidFill>
              </a:rPr>
              <a:t>J = [(1, 1); (0, 1)]</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Only one independent eigenvector.</a:t>
            </a:r>
          </a:p>
          <a:p xmlns:a="http://schemas.openxmlformats.org/drawingml/2006/main">
            <a:r>
              <a:t/>
            </a:r>
          </a:p>
          <a:p xmlns:a="http://schemas.openxmlformats.org/drawingml/2006/main">
            <a:pPr algn="l">
              <a:buNone/>
              <a:defRPr sz="1650" b="0">
                <a:solidFill>
                  <a:srgbClr val="D7F8F2"/>
                </a:solidFill>
              </a:defRPr>
            </a:pPr>
            <a:r>
              <a:rPr sz="1650" b="0">
                <a:solidFill>
                  <a:srgbClr val="D7F8F2"/>
                </a:solidFill>
              </a:rPr>
              <a:t>Jᵏ = [(1, k); (0, 1)]</a:t>
            </a:r>
          </a:p>
          <a:p xmlns:a="http://schemas.openxmlformats.org/drawingml/2006/main">
            <a:pPr algn="l">
              <a:buNone/>
              <a:defRPr sz="1650" b="0">
                <a:solidFill>
                  <a:srgbClr val="D7F8F2"/>
                </a:solidFill>
              </a:defRPr>
            </a:pPr>
            <a:r>
              <a:rPr sz="1650" b="0">
                <a:solidFill>
                  <a:srgbClr val="D7F8F2"/>
                </a:solidFill>
              </a:rPr>
              <a:t>The off-diagonal term grows with k.</a:t>
            </a:r>
          </a:p>
        </p:txBody>
      </p:sp>
      <p:sp>
        <p:nvSpPr>
          <p:cNvPr id="10" name="">
            <a:extLst xmlns:a="http://schemas.openxmlformats.org/drawingml/2006/main">
              <a:ext uri="{FF2B5EF4-FFF2-40B4-BE49-F238E27FC236}">
                <a16:creationId xmlns:a16="http://schemas.microsoft.com/office/drawing/2014/main" id="{15DB8409-60C6-46F6-AF62-A58F358F720A}"/>
              </a:ext>
            </a:extLst>
          </p:cNvPr>
          <p:cNvSpPr>
            <a:spLocks xmlns:a="http://schemas.openxmlformats.org/drawingml/2006/main" noGrp="1"/>
          </p:cNvSpPr>
          <p:nvPr/>
        </p:nvSpPr>
        <p:spPr>
          <a:xfrm xmlns:a="http://schemas.openxmlformats.org/drawingml/2006/main">
            <a:off x="8058150" y="2381250"/>
            <a:ext cx="3143250" cy="2190750"/>
          </a:xfrm>
          <a:prstGeom xmlns:a="http://schemas.openxmlformats.org/drawingml/2006/main" prst="roundRect">
            <a:avLst>
              <a:gd name="adj" fmla="val 3478"/>
            </a:avLst>
          </a:prstGeom>
          <a:solidFill xmlns:a="http://schemas.openxmlformats.org/drawingml/2006/main">
            <a:srgbClr val="103A3F"/>
          </a:solidFill>
          <a:ln xmlns:a="http://schemas.openxmlformats.org/drawingml/2006/main" w="9525">
            <a:solidFill>
              <a:srgbClr val="D9A441"/>
            </a:solidFill>
            <a:prstDash val="solid"/>
          </a:ln>
        </p:spPr>
      </p:sp>
      <p:sp>
        <p:nvSpPr>
          <p:cNvPr id="11" name="">
            <a:extLst xmlns:a="http://schemas.openxmlformats.org/drawingml/2006/main">
              <a:ext uri="{FF2B5EF4-FFF2-40B4-BE49-F238E27FC236}">
                <a16:creationId xmlns:a16="http://schemas.microsoft.com/office/drawing/2014/main" id="{8E670E22-A0C5-41C2-8835-BF7E161C86AE}"/>
              </a:ext>
            </a:extLst>
          </p:cNvPr>
          <p:cNvSpPr>
            <a:spLocks xmlns:a="http://schemas.openxmlformats.org/drawingml/2006/main" noGrp="1"/>
          </p:cNvSpPr>
          <p:nvPr/>
        </p:nvSpPr>
        <p:spPr>
          <a:xfrm xmlns:a="http://schemas.openxmlformats.org/drawingml/2006/main">
            <a:off x="8991600" y="2571750"/>
            <a:ext cx="1285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4350" b="1">
                <a:solidFill>
                  <a:srgbClr val="79D7CC"/>
                </a:solidFill>
              </a:defRPr>
            </a:pPr>
            <a:r>
              <a:rPr sz="4350" b="1">
                <a:solidFill>
                  <a:srgbClr val="79D7CC"/>
                </a:solidFill>
              </a:rPr>
              <a:t>!</a:t>
            </a:r>
          </a:p>
        </p:txBody>
      </p:sp>
      <p:sp>
        <p:nvSpPr>
          <p:cNvPr id="12" name="">
            <a:extLst xmlns:a="http://schemas.openxmlformats.org/drawingml/2006/main">
              <a:ext uri="{FF2B5EF4-FFF2-40B4-BE49-F238E27FC236}">
                <a16:creationId xmlns:a16="http://schemas.microsoft.com/office/drawing/2014/main" id="{79FC6D09-B9F1-4070-B017-B299C33772C4}"/>
              </a:ext>
            </a:extLst>
          </p:cNvPr>
          <p:cNvSpPr>
            <a:spLocks xmlns:a="http://schemas.openxmlformats.org/drawingml/2006/main" noGrp="1"/>
          </p:cNvSpPr>
          <p:nvPr/>
        </p:nvSpPr>
        <p:spPr>
          <a:xfrm xmlns:a="http://schemas.openxmlformats.org/drawingml/2006/main">
            <a:off x="8382000" y="3476625"/>
            <a:ext cx="2495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Eigenvalues</a:t>
            </a:r>
          </a:p>
          <a:p xmlns:a="http://schemas.openxmlformats.org/drawingml/2006/main">
            <a:pPr algn="ctr">
              <a:buNone/>
              <a:defRPr sz="1875" b="1">
                <a:solidFill>
                  <a:srgbClr val="F7F2E8"/>
                </a:solidFill>
              </a:defRPr>
            </a:pPr>
            <a:r>
              <a:rPr sz="1875" b="1">
                <a:solidFill>
                  <a:srgbClr val="F7F2E8"/>
                </a:solidFill>
              </a:rPr>
              <a:t>alone can miss</a:t>
            </a:r>
          </a:p>
          <a:p xmlns:a="http://schemas.openxmlformats.org/drawingml/2006/main">
            <a:pPr algn="ctr">
              <a:buNone/>
              <a:defRPr sz="1875" b="1">
                <a:solidFill>
                  <a:srgbClr val="F7F2E8"/>
                </a:solidFill>
              </a:defRPr>
            </a:pPr>
            <a:r>
              <a:rPr sz="1875" b="1">
                <a:solidFill>
                  <a:srgbClr val="F7F2E8"/>
                </a:solidFill>
              </a:rPr>
              <a:t>important structure</a:t>
            </a:r>
          </a:p>
        </p:txBody>
      </p:sp>
    </p:spTree>
    <p:extLst>
      <p:ext uri="{BB962C8B-B14F-4D97-AF65-F5344CB8AC3E}">
        <p14:creationId xmlns:p14="http://schemas.microsoft.com/office/powerpoint/2010/main" val="2099694137"/>
      </p:ext>
    </p:extLst>
  </p:cSld>
</p:sld>
</file>

<file path=ppt/slides/slide1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SPECTRAL RADIUS</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16</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The largest absolute eigenvalue guides decay.</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a fixed autonomous linear system xₜ₊₁ = Axₜ, use the full spectrum.</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SPECTRAL RADIUS</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ρ(A) = max |λᵢ|</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Largest magnitude, not largest sign</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EVERY START DECAYS</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Aᵗx₀ → 0 for all x₀</a:t>
            </a:r>
          </a:p>
          <a:p xmlns:a="http://schemas.openxmlformats.org/drawingml/2006/main">
            <a:pPr algn="ctr">
              <a:buNone/>
              <a:defRPr sz="2250" b="1">
                <a:solidFill>
                  <a:srgbClr val="F7F2E8"/>
                </a:solidFill>
              </a:defRPr>
            </a:pPr>
            <a:r>
              <a:rPr sz="2250" b="1">
                <a:solidFill>
                  <a:srgbClr val="F7F2E8"/>
                </a:solidFill>
              </a:rPr>
              <a:t>if and only if ρ(A) &lt; 1</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This is a long-run statement</a:t>
            </a:r>
          </a:p>
        </p:txBody>
      </p:sp>
    </p:spTree>
    <p:extLst>
      <p:ext uri="{BB962C8B-B14F-4D97-AF65-F5344CB8AC3E}">
        <p14:creationId xmlns:p14="http://schemas.microsoft.com/office/powerpoint/2010/main" val="1848015540"/>
      </p:ext>
    </p:extLst>
  </p:cSld>
</p:sld>
</file>

<file path=ppt/slides/slide17.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DF2817-725B-4938-8ABF-977F4F590F2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6E7DF7-1392-4A3A-A6F6-0CA5CA6FE695}"/>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40112630-E53E-41D9-832A-5CCED8F2331B}"/>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LONG RUN VERSUS EARLY STEPS</a:t>
            </a:r>
          </a:p>
        </p:txBody>
      </p:sp>
      <p:sp>
        <p:nvSpPr>
          <p:cNvPr id="4" name="">
            <a:extLst xmlns:a="http://schemas.openxmlformats.org/drawingml/2006/main">
              <a:ext uri="{FF2B5EF4-FFF2-40B4-BE49-F238E27FC236}">
                <a16:creationId xmlns:a16="http://schemas.microsoft.com/office/drawing/2014/main" id="{85973738-9B04-4313-88C4-4E97247F4DB9}"/>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17</a:t>
            </a:r>
          </a:p>
        </p:txBody>
      </p:sp>
      <p:sp>
        <p:nvSpPr>
          <p:cNvPr id="5" name="">
            <a:extLst xmlns:a="http://schemas.openxmlformats.org/drawingml/2006/main">
              <a:ext uri="{FF2B5EF4-FFF2-40B4-BE49-F238E27FC236}">
                <a16:creationId xmlns:a16="http://schemas.microsoft.com/office/drawing/2014/main" id="{8278253D-6C96-4FB9-89ED-C2BBFAAE1BC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BAE41526-3697-4714-BC66-18CC0FFF1505}"/>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Decay in the long run can follow initial growth.</a:t>
            </a:r>
          </a:p>
        </p:txBody>
      </p:sp>
      <p:sp>
        <p:nvSpPr>
          <p:cNvPr id="7" name="">
            <a:extLst xmlns:a="http://schemas.openxmlformats.org/drawingml/2006/main">
              <a:ext uri="{FF2B5EF4-FFF2-40B4-BE49-F238E27FC236}">
                <a16:creationId xmlns:a16="http://schemas.microsoft.com/office/drawing/2014/main" id="{A53612E4-30D8-4781-A527-119141DE1D01}"/>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Compare these discrete-time examples; the notebook plots their trajectories.</a:t>
            </a:r>
          </a:p>
        </p:txBody>
      </p:sp>
      <p:sp>
        <p:nvSpPr>
          <p:cNvPr id="8" name="">
            <a:extLst xmlns:a="http://schemas.openxmlformats.org/drawingml/2006/main">
              <a:ext uri="{FF2B5EF4-FFF2-40B4-BE49-F238E27FC236}">
                <a16:creationId xmlns:a16="http://schemas.microsoft.com/office/drawing/2014/main" id="{8DD86A21-4027-44B2-BCBE-4F10E33FCF9E}"/>
              </a:ext>
            </a:extLst>
          </p:cNvPr>
          <p:cNvSpPr>
            <a:spLocks xmlns:a="http://schemas.openxmlformats.org/drawingml/2006/main" noGrp="1"/>
          </p:cNvSpPr>
          <p:nvPr/>
        </p:nvSpPr>
        <p:spPr>
          <a:xfrm xmlns:a="http://schemas.openxmlformats.org/drawingml/2006/main">
            <a:off x="1143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401F5192-BCB2-4A64-9B36-9FD5D6372492}"/>
              </a:ext>
            </a:extLst>
          </p:cNvPr>
          <p:cNvSpPr>
            <a:spLocks xmlns:a="http://schemas.openxmlformats.org/drawingml/2006/main" noGrp="1"/>
          </p:cNvSpPr>
          <p:nvPr/>
        </p:nvSpPr>
        <p:spPr>
          <a:xfrm xmlns:a="http://schemas.openxmlformats.org/drawingml/2006/main">
            <a:off x="1333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DECAY</a:t>
            </a:r>
          </a:p>
        </p:txBody>
      </p:sp>
      <p:sp>
        <p:nvSpPr>
          <p:cNvPr id="10" name="">
            <a:extLst xmlns:a="http://schemas.openxmlformats.org/drawingml/2006/main">
              <a:ext uri="{FF2B5EF4-FFF2-40B4-BE49-F238E27FC236}">
                <a16:creationId xmlns:a16="http://schemas.microsoft.com/office/drawing/2014/main" id="{2A5729DF-6C09-4EBF-AFFB-60777A410D72}"/>
              </a:ext>
            </a:extLst>
          </p:cNvPr>
          <p:cNvSpPr>
            <a:spLocks xmlns:a="http://schemas.openxmlformats.org/drawingml/2006/main" noGrp="1"/>
          </p:cNvSpPr>
          <p:nvPr/>
        </p:nvSpPr>
        <p:spPr>
          <a:xfrm xmlns:a="http://schemas.openxmlformats.org/drawingml/2006/main">
            <a:off x="1333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0.8</a:t>
            </a:r>
          </a:p>
        </p:txBody>
      </p:sp>
      <p:sp>
        <p:nvSpPr>
          <p:cNvPr id="11" name="">
            <a:extLst xmlns:a="http://schemas.openxmlformats.org/drawingml/2006/main">
              <a:ext uri="{FF2B5EF4-FFF2-40B4-BE49-F238E27FC236}">
                <a16:creationId xmlns:a16="http://schemas.microsoft.com/office/drawing/2014/main" id="{EC5EBA52-C1AD-4178-A1CE-A8FA55601458}"/>
              </a:ext>
            </a:extLst>
          </p:cNvPr>
          <p:cNvSpPr>
            <a:spLocks xmlns:a="http://schemas.openxmlformats.org/drawingml/2006/main" noGrp="1"/>
          </p:cNvSpPr>
          <p:nvPr/>
        </p:nvSpPr>
        <p:spPr>
          <a:xfrm xmlns:a="http://schemas.openxmlformats.org/drawingml/2006/main">
            <a:off x="1333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A = 0.8I</a:t>
            </a:r>
          </a:p>
        </p:txBody>
      </p:sp>
      <p:sp>
        <p:nvSpPr>
          <p:cNvPr id="12" name="">
            <a:extLst xmlns:a="http://schemas.openxmlformats.org/drawingml/2006/main">
              <a:ext uri="{FF2B5EF4-FFF2-40B4-BE49-F238E27FC236}">
                <a16:creationId xmlns:a16="http://schemas.microsoft.com/office/drawing/2014/main" id="{E6C23502-DA06-45EA-8A5B-E82B221BC6E5}"/>
              </a:ext>
            </a:extLst>
          </p:cNvPr>
          <p:cNvSpPr>
            <a:spLocks xmlns:a="http://schemas.openxmlformats.org/drawingml/2006/main" noGrp="1"/>
          </p:cNvSpPr>
          <p:nvPr/>
        </p:nvSpPr>
        <p:spPr>
          <a:xfrm xmlns:a="http://schemas.openxmlformats.org/drawingml/2006/main">
            <a:off x="4572000" y="2381250"/>
            <a:ext cx="2857500" cy="2095500"/>
          </a:xfrm>
          <a:prstGeom xmlns:a="http://schemas.openxmlformats.org/drawingml/2006/main" prst="roundRect">
            <a:avLst>
              <a:gd name="adj" fmla="val 3636"/>
            </a:avLst>
          </a:prstGeom>
          <a:solidFill xmlns:a="http://schemas.openxmlformats.org/drawingml/2006/main">
            <a:srgbClr val="154D57"/>
          </a:solidFill>
          <a:ln xmlns:a="http://schemas.openxmlformats.org/drawingml/2006/main" w="9525">
            <a:solidFill>
              <a:srgbClr val="22B8A7"/>
            </a:solidFill>
            <a:prstDash val="solid"/>
          </a:ln>
        </p:spPr>
      </p:sp>
      <p:sp>
        <p:nvSpPr>
          <p:cNvPr id="13" name="">
            <a:extLst xmlns:a="http://schemas.openxmlformats.org/drawingml/2006/main">
              <a:ext uri="{FF2B5EF4-FFF2-40B4-BE49-F238E27FC236}">
                <a16:creationId xmlns:a16="http://schemas.microsoft.com/office/drawing/2014/main" id="{53D8B61B-13D5-4D6F-8D5E-B41DBB3A2B1E}"/>
              </a:ext>
            </a:extLst>
          </p:cNvPr>
          <p:cNvSpPr>
            <a:spLocks xmlns:a="http://schemas.openxmlformats.org/drawingml/2006/main" noGrp="1"/>
          </p:cNvSpPr>
          <p:nvPr/>
        </p:nvSpPr>
        <p:spPr>
          <a:xfrm xmlns:a="http://schemas.openxmlformats.org/drawingml/2006/main">
            <a:off x="4762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GROWTH</a:t>
            </a:r>
          </a:p>
        </p:txBody>
      </p:sp>
      <p:sp>
        <p:nvSpPr>
          <p:cNvPr id="14" name="">
            <a:extLst xmlns:a="http://schemas.openxmlformats.org/drawingml/2006/main">
              <a:ext uri="{FF2B5EF4-FFF2-40B4-BE49-F238E27FC236}">
                <a16:creationId xmlns:a16="http://schemas.microsoft.com/office/drawing/2014/main" id="{C48ECA60-9A18-44DA-9BAC-4C42FE5953F8}"/>
              </a:ext>
            </a:extLst>
          </p:cNvPr>
          <p:cNvSpPr>
            <a:spLocks xmlns:a="http://schemas.openxmlformats.org/drawingml/2006/main" noGrp="1"/>
          </p:cNvSpPr>
          <p:nvPr/>
        </p:nvSpPr>
        <p:spPr>
          <a:xfrm xmlns:a="http://schemas.openxmlformats.org/drawingml/2006/main">
            <a:off x="4762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1.1</a:t>
            </a:r>
          </a:p>
        </p:txBody>
      </p:sp>
      <p:sp>
        <p:nvSpPr>
          <p:cNvPr id="15" name="">
            <a:extLst xmlns:a="http://schemas.openxmlformats.org/drawingml/2006/main">
              <a:ext uri="{FF2B5EF4-FFF2-40B4-BE49-F238E27FC236}">
                <a16:creationId xmlns:a16="http://schemas.microsoft.com/office/drawing/2014/main" id="{BC193A3E-1CB2-490B-9323-F13E48E682F5}"/>
              </a:ext>
            </a:extLst>
          </p:cNvPr>
          <p:cNvSpPr>
            <a:spLocks xmlns:a="http://schemas.openxmlformats.org/drawingml/2006/main" noGrp="1"/>
          </p:cNvSpPr>
          <p:nvPr/>
        </p:nvSpPr>
        <p:spPr>
          <a:xfrm xmlns:a="http://schemas.openxmlformats.org/drawingml/2006/main">
            <a:off x="4762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A = 1.1I</a:t>
            </a:r>
          </a:p>
        </p:txBody>
      </p:sp>
      <p:sp>
        <p:nvSpPr>
          <p:cNvPr id="16" name="">
            <a:extLst xmlns:a="http://schemas.openxmlformats.org/drawingml/2006/main">
              <a:ext uri="{FF2B5EF4-FFF2-40B4-BE49-F238E27FC236}">
                <a16:creationId xmlns:a16="http://schemas.microsoft.com/office/drawing/2014/main" id="{9A11E346-D82C-420C-AECD-7F16DDEDD0D5}"/>
              </a:ext>
            </a:extLst>
          </p:cNvPr>
          <p:cNvSpPr>
            <a:spLocks xmlns:a="http://schemas.openxmlformats.org/drawingml/2006/main" noGrp="1"/>
          </p:cNvSpPr>
          <p:nvPr/>
        </p:nvSpPr>
        <p:spPr>
          <a:xfrm xmlns:a="http://schemas.openxmlformats.org/drawingml/2006/main">
            <a:off x="8001000" y="2381250"/>
            <a:ext cx="2857500" cy="2095500"/>
          </a:xfrm>
          <a:prstGeom xmlns:a="http://schemas.openxmlformats.org/drawingml/2006/main" prst="roundRect">
            <a:avLst>
              <a:gd name="adj" fmla="val 3636"/>
            </a:avLst>
          </a:prstGeom>
          <a:solidFill xmlns:a="http://schemas.openxmlformats.org/drawingml/2006/main">
            <a:srgbClr val="0D2A43"/>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C7D4888-ABC9-46BF-AF11-53B0B1FDA3A9}"/>
              </a:ext>
            </a:extLst>
          </p:cNvPr>
          <p:cNvSpPr>
            <a:spLocks xmlns:a="http://schemas.openxmlformats.org/drawingml/2006/main" noGrp="1"/>
          </p:cNvSpPr>
          <p:nvPr/>
        </p:nvSpPr>
        <p:spPr>
          <a:xfrm xmlns:a="http://schemas.openxmlformats.org/drawingml/2006/main">
            <a:off x="8191500" y="2628900"/>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79D7CC"/>
                </a:solidFill>
              </a:defRPr>
            </a:pPr>
            <a:r>
              <a:rPr sz="2025" b="1">
                <a:solidFill>
                  <a:srgbClr val="79D7CC"/>
                </a:solidFill>
              </a:rPr>
              <a:t>TRANSIENT</a:t>
            </a:r>
          </a:p>
        </p:txBody>
      </p:sp>
      <p:sp>
        <p:nvSpPr>
          <p:cNvPr id="18" name="">
            <a:extLst xmlns:a="http://schemas.openxmlformats.org/drawingml/2006/main">
              <a:ext uri="{FF2B5EF4-FFF2-40B4-BE49-F238E27FC236}">
                <a16:creationId xmlns:a16="http://schemas.microsoft.com/office/drawing/2014/main" id="{C1061CCF-3FD1-4A71-8A54-D6D9A0DC02F8}"/>
              </a:ext>
            </a:extLst>
          </p:cNvPr>
          <p:cNvSpPr>
            <a:spLocks xmlns:a="http://schemas.openxmlformats.org/drawingml/2006/main" noGrp="1"/>
          </p:cNvSpPr>
          <p:nvPr/>
        </p:nvSpPr>
        <p:spPr>
          <a:xfrm xmlns:a="http://schemas.openxmlformats.org/drawingml/2006/main">
            <a:off x="8191500" y="3257550"/>
            <a:ext cx="247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D9A441"/>
                </a:solidFill>
              </a:defRPr>
            </a:pPr>
            <a:r>
              <a:rPr sz="3450" b="1">
                <a:solidFill>
                  <a:srgbClr val="D9A441"/>
                </a:solidFill>
              </a:rPr>
              <a:t>0.8</a:t>
            </a:r>
          </a:p>
        </p:txBody>
      </p:sp>
      <p:sp>
        <p:nvSpPr>
          <p:cNvPr id="19" name="">
            <a:extLst xmlns:a="http://schemas.openxmlformats.org/drawingml/2006/main">
              <a:ext uri="{FF2B5EF4-FFF2-40B4-BE49-F238E27FC236}">
                <a16:creationId xmlns:a16="http://schemas.microsoft.com/office/drawing/2014/main" id="{2E6591C7-55FD-4AD5-968D-50A9EBF63A00}"/>
              </a:ext>
            </a:extLst>
          </p:cNvPr>
          <p:cNvSpPr>
            <a:spLocks xmlns:a="http://schemas.openxmlformats.org/drawingml/2006/main" noGrp="1"/>
          </p:cNvSpPr>
          <p:nvPr/>
        </p:nvSpPr>
        <p:spPr>
          <a:xfrm xmlns:a="http://schemas.openxmlformats.org/drawingml/2006/main">
            <a:off x="8191500" y="3990975"/>
            <a:ext cx="2476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F7F2E8"/>
                </a:solidFill>
              </a:defRPr>
            </a:pPr>
            <a:r>
              <a:rPr sz="1275" b="0">
                <a:solidFill>
                  <a:srgbClr val="F7F2E8"/>
                </a:solidFill>
              </a:rPr>
              <a:t>A = [(0.8, 4); (0, 0.8)]</a:t>
            </a:r>
          </a:p>
        </p:txBody>
      </p:sp>
      <p:sp>
        <p:nvSpPr>
          <p:cNvPr id="20" name="">
            <a:extLst xmlns:a="http://schemas.openxmlformats.org/drawingml/2006/main">
              <a:ext uri="{FF2B5EF4-FFF2-40B4-BE49-F238E27FC236}">
                <a16:creationId xmlns:a16="http://schemas.microsoft.com/office/drawing/2014/main" id="{5590C928-27F2-40AF-A6CC-4F2205FEF9AF}"/>
              </a:ext>
            </a:extLst>
          </p:cNvPr>
          <p:cNvSpPr>
            <a:spLocks xmlns:a="http://schemas.openxmlformats.org/drawingml/2006/main" noGrp="1"/>
          </p:cNvSpPr>
          <p:nvPr/>
        </p:nvSpPr>
        <p:spPr>
          <a:xfrm xmlns:a="http://schemas.openxmlformats.org/drawingml/2006/main">
            <a:off x="1666875" y="5048250"/>
            <a:ext cx="885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F7F2E8"/>
                </a:solidFill>
              </a:defRPr>
            </a:pPr>
            <a:r>
              <a:rPr sz="1875" b="1">
                <a:solidFill>
                  <a:srgbClr val="F7F2E8"/>
                </a:solidFill>
              </a:rPr>
              <a:t>The numbers shown are spectral radii, not one-step norm bounds.</a:t>
            </a:r>
          </a:p>
        </p:txBody>
      </p:sp>
    </p:spTree>
    <p:extLst>
      <p:ext uri="{BB962C8B-B14F-4D97-AF65-F5344CB8AC3E}">
        <p14:creationId xmlns:p14="http://schemas.microsoft.com/office/powerpoint/2010/main" val="1358859806"/>
      </p:ext>
    </p:extLst>
  </p:cSld>
</p:sld>
</file>

<file path=ppt/slides/slide18.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TWO STABILITY PITFALLS</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18</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One trajectory is not the whole system.</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special starting vector can hide a mode; coupling can cause a temporary surge.</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HIDDEN UNSTABLE MODE</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A = diag(1.1, 0.9)</a:t>
            </a:r>
          </a:p>
          <a:p xmlns:a="http://schemas.openxmlformats.org/drawingml/2006/main">
            <a:pPr algn="ctr">
              <a:buNone/>
              <a:defRPr sz="2250" b="1">
                <a:solidFill>
                  <a:srgbClr val="F7F2E8"/>
                </a:solidFill>
              </a:defRPr>
            </a:pPr>
            <a:r>
              <a:rPr sz="2250" b="1">
                <a:solidFill>
                  <a:srgbClr val="F7F2E8"/>
                </a:solidFill>
              </a:rPr>
              <a:t>x₀ = (0, 1)ᵀ decays</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Yet ρ(A) = 1.1: not all starts decay</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TRANSIENT AMPLIFICATION</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(0, 1)ᵀ → (4, 0.8)ᵀ</a:t>
            </a:r>
          </a:p>
          <a:p xmlns:a="http://schemas.openxmlformats.org/drawingml/2006/main">
            <a:pPr algn="ctr">
              <a:buNone/>
              <a:defRPr sz="2250" b="1">
                <a:solidFill>
                  <a:srgbClr val="F7F2E8"/>
                </a:solidFill>
              </a:defRPr>
            </a:pPr>
            <a:r>
              <a:rPr sz="2250" b="1">
                <a:solidFill>
                  <a:srgbClr val="F7F2E8"/>
                </a:solidFill>
              </a:rPr>
              <a:t>Length ≈ 4.08</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Yet ρ(A) = 0.8: eventual decay</a:t>
            </a:r>
          </a:p>
        </p:txBody>
      </p:sp>
    </p:spTree>
    <p:extLst>
      <p:ext uri="{BB962C8B-B14F-4D97-AF65-F5344CB8AC3E}">
        <p14:creationId xmlns:p14="http://schemas.microsoft.com/office/powerpoint/2010/main" val="1848015540"/>
      </p:ext>
    </p:extLst>
  </p:cSld>
</p:sld>
</file>

<file path=ppt/slides/slide19.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5AFE456-7AA3-4A9D-9004-939249C54FC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38E338-EF5F-44A5-88DE-52638F456D9A}"/>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0A7C2252-16F6-4F66-A3C0-B7EBD01DDF6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POWER ITERATION</a:t>
            </a:r>
          </a:p>
        </p:txBody>
      </p:sp>
      <p:sp>
        <p:nvSpPr>
          <p:cNvPr id="4" name="">
            <a:extLst xmlns:a="http://schemas.openxmlformats.org/drawingml/2006/main">
              <a:ext uri="{FF2B5EF4-FFF2-40B4-BE49-F238E27FC236}">
                <a16:creationId xmlns:a16="http://schemas.microsoft.com/office/drawing/2014/main" id="{9B10CE8B-EB11-4CEF-AA29-E9D59669AD3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19</a:t>
            </a:r>
          </a:p>
        </p:txBody>
      </p:sp>
      <p:sp>
        <p:nvSpPr>
          <p:cNvPr id="5" name="">
            <a:extLst xmlns:a="http://schemas.openxmlformats.org/drawingml/2006/main">
              <a:ext uri="{FF2B5EF4-FFF2-40B4-BE49-F238E27FC236}">
                <a16:creationId xmlns:a16="http://schemas.microsoft.com/office/drawing/2014/main" id="{80D51761-FBF4-4CFA-926E-F964E0C256C4}"/>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2E240E-D9A2-4B9A-A2BD-2529C3A0EF8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Repeat, normalize, and check the direction.</a:t>
            </a:r>
          </a:p>
        </p:txBody>
      </p:sp>
      <p:sp>
        <p:nvSpPr>
          <p:cNvPr id="7" name="">
            <a:extLst xmlns:a="http://schemas.openxmlformats.org/drawingml/2006/main">
              <a:ext uri="{FF2B5EF4-FFF2-40B4-BE49-F238E27FC236}">
                <a16:creationId xmlns:a16="http://schemas.microsoft.com/office/drawing/2014/main" id="{112F5412-4208-41F3-AFC1-7AD89C032222}"/>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 useful method when one eigenvalue strictly dominates in magnitude and the start excites its mode.</a:t>
            </a:r>
          </a:p>
        </p:txBody>
      </p:sp>
      <p:sp>
        <p:nvSpPr>
          <p:cNvPr id="8" name="">
            <a:extLst xmlns:a="http://schemas.openxmlformats.org/drawingml/2006/main">
              <a:ext uri="{FF2B5EF4-FFF2-40B4-BE49-F238E27FC236}">
                <a16:creationId xmlns:a16="http://schemas.microsoft.com/office/drawing/2014/main" id="{A52F5107-02F3-4412-B65C-52071336F53F}"/>
              </a:ext>
            </a:extLst>
          </p:cNvPr>
          <p:cNvSpPr>
            <a:spLocks xmlns:a="http://schemas.openxmlformats.org/drawingml/2006/main" noGrp="1"/>
          </p:cNvSpPr>
          <p:nvPr/>
        </p:nvSpPr>
        <p:spPr>
          <a:xfrm xmlns:a="http://schemas.openxmlformats.org/drawingml/2006/main">
            <a:off x="6667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74F7BA0-7684-498B-B9B0-15DA66A64F06}"/>
              </a:ext>
            </a:extLst>
          </p:cNvPr>
          <p:cNvSpPr>
            <a:spLocks xmlns:a="http://schemas.openxmlformats.org/drawingml/2006/main" noGrp="1"/>
          </p:cNvSpPr>
          <p:nvPr/>
        </p:nvSpPr>
        <p:spPr>
          <a:xfrm xmlns:a="http://schemas.openxmlformats.org/drawingml/2006/main">
            <a:off x="7429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Nonzero x</a:t>
            </a:r>
          </a:p>
        </p:txBody>
      </p:sp>
      <p:sp>
        <p:nvSpPr>
          <p:cNvPr id="10" name="">
            <a:extLst xmlns:a="http://schemas.openxmlformats.org/drawingml/2006/main">
              <a:ext uri="{FF2B5EF4-FFF2-40B4-BE49-F238E27FC236}">
                <a16:creationId xmlns:a16="http://schemas.microsoft.com/office/drawing/2014/main" id="{7DD824D2-C6BC-4EA6-BA10-35F4ADD417AD}"/>
              </a:ext>
            </a:extLst>
          </p:cNvPr>
          <p:cNvSpPr>
            <a:spLocks xmlns:a="http://schemas.openxmlformats.org/drawingml/2006/main" noGrp="1"/>
          </p:cNvSpPr>
          <p:nvPr/>
        </p:nvSpPr>
        <p:spPr>
          <a:xfrm xmlns:a="http://schemas.openxmlformats.org/drawingml/2006/main">
            <a:off x="29908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1" name="">
            <a:extLst xmlns:a="http://schemas.openxmlformats.org/drawingml/2006/main">
              <a:ext uri="{FF2B5EF4-FFF2-40B4-BE49-F238E27FC236}">
                <a16:creationId xmlns:a16="http://schemas.microsoft.com/office/drawing/2014/main" id="{662176EB-4232-419B-9692-EE6688ADF19F}"/>
              </a:ext>
            </a:extLst>
          </p:cNvPr>
          <p:cNvSpPr>
            <a:spLocks xmlns:a="http://schemas.openxmlformats.org/drawingml/2006/main" noGrp="1"/>
          </p:cNvSpPr>
          <p:nvPr/>
        </p:nvSpPr>
        <p:spPr>
          <a:xfrm xmlns:a="http://schemas.openxmlformats.org/drawingml/2006/main">
            <a:off x="34480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AD4F03DC-8E56-464B-96F1-3F1DC7DF89EB}"/>
              </a:ext>
            </a:extLst>
          </p:cNvPr>
          <p:cNvSpPr>
            <a:spLocks xmlns:a="http://schemas.openxmlformats.org/drawingml/2006/main" noGrp="1"/>
          </p:cNvSpPr>
          <p:nvPr/>
        </p:nvSpPr>
        <p:spPr>
          <a:xfrm xmlns:a="http://schemas.openxmlformats.org/drawingml/2006/main">
            <a:off x="35242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Multiply Ax</a:t>
            </a:r>
          </a:p>
        </p:txBody>
      </p:sp>
      <p:sp>
        <p:nvSpPr>
          <p:cNvPr id="13" name="">
            <a:extLst xmlns:a="http://schemas.openxmlformats.org/drawingml/2006/main">
              <a:ext uri="{FF2B5EF4-FFF2-40B4-BE49-F238E27FC236}">
                <a16:creationId xmlns:a16="http://schemas.microsoft.com/office/drawing/2014/main" id="{60CDA7CC-2E18-422D-8F44-17AD70AD076F}"/>
              </a:ext>
            </a:extLst>
          </p:cNvPr>
          <p:cNvSpPr>
            <a:spLocks xmlns:a="http://schemas.openxmlformats.org/drawingml/2006/main" noGrp="1"/>
          </p:cNvSpPr>
          <p:nvPr/>
        </p:nvSpPr>
        <p:spPr>
          <a:xfrm xmlns:a="http://schemas.openxmlformats.org/drawingml/2006/main">
            <a:off x="57721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4" name="">
            <a:extLst xmlns:a="http://schemas.openxmlformats.org/drawingml/2006/main">
              <a:ext uri="{FF2B5EF4-FFF2-40B4-BE49-F238E27FC236}">
                <a16:creationId xmlns:a16="http://schemas.microsoft.com/office/drawing/2014/main" id="{4971C6FC-EF59-4653-9296-3A8288DC34B4}"/>
              </a:ext>
            </a:extLst>
          </p:cNvPr>
          <p:cNvSpPr>
            <a:spLocks xmlns:a="http://schemas.openxmlformats.org/drawingml/2006/main" noGrp="1"/>
          </p:cNvSpPr>
          <p:nvPr/>
        </p:nvSpPr>
        <p:spPr>
          <a:xfrm xmlns:a="http://schemas.openxmlformats.org/drawingml/2006/main">
            <a:off x="62293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1F59A1E3-80B4-4563-AB24-60300301E1CA}"/>
              </a:ext>
            </a:extLst>
          </p:cNvPr>
          <p:cNvSpPr>
            <a:spLocks xmlns:a="http://schemas.openxmlformats.org/drawingml/2006/main" noGrp="1"/>
          </p:cNvSpPr>
          <p:nvPr/>
        </p:nvSpPr>
        <p:spPr>
          <a:xfrm xmlns:a="http://schemas.openxmlformats.org/drawingml/2006/main">
            <a:off x="63055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Normalize</a:t>
            </a:r>
          </a:p>
        </p:txBody>
      </p:sp>
      <p:sp>
        <p:nvSpPr>
          <p:cNvPr id="16" name="">
            <a:extLst xmlns:a="http://schemas.openxmlformats.org/drawingml/2006/main">
              <a:ext uri="{FF2B5EF4-FFF2-40B4-BE49-F238E27FC236}">
                <a16:creationId xmlns:a16="http://schemas.microsoft.com/office/drawing/2014/main" id="{94FC43D6-68C5-4D1C-B9D9-7D3D237670B4}"/>
              </a:ext>
            </a:extLst>
          </p:cNvPr>
          <p:cNvSpPr>
            <a:spLocks xmlns:a="http://schemas.openxmlformats.org/drawingml/2006/main" noGrp="1"/>
          </p:cNvSpPr>
          <p:nvPr/>
        </p:nvSpPr>
        <p:spPr>
          <a:xfrm xmlns:a="http://schemas.openxmlformats.org/drawingml/2006/main">
            <a:off x="8553450" y="248602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17" name="">
            <a:extLst xmlns:a="http://schemas.openxmlformats.org/drawingml/2006/main">
              <a:ext uri="{FF2B5EF4-FFF2-40B4-BE49-F238E27FC236}">
                <a16:creationId xmlns:a16="http://schemas.microsoft.com/office/drawing/2014/main" id="{E876AA1B-EB98-435F-AA5A-5499B833BB91}"/>
              </a:ext>
            </a:extLst>
          </p:cNvPr>
          <p:cNvSpPr>
            <a:spLocks xmlns:a="http://schemas.openxmlformats.org/drawingml/2006/main" noGrp="1"/>
          </p:cNvSpPr>
          <p:nvPr/>
        </p:nvSpPr>
        <p:spPr>
          <a:xfrm xmlns:a="http://schemas.openxmlformats.org/drawingml/2006/main">
            <a:off x="9010650" y="233362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065FAE3E-A38D-4515-93C7-3E09F8032E04}"/>
              </a:ext>
            </a:extLst>
          </p:cNvPr>
          <p:cNvSpPr>
            <a:spLocks xmlns:a="http://schemas.openxmlformats.org/drawingml/2006/main" noGrp="1"/>
          </p:cNvSpPr>
          <p:nvPr/>
        </p:nvSpPr>
        <p:spPr>
          <a:xfrm xmlns:a="http://schemas.openxmlformats.org/drawingml/2006/main">
            <a:off x="9086850" y="244792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Repeat</a:t>
            </a:r>
          </a:p>
        </p:txBody>
      </p:sp>
      <p:sp>
        <p:nvSpPr>
          <p:cNvPr id="19" name="">
            <a:extLst xmlns:a="http://schemas.openxmlformats.org/drawingml/2006/main">
              <a:ext uri="{FF2B5EF4-FFF2-40B4-BE49-F238E27FC236}">
                <a16:creationId xmlns:a16="http://schemas.microsoft.com/office/drawing/2014/main" id="{4F17AC2E-E4D4-4B29-B9E1-89DF32389714}"/>
              </a:ext>
            </a:extLst>
          </p:cNvPr>
          <p:cNvSpPr>
            <a:spLocks xmlns:a="http://schemas.openxmlformats.org/drawingml/2006/main" noGrp="1"/>
          </p:cNvSpPr>
          <p:nvPr/>
        </p:nvSpPr>
        <p:spPr>
          <a:xfrm xmlns:a="http://schemas.openxmlformats.org/drawingml/2006/main">
            <a:off x="666750" y="3762375"/>
            <a:ext cx="2266950" cy="742950"/>
          </a:xfrm>
          <a:prstGeom xmlns:a="http://schemas.openxmlformats.org/drawingml/2006/main" prst="roundRect">
            <a:avLst>
              <a:gd name="adj" fmla="val 10256"/>
            </a:avLst>
          </a:prstGeom>
          <a:solidFill xmlns:a="http://schemas.openxmlformats.org/drawingml/2006/main">
            <a:srgbClr val="154D57"/>
          </a:solidFill>
          <a:ln xmlns:a="http://schemas.openxmlformats.org/drawingml/2006/main" w="9525">
            <a:solidFill>
              <a:srgbClr val="D9A441"/>
            </a:solidFill>
            <a:prstDash val="solid"/>
          </a:ln>
        </p:spPr>
      </p:sp>
      <p:sp>
        <p:nvSpPr>
          <p:cNvPr id="20" name="">
            <a:extLst xmlns:a="http://schemas.openxmlformats.org/drawingml/2006/main">
              <a:ext uri="{FF2B5EF4-FFF2-40B4-BE49-F238E27FC236}">
                <a16:creationId xmlns:a16="http://schemas.microsoft.com/office/drawing/2014/main" id="{1E1E0141-14FA-4894-9FFA-79CD6DB10E0D}"/>
              </a:ext>
            </a:extLst>
          </p:cNvPr>
          <p:cNvSpPr>
            <a:spLocks xmlns:a="http://schemas.openxmlformats.org/drawingml/2006/main" noGrp="1"/>
          </p:cNvSpPr>
          <p:nvPr/>
        </p:nvSpPr>
        <p:spPr>
          <a:xfrm xmlns:a="http://schemas.openxmlformats.org/drawingml/2006/main">
            <a:off x="7429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Candidate u</a:t>
            </a:r>
          </a:p>
        </p:txBody>
      </p:sp>
      <p:sp>
        <p:nvSpPr>
          <p:cNvPr id="21" name="">
            <a:extLst xmlns:a="http://schemas.openxmlformats.org/drawingml/2006/main">
              <a:ext uri="{FF2B5EF4-FFF2-40B4-BE49-F238E27FC236}">
                <a16:creationId xmlns:a16="http://schemas.microsoft.com/office/drawing/2014/main" id="{8E7BCC41-C2BD-4B4C-908A-FCA6AAE2B700}"/>
              </a:ext>
            </a:extLst>
          </p:cNvPr>
          <p:cNvSpPr>
            <a:spLocks xmlns:a="http://schemas.openxmlformats.org/drawingml/2006/main" noGrp="1"/>
          </p:cNvSpPr>
          <p:nvPr/>
        </p:nvSpPr>
        <p:spPr>
          <a:xfrm xmlns:a="http://schemas.openxmlformats.org/drawingml/2006/main">
            <a:off x="29908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2" name="">
            <a:extLst xmlns:a="http://schemas.openxmlformats.org/drawingml/2006/main">
              <a:ext uri="{FF2B5EF4-FFF2-40B4-BE49-F238E27FC236}">
                <a16:creationId xmlns:a16="http://schemas.microsoft.com/office/drawing/2014/main" id="{A531076C-4E75-4F81-94EF-F3CE8276BFBA}"/>
              </a:ext>
            </a:extLst>
          </p:cNvPr>
          <p:cNvSpPr>
            <a:spLocks xmlns:a="http://schemas.openxmlformats.org/drawingml/2006/main" noGrp="1"/>
          </p:cNvSpPr>
          <p:nvPr/>
        </p:nvSpPr>
        <p:spPr>
          <a:xfrm xmlns:a="http://schemas.openxmlformats.org/drawingml/2006/main">
            <a:off x="34480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3" name="">
            <a:extLst xmlns:a="http://schemas.openxmlformats.org/drawingml/2006/main">
              <a:ext uri="{FF2B5EF4-FFF2-40B4-BE49-F238E27FC236}">
                <a16:creationId xmlns:a16="http://schemas.microsoft.com/office/drawing/2014/main" id="{6F8A7849-0142-40B4-90E7-7A1A758A9269}"/>
              </a:ext>
            </a:extLst>
          </p:cNvPr>
          <p:cNvSpPr>
            <a:spLocks xmlns:a="http://schemas.openxmlformats.org/drawingml/2006/main" noGrp="1"/>
          </p:cNvSpPr>
          <p:nvPr/>
        </p:nvSpPr>
        <p:spPr>
          <a:xfrm xmlns:a="http://schemas.openxmlformats.org/drawingml/2006/main">
            <a:off x="35242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Estimate λ</a:t>
            </a:r>
          </a:p>
        </p:txBody>
      </p:sp>
      <p:sp>
        <p:nvSpPr>
          <p:cNvPr id="24" name="">
            <a:extLst xmlns:a="http://schemas.openxmlformats.org/drawingml/2006/main">
              <a:ext uri="{FF2B5EF4-FFF2-40B4-BE49-F238E27FC236}">
                <a16:creationId xmlns:a16="http://schemas.microsoft.com/office/drawing/2014/main" id="{5E9A512D-1DF0-45F4-95A4-D5AEEB087CF0}"/>
              </a:ext>
            </a:extLst>
          </p:cNvPr>
          <p:cNvSpPr>
            <a:spLocks xmlns:a="http://schemas.openxmlformats.org/drawingml/2006/main" noGrp="1"/>
          </p:cNvSpPr>
          <p:nvPr/>
        </p:nvSpPr>
        <p:spPr>
          <a:xfrm xmlns:a="http://schemas.openxmlformats.org/drawingml/2006/main">
            <a:off x="57721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5" name="">
            <a:extLst xmlns:a="http://schemas.openxmlformats.org/drawingml/2006/main">
              <a:ext uri="{FF2B5EF4-FFF2-40B4-BE49-F238E27FC236}">
                <a16:creationId xmlns:a16="http://schemas.microsoft.com/office/drawing/2014/main" id="{2ADCDFB6-A2BF-4895-AE95-26E9A4920D07}"/>
              </a:ext>
            </a:extLst>
          </p:cNvPr>
          <p:cNvSpPr>
            <a:spLocks xmlns:a="http://schemas.openxmlformats.org/drawingml/2006/main" noGrp="1"/>
          </p:cNvSpPr>
          <p:nvPr/>
        </p:nvSpPr>
        <p:spPr>
          <a:xfrm xmlns:a="http://schemas.openxmlformats.org/drawingml/2006/main">
            <a:off x="62293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6" name="">
            <a:extLst xmlns:a="http://schemas.openxmlformats.org/drawingml/2006/main">
              <a:ext uri="{FF2B5EF4-FFF2-40B4-BE49-F238E27FC236}">
                <a16:creationId xmlns:a16="http://schemas.microsoft.com/office/drawing/2014/main" id="{033C7C86-F6D9-44D0-8E1D-97BF21683B9A}"/>
              </a:ext>
            </a:extLst>
          </p:cNvPr>
          <p:cNvSpPr>
            <a:spLocks xmlns:a="http://schemas.openxmlformats.org/drawingml/2006/main" noGrp="1"/>
          </p:cNvSpPr>
          <p:nvPr/>
        </p:nvSpPr>
        <p:spPr>
          <a:xfrm xmlns:a="http://schemas.openxmlformats.org/drawingml/2006/main">
            <a:off x="63055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Check residual</a:t>
            </a:r>
          </a:p>
        </p:txBody>
      </p:sp>
      <p:sp>
        <p:nvSpPr>
          <p:cNvPr id="27" name="">
            <a:extLst xmlns:a="http://schemas.openxmlformats.org/drawingml/2006/main">
              <a:ext uri="{FF2B5EF4-FFF2-40B4-BE49-F238E27FC236}">
                <a16:creationId xmlns:a16="http://schemas.microsoft.com/office/drawing/2014/main" id="{CEBA2F1B-7E2D-4C72-B45B-F7FA0C4AB3E3}"/>
              </a:ext>
            </a:extLst>
          </p:cNvPr>
          <p:cNvSpPr>
            <a:spLocks xmlns:a="http://schemas.openxmlformats.org/drawingml/2006/main" noGrp="1"/>
          </p:cNvSpPr>
          <p:nvPr/>
        </p:nvSpPr>
        <p:spPr>
          <a:xfrm xmlns:a="http://schemas.openxmlformats.org/drawingml/2006/main">
            <a:off x="8553450" y="3914775"/>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D9A441"/>
                </a:solidFill>
              </a:defRPr>
            </a:pPr>
            <a:r>
              <a:rPr sz="1950" b="1">
                <a:solidFill>
                  <a:srgbClr val="D9A441"/>
                </a:solidFill>
              </a:rPr>
              <a:t>→</a:t>
            </a:r>
          </a:p>
        </p:txBody>
      </p:sp>
      <p:sp>
        <p:nvSpPr>
          <p:cNvPr id="28" name="">
            <a:extLst xmlns:a="http://schemas.openxmlformats.org/drawingml/2006/main">
              <a:ext uri="{FF2B5EF4-FFF2-40B4-BE49-F238E27FC236}">
                <a16:creationId xmlns:a16="http://schemas.microsoft.com/office/drawing/2014/main" id="{89F99DB6-9071-44FA-9471-407DB7A1B63F}"/>
              </a:ext>
            </a:extLst>
          </p:cNvPr>
          <p:cNvSpPr>
            <a:spLocks xmlns:a="http://schemas.openxmlformats.org/drawingml/2006/main" noGrp="1"/>
          </p:cNvSpPr>
          <p:nvPr/>
        </p:nvSpPr>
        <p:spPr>
          <a:xfrm xmlns:a="http://schemas.openxmlformats.org/drawingml/2006/main">
            <a:off x="9010650" y="3762375"/>
            <a:ext cx="2266950" cy="742950"/>
          </a:xfrm>
          <a:prstGeom xmlns:a="http://schemas.openxmlformats.org/drawingml/2006/main" prst="roundRect">
            <a:avLst>
              <a:gd name="adj" fmla="val 10256"/>
            </a:avLst>
          </a:prstGeom>
          <a:solidFill xmlns:a="http://schemas.openxmlformats.org/drawingml/2006/main">
            <a:srgbClr val="0D2A43"/>
          </a:solidFill>
          <a:ln xmlns:a="http://schemas.openxmlformats.org/drawingml/2006/main" w="9525">
            <a:solidFill>
              <a:srgbClr val="22B8A7"/>
            </a:solidFill>
            <a:prstDash val="solid"/>
          </a:ln>
        </p:spPr>
      </p:sp>
      <p:sp>
        <p:nvSpPr>
          <p:cNvPr id="29" name="">
            <a:extLst xmlns:a="http://schemas.openxmlformats.org/drawingml/2006/main">
              <a:ext uri="{FF2B5EF4-FFF2-40B4-BE49-F238E27FC236}">
                <a16:creationId xmlns:a16="http://schemas.microsoft.com/office/drawing/2014/main" id="{CB9AED29-A8F3-46A5-8F0C-DF342B17433D}"/>
              </a:ext>
            </a:extLst>
          </p:cNvPr>
          <p:cNvSpPr>
            <a:spLocks xmlns:a="http://schemas.openxmlformats.org/drawingml/2006/main" noGrp="1"/>
          </p:cNvSpPr>
          <p:nvPr/>
        </p:nvSpPr>
        <p:spPr>
          <a:xfrm xmlns:a="http://schemas.openxmlformats.org/drawingml/2006/main">
            <a:off x="9086850" y="3876675"/>
            <a:ext cx="211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7F2E8"/>
                </a:solidFill>
              </a:defRPr>
            </a:pPr>
            <a:r>
              <a:rPr sz="1500" b="1">
                <a:solidFill>
                  <a:srgbClr val="F7F2E8"/>
                </a:solidFill>
              </a:rPr>
              <a:t>Compare modes</a:t>
            </a:r>
          </a:p>
        </p:txBody>
      </p:sp>
      <p:sp>
        <p:nvSpPr>
          <p:cNvPr id="30" name="">
            <a:extLst xmlns:a="http://schemas.openxmlformats.org/drawingml/2006/main">
              <a:ext uri="{FF2B5EF4-FFF2-40B4-BE49-F238E27FC236}">
                <a16:creationId xmlns:a16="http://schemas.microsoft.com/office/drawing/2014/main" id="{2E586133-C59C-497B-8D2B-A084446F2E34}"/>
              </a:ext>
            </a:extLst>
          </p:cNvPr>
          <p:cNvSpPr>
            <a:spLocks xmlns:a="http://schemas.openxmlformats.org/drawingml/2006/main" noGrp="1"/>
          </p:cNvSpPr>
          <p:nvPr/>
        </p:nvSpPr>
        <p:spPr>
          <a:xfrm xmlns:a="http://schemas.openxmlformats.org/drawingml/2006/main">
            <a:off x="809625" y="53625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75" b="1">
                <a:solidFill>
                  <a:srgbClr val="D9A441"/>
                </a:solidFill>
              </a:defRPr>
            </a:pPr>
            <a:r>
              <a:rPr sz="1875" b="1">
                <a:solidFill>
                  <a:srgbClr val="D9A441"/>
                </a:solidFill>
              </a:rPr>
              <a:t>Convergence needs assumptions—not just repeated computation.</a:t>
            </a:r>
          </a:p>
        </p:txBody>
      </p:sp>
    </p:spTree>
    <p:extLst>
      <p:ext uri="{BB962C8B-B14F-4D97-AF65-F5344CB8AC3E}">
        <p14:creationId xmlns:p14="http://schemas.microsoft.com/office/powerpoint/2010/main" val="482950221"/>
      </p:ext>
    </p:extLst>
  </p:cSld>
</p:sld>
</file>

<file path=ppt/slides/slide20.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FALSE CONVERGENCE</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20</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stable quotient need not mean convergence.</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For A = diag(1, −1), start with equal nonzero coordinates and normalize.</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RAYLEIGH QUOTIENT</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uᵀAu = 0</a:t>
            </a:r>
          </a:p>
          <a:p xmlns:a="http://schemas.openxmlformats.org/drawingml/2006/main">
            <a:pPr algn="ctr">
              <a:buNone/>
              <a:defRPr sz="2250" b="1">
                <a:solidFill>
                  <a:srgbClr val="F7F2E8"/>
                </a:solidFill>
              </a:defRPr>
            </a:pPr>
            <a:r>
              <a:rPr sz="2250" b="1">
                <a:solidFill>
                  <a:srgbClr val="F7F2E8"/>
                </a:solidFill>
              </a:rPr>
              <a:t>at every iteration</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The printed estimate looks stable</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RESIDUAL</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‖Au − 0u‖₂ = 1</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The candidate is not an eigenpair</a:t>
            </a:r>
          </a:p>
        </p:txBody>
      </p:sp>
    </p:spTree>
    <p:extLst>
      <p:ext uri="{BB962C8B-B14F-4D97-AF65-F5344CB8AC3E}">
        <p14:creationId xmlns:p14="http://schemas.microsoft.com/office/powerpoint/2010/main" val="1848015540"/>
      </p:ext>
    </p:extLst>
  </p:cSld>
</p:sld>
</file>

<file path=ppt/slides/slide2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827E4D3-E758-4E35-ACEF-392B525A81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86A3D3-718F-4694-A610-B654E03EF751}"/>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768098C-8FFA-4F56-8A8D-B40C8A139C3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PCA INTUITION</a:t>
            </a:r>
          </a:p>
        </p:txBody>
      </p:sp>
      <p:sp>
        <p:nvSpPr>
          <p:cNvPr id="4" name="">
            <a:extLst xmlns:a="http://schemas.openxmlformats.org/drawingml/2006/main">
              <a:ext uri="{FF2B5EF4-FFF2-40B4-BE49-F238E27FC236}">
                <a16:creationId xmlns:a16="http://schemas.microsoft.com/office/drawing/2014/main" id="{7222C629-6F57-44E1-98C2-D3826438DBC1}"/>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21</a:t>
            </a:r>
          </a:p>
        </p:txBody>
      </p:sp>
      <p:sp>
        <p:nvSpPr>
          <p:cNvPr id="5" name="">
            <a:extLst xmlns:a="http://schemas.openxmlformats.org/drawingml/2006/main">
              <a:ext uri="{FF2B5EF4-FFF2-40B4-BE49-F238E27FC236}">
                <a16:creationId xmlns:a16="http://schemas.microsoft.com/office/drawing/2014/main" id="{185376EA-7080-4C69-8ACA-CC7DCFAC51F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1E2E96C-4130-46CB-B7CB-13819114FA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PCA finds directions of variation—not importance.</a:t>
            </a:r>
          </a:p>
        </p:txBody>
      </p:sp>
      <p:sp>
        <p:nvSpPr>
          <p:cNvPr id="7" name="">
            <a:extLst xmlns:a="http://schemas.openxmlformats.org/drawingml/2006/main">
              <a:ext uri="{FF2B5EF4-FFF2-40B4-BE49-F238E27FC236}">
                <a16:creationId xmlns:a16="http://schemas.microsoft.com/office/drawing/2014/main" id="{0452185E-2ACE-44B1-AF28-066959F6482E}"/>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Principal component analysis uses eigenvectors of a covariance matrix.</a:t>
            </a:r>
          </a:p>
        </p:txBody>
      </p:sp>
      <p:sp>
        <p:nvSpPr>
          <p:cNvPr id="8" name="">
            <a:extLst xmlns:a="http://schemas.openxmlformats.org/drawingml/2006/main">
              <a:ext uri="{FF2B5EF4-FFF2-40B4-BE49-F238E27FC236}">
                <a16:creationId xmlns:a16="http://schemas.microsoft.com/office/drawing/2014/main" id="{350017FF-10AC-49D1-92AE-D7F3F5F89DE3}"/>
              </a:ext>
            </a:extLst>
          </p:cNvPr>
          <p:cNvSpPr>
            <a:spLocks xmlns:a="http://schemas.openxmlformats.org/drawingml/2006/main" noGrp="1"/>
          </p:cNvSpPr>
          <p:nvPr/>
        </p:nvSpPr>
        <p:spPr>
          <a:xfrm xmlns:a="http://schemas.openxmlformats.org/drawingml/2006/main">
            <a:off x="55245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DFAB0C8-11E1-49F1-94E7-0857FD2A00EB}"/>
              </a:ext>
            </a:extLst>
          </p:cNvPr>
          <p:cNvSpPr>
            <a:spLocks xmlns:a="http://schemas.openxmlformats.org/drawingml/2006/main" noGrp="1"/>
          </p:cNvSpPr>
          <p:nvPr/>
        </p:nvSpPr>
        <p:spPr>
          <a:xfrm xmlns:a="http://schemas.openxmlformats.org/drawingml/2006/main">
            <a:off x="76200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CENTER</a:t>
            </a:r>
          </a:p>
        </p:txBody>
      </p:sp>
      <p:sp>
        <p:nvSpPr>
          <p:cNvPr id="10" name="">
            <a:extLst xmlns:a="http://schemas.openxmlformats.org/drawingml/2006/main">
              <a:ext uri="{FF2B5EF4-FFF2-40B4-BE49-F238E27FC236}">
                <a16:creationId xmlns:a16="http://schemas.microsoft.com/office/drawing/2014/main" id="{31688381-614E-405B-8EC0-A439FAE0DAA9}"/>
              </a:ext>
            </a:extLst>
          </p:cNvPr>
          <p:cNvSpPr>
            <a:spLocks xmlns:a="http://schemas.openxmlformats.org/drawingml/2006/main" noGrp="1"/>
          </p:cNvSpPr>
          <p:nvPr/>
        </p:nvSpPr>
        <p:spPr>
          <a:xfrm xmlns:a="http://schemas.openxmlformats.org/drawingml/2006/main">
            <a:off x="76200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Subtract each variable’s mean.</a:t>
            </a:r>
          </a:p>
        </p:txBody>
      </p:sp>
      <p:sp>
        <p:nvSpPr>
          <p:cNvPr id="11" name="">
            <a:extLst xmlns:a="http://schemas.openxmlformats.org/drawingml/2006/main">
              <a:ext uri="{FF2B5EF4-FFF2-40B4-BE49-F238E27FC236}">
                <a16:creationId xmlns:a16="http://schemas.microsoft.com/office/drawing/2014/main" id="{F3A23DE4-C2F6-4114-ABAD-DD0741506A55}"/>
              </a:ext>
            </a:extLst>
          </p:cNvPr>
          <p:cNvSpPr>
            <a:spLocks xmlns:a="http://schemas.openxmlformats.org/drawingml/2006/main" noGrp="1"/>
          </p:cNvSpPr>
          <p:nvPr/>
        </p:nvSpPr>
        <p:spPr>
          <a:xfrm xmlns:a="http://schemas.openxmlformats.org/drawingml/2006/main">
            <a:off x="617220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51109CE7-9C61-4DDA-A024-357E13122AB6}"/>
              </a:ext>
            </a:extLst>
          </p:cNvPr>
          <p:cNvSpPr>
            <a:spLocks xmlns:a="http://schemas.openxmlformats.org/drawingml/2006/main" noGrp="1"/>
          </p:cNvSpPr>
          <p:nvPr/>
        </p:nvSpPr>
        <p:spPr>
          <a:xfrm xmlns:a="http://schemas.openxmlformats.org/drawingml/2006/main">
            <a:off x="638175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COVARIANCE</a:t>
            </a:r>
          </a:p>
        </p:txBody>
      </p:sp>
      <p:sp>
        <p:nvSpPr>
          <p:cNvPr id="13" name="">
            <a:extLst xmlns:a="http://schemas.openxmlformats.org/drawingml/2006/main">
              <a:ext uri="{FF2B5EF4-FFF2-40B4-BE49-F238E27FC236}">
                <a16:creationId xmlns:a16="http://schemas.microsoft.com/office/drawing/2014/main" id="{0E163BAB-D933-426E-B22D-6FE97FC852CA}"/>
              </a:ext>
            </a:extLst>
          </p:cNvPr>
          <p:cNvSpPr>
            <a:spLocks xmlns:a="http://schemas.openxmlformats.org/drawingml/2006/main" noGrp="1"/>
          </p:cNvSpPr>
          <p:nvPr/>
        </p:nvSpPr>
        <p:spPr>
          <a:xfrm xmlns:a="http://schemas.openxmlformats.org/drawingml/2006/main">
            <a:off x="638175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Measure how centered variables vary together.</a:t>
            </a:r>
          </a:p>
        </p:txBody>
      </p:sp>
      <p:sp>
        <p:nvSpPr>
          <p:cNvPr id="14" name="">
            <a:extLst xmlns:a="http://schemas.openxmlformats.org/drawingml/2006/main">
              <a:ext uri="{FF2B5EF4-FFF2-40B4-BE49-F238E27FC236}">
                <a16:creationId xmlns:a16="http://schemas.microsoft.com/office/drawing/2014/main" id="{84907878-1312-4850-885E-792D96904DCE}"/>
              </a:ext>
            </a:extLst>
          </p:cNvPr>
          <p:cNvSpPr>
            <a:spLocks xmlns:a="http://schemas.openxmlformats.org/drawingml/2006/main" noGrp="1"/>
          </p:cNvSpPr>
          <p:nvPr/>
        </p:nvSpPr>
        <p:spPr>
          <a:xfrm xmlns:a="http://schemas.openxmlformats.org/drawingml/2006/main">
            <a:off x="552450" y="3667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F97A318-CAC8-4D31-8F0F-70192F6EEAC1}"/>
              </a:ext>
            </a:extLst>
          </p:cNvPr>
          <p:cNvSpPr>
            <a:spLocks xmlns:a="http://schemas.openxmlformats.org/drawingml/2006/main" noGrp="1"/>
          </p:cNvSpPr>
          <p:nvPr/>
        </p:nvSpPr>
        <p:spPr>
          <a:xfrm xmlns:a="http://schemas.openxmlformats.org/drawingml/2006/main">
            <a:off x="76200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EIGENVECTORS</a:t>
            </a:r>
          </a:p>
        </p:txBody>
      </p:sp>
      <p:sp>
        <p:nvSpPr>
          <p:cNvPr id="16" name="">
            <a:extLst xmlns:a="http://schemas.openxmlformats.org/drawingml/2006/main">
              <a:ext uri="{FF2B5EF4-FFF2-40B4-BE49-F238E27FC236}">
                <a16:creationId xmlns:a16="http://schemas.microsoft.com/office/drawing/2014/main" id="{9A4FA51D-865D-4853-8A75-F966C2CA668F}"/>
              </a:ext>
            </a:extLst>
          </p:cNvPr>
          <p:cNvSpPr>
            <a:spLocks xmlns:a="http://schemas.openxmlformats.org/drawingml/2006/main" noGrp="1"/>
          </p:cNvSpPr>
          <p:nvPr/>
        </p:nvSpPr>
        <p:spPr>
          <a:xfrm xmlns:a="http://schemas.openxmlformats.org/drawingml/2006/main">
            <a:off x="76200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Identify perpendicular principal directions.</a:t>
            </a:r>
          </a:p>
        </p:txBody>
      </p:sp>
      <p:sp>
        <p:nvSpPr>
          <p:cNvPr id="17" name="">
            <a:extLst xmlns:a="http://schemas.openxmlformats.org/drawingml/2006/main">
              <a:ext uri="{FF2B5EF4-FFF2-40B4-BE49-F238E27FC236}">
                <a16:creationId xmlns:a16="http://schemas.microsoft.com/office/drawing/2014/main" id="{851DFE5C-06D3-4537-9109-CD358C0FDC2C}"/>
              </a:ext>
            </a:extLst>
          </p:cNvPr>
          <p:cNvSpPr>
            <a:spLocks xmlns:a="http://schemas.openxmlformats.org/drawingml/2006/main" noGrp="1"/>
          </p:cNvSpPr>
          <p:nvPr/>
        </p:nvSpPr>
        <p:spPr>
          <a:xfrm xmlns:a="http://schemas.openxmlformats.org/drawingml/2006/main">
            <a:off x="6172200" y="3667125"/>
            <a:ext cx="5238750" cy="1219200"/>
          </a:xfrm>
          <a:prstGeom xmlns:a="http://schemas.openxmlformats.org/drawingml/2006/main" prst="roundRect">
            <a:avLst>
              <a:gd name="adj" fmla="val 6250"/>
            </a:avLst>
          </a:prstGeom>
          <a:solidFill xmlns:a="http://schemas.openxmlformats.org/drawingml/2006/main">
            <a:srgbClr val="154D57"/>
          </a:solidFill>
          <a:ln xmlns:a="http://schemas.openxmlformats.org/drawingml/2006/main" w="9525">
            <a:solidFill>
              <a:srgbClr val="D9A441"/>
            </a:solidFill>
            <a:prstDash val="solid"/>
          </a:ln>
        </p:spPr>
      </p:sp>
      <p:sp>
        <p:nvSpPr>
          <p:cNvPr id="18" name="">
            <a:extLst xmlns:a="http://schemas.openxmlformats.org/drawingml/2006/main">
              <a:ext uri="{FF2B5EF4-FFF2-40B4-BE49-F238E27FC236}">
                <a16:creationId xmlns:a16="http://schemas.microsoft.com/office/drawing/2014/main" id="{6051895B-F96E-4AFA-82E3-E390C2551AB5}"/>
              </a:ext>
            </a:extLst>
          </p:cNvPr>
          <p:cNvSpPr>
            <a:spLocks xmlns:a="http://schemas.openxmlformats.org/drawingml/2006/main" noGrp="1"/>
          </p:cNvSpPr>
          <p:nvPr/>
        </p:nvSpPr>
        <p:spPr>
          <a:xfrm xmlns:a="http://schemas.openxmlformats.org/drawingml/2006/main">
            <a:off x="638175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9A441"/>
                </a:solidFill>
              </a:defRPr>
            </a:pPr>
            <a:r>
              <a:rPr sz="1350" b="1">
                <a:solidFill>
                  <a:srgbClr val="D9A441"/>
                </a:solidFill>
              </a:rPr>
              <a:t>EIGENVALUES</a:t>
            </a:r>
          </a:p>
        </p:txBody>
      </p:sp>
      <p:sp>
        <p:nvSpPr>
          <p:cNvPr id="19" name="">
            <a:extLst xmlns:a="http://schemas.openxmlformats.org/drawingml/2006/main">
              <a:ext uri="{FF2B5EF4-FFF2-40B4-BE49-F238E27FC236}">
                <a16:creationId xmlns:a16="http://schemas.microsoft.com/office/drawing/2014/main" id="{75BC24E5-9423-426A-A54F-78106946FD5A}"/>
              </a:ext>
            </a:extLst>
          </p:cNvPr>
          <p:cNvSpPr>
            <a:spLocks xmlns:a="http://schemas.openxmlformats.org/drawingml/2006/main" noGrp="1"/>
          </p:cNvSpPr>
          <p:nvPr/>
        </p:nvSpPr>
        <p:spPr>
          <a:xfrm xmlns:a="http://schemas.openxmlformats.org/drawingml/2006/main">
            <a:off x="638175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Measure variance along those directions.</a:t>
            </a:r>
          </a:p>
        </p:txBody>
      </p:sp>
    </p:spTree>
    <p:extLst>
      <p:ext uri="{BB962C8B-B14F-4D97-AF65-F5344CB8AC3E}">
        <p14:creationId xmlns:p14="http://schemas.microsoft.com/office/powerpoint/2010/main" val="1623536807"/>
      </p:ext>
    </p:extLst>
  </p:cSld>
</p:sld>
</file>

<file path=ppt/slides/slide2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95D4F8A-B1E0-4597-9D42-FF14166EF97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1901E1-F5E8-4A40-BCFC-3B082E54619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908A2E7-FE18-4204-90B3-0D7F7E03E5CD}"/>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FOUR SYNTHETIC OBSERVATIONS</a:t>
            </a:r>
          </a:p>
        </p:txBody>
      </p:sp>
      <p:sp>
        <p:nvSpPr>
          <p:cNvPr id="4" name="">
            <a:extLst xmlns:a="http://schemas.openxmlformats.org/drawingml/2006/main">
              <a:ext uri="{FF2B5EF4-FFF2-40B4-BE49-F238E27FC236}">
                <a16:creationId xmlns:a16="http://schemas.microsoft.com/office/drawing/2014/main" id="{58E0FAB1-CEAA-4C40-B33E-70CDB8FC7DFD}"/>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22</a:t>
            </a:r>
          </a:p>
        </p:txBody>
      </p:sp>
      <p:sp>
        <p:nvSpPr>
          <p:cNvPr id="5" name="">
            <a:extLst xmlns:a="http://schemas.openxmlformats.org/drawingml/2006/main">
              <a:ext uri="{FF2B5EF4-FFF2-40B4-BE49-F238E27FC236}">
                <a16:creationId xmlns:a16="http://schemas.microsoft.com/office/drawing/2014/main" id="{34FCD115-31E3-430E-A044-EF6FC0F40A3E}"/>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251FFC67-716F-479E-B92B-C931D7ACDD2A}"/>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One principal direction captures most variation.</a:t>
            </a:r>
          </a:p>
        </p:txBody>
      </p:sp>
      <p:sp>
        <p:nvSpPr>
          <p:cNvPr id="7" name="">
            <a:extLst xmlns:a="http://schemas.openxmlformats.org/drawingml/2006/main">
              <a:ext uri="{FF2B5EF4-FFF2-40B4-BE49-F238E27FC236}">
                <a16:creationId xmlns:a16="http://schemas.microsoft.com/office/drawing/2014/main" id="{E0D9F7CB-EA64-4473-930E-4C8CEDBEE6E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Data: (2, 1), (3, 2), (4, 2.5), (5, 4). Center at (3.5, 2.375); divide by n − 1 = 3.</a:t>
            </a:r>
          </a:p>
        </p:txBody>
      </p:sp>
      <p:sp>
        <p:nvSpPr>
          <p:cNvPr id="8" name="">
            <a:extLst xmlns:a="http://schemas.openxmlformats.org/drawingml/2006/main">
              <a:ext uri="{FF2B5EF4-FFF2-40B4-BE49-F238E27FC236}">
                <a16:creationId xmlns:a16="http://schemas.microsoft.com/office/drawing/2014/main" id="{D945058C-8AAD-48E4-B4A4-C3B413C2C26A}"/>
              </a:ext>
            </a:extLst>
          </p:cNvPr>
          <p:cNvSpPr>
            <a:spLocks xmlns:a="http://schemas.openxmlformats.org/drawingml/2006/main" noGrp="1"/>
          </p:cNvSpPr>
          <p:nvPr/>
        </p:nvSpPr>
        <p:spPr>
          <a:xfrm xmlns:a="http://schemas.openxmlformats.org/drawingml/2006/main">
            <a:off x="647700" y="2238375"/>
            <a:ext cx="5095875" cy="2857500"/>
          </a:xfrm>
          <a:prstGeom xmlns:a="http://schemas.openxmlformats.org/drawingml/2006/main" prst="roundRect">
            <a:avLst>
              <a:gd name="adj" fmla="val 2667"/>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0F21FF99-BE4A-440B-A49F-0DEDC1DA80CC}"/>
              </a:ext>
            </a:extLst>
          </p:cNvPr>
          <p:cNvSpPr>
            <a:spLocks xmlns:a="http://schemas.openxmlformats.org/drawingml/2006/main" noGrp="1"/>
          </p:cNvSpPr>
          <p:nvPr/>
        </p:nvSpPr>
        <p:spPr>
          <a:xfrm xmlns:a="http://schemas.openxmlformats.org/drawingml/2006/main">
            <a:off x="9144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79D7CC"/>
                </a:solidFill>
              </a:defRPr>
            </a:pPr>
            <a:r>
              <a:rPr sz="1650" b="1">
                <a:solidFill>
                  <a:srgbClr val="79D7CC"/>
                </a:solidFill>
              </a:rPr>
              <a:t>COVARIANCE EIGENVALUES</a:t>
            </a:r>
          </a:p>
        </p:txBody>
      </p:sp>
      <p:sp>
        <p:nvSpPr>
          <p:cNvPr id="10" name="">
            <a:extLst xmlns:a="http://schemas.openxmlformats.org/drawingml/2006/main">
              <a:ext uri="{FF2B5EF4-FFF2-40B4-BE49-F238E27FC236}">
                <a16:creationId xmlns:a16="http://schemas.microsoft.com/office/drawing/2014/main" id="{79E3E3AF-82D5-4363-A06E-62C8149081DB}"/>
              </a:ext>
            </a:extLst>
          </p:cNvPr>
          <p:cNvSpPr>
            <a:spLocks xmlns:a="http://schemas.openxmlformats.org/drawingml/2006/main" noGrp="1"/>
          </p:cNvSpPr>
          <p:nvPr/>
        </p:nvSpPr>
        <p:spPr>
          <a:xfrm xmlns:a="http://schemas.openxmlformats.org/drawingml/2006/main">
            <a:off x="10096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3.19877</a:t>
            </a:r>
          </a:p>
          <a:p xmlns:a="http://schemas.openxmlformats.org/drawingml/2006/main">
            <a:pPr algn="ctr">
              <a:buNone/>
              <a:defRPr sz="2250" b="1">
                <a:solidFill>
                  <a:srgbClr val="F7F2E8"/>
                </a:solidFill>
              </a:defRPr>
            </a:pPr>
            <a:r>
              <a:rPr sz="2250" b="1">
                <a:solidFill>
                  <a:srgbClr val="F7F2E8"/>
                </a:solidFill>
              </a:rPr>
              <a:t>0.03039</a:t>
            </a:r>
          </a:p>
        </p:txBody>
      </p:sp>
      <p:sp>
        <p:nvSpPr>
          <p:cNvPr id="11" name="">
            <a:extLst xmlns:a="http://schemas.openxmlformats.org/drawingml/2006/main">
              <a:ext uri="{FF2B5EF4-FFF2-40B4-BE49-F238E27FC236}">
                <a16:creationId xmlns:a16="http://schemas.microsoft.com/office/drawing/2014/main" id="{882943B6-4B57-4847-999D-53780F9F2AF9}"/>
              </a:ext>
            </a:extLst>
          </p:cNvPr>
          <p:cNvSpPr>
            <a:spLocks xmlns:a="http://schemas.openxmlformats.org/drawingml/2006/main" noGrp="1"/>
          </p:cNvSpPr>
          <p:nvPr/>
        </p:nvSpPr>
        <p:spPr>
          <a:xfrm xmlns:a="http://schemas.openxmlformats.org/drawingml/2006/main">
            <a:off x="1504950" y="4229100"/>
            <a:ext cx="3381375" cy="438150"/>
          </a:xfrm>
          <a:prstGeom xmlns:a="http://schemas.openxmlformats.org/drawingml/2006/main" prst="roundRect">
            <a:avLst>
              <a:gd name="adj" fmla="val 17391"/>
            </a:avLst>
          </a:prstGeom>
          <a:solidFill xmlns:a="http://schemas.openxmlformats.org/drawingml/2006/main">
            <a:srgbClr val="071A2C"/>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7A2F59E-E3A7-4E64-AC80-A3FCAFA0F339}"/>
              </a:ext>
            </a:extLst>
          </p:cNvPr>
          <p:cNvSpPr>
            <a:spLocks xmlns:a="http://schemas.openxmlformats.org/drawingml/2006/main" noGrp="1"/>
          </p:cNvSpPr>
          <p:nvPr/>
        </p:nvSpPr>
        <p:spPr>
          <a:xfrm xmlns:a="http://schemas.openxmlformats.org/drawingml/2006/main">
            <a:off x="16002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Sum equals total sample variance</a:t>
            </a:r>
          </a:p>
        </p:txBody>
      </p:sp>
      <p:sp>
        <p:nvSpPr>
          <p:cNvPr id="13" name="">
            <a:extLst xmlns:a="http://schemas.openxmlformats.org/drawingml/2006/main">
              <a:ext uri="{FF2B5EF4-FFF2-40B4-BE49-F238E27FC236}">
                <a16:creationId xmlns:a16="http://schemas.microsoft.com/office/drawing/2014/main" id="{6745E684-4DCF-431F-892D-F67BCF53D216}"/>
              </a:ext>
            </a:extLst>
          </p:cNvPr>
          <p:cNvSpPr>
            <a:spLocks xmlns:a="http://schemas.openxmlformats.org/drawingml/2006/main" noGrp="1"/>
          </p:cNvSpPr>
          <p:nvPr/>
        </p:nvSpPr>
        <p:spPr>
          <a:xfrm xmlns:a="http://schemas.openxmlformats.org/drawingml/2006/main">
            <a:off x="6400800" y="2238375"/>
            <a:ext cx="5095875" cy="2857500"/>
          </a:xfrm>
          <a:prstGeom xmlns:a="http://schemas.openxmlformats.org/drawingml/2006/main" prst="roundRect">
            <a:avLst>
              <a:gd name="adj" fmla="val 2667"/>
            </a:avLst>
          </a:prstGeom>
          <a:solidFill xmlns:a="http://schemas.openxmlformats.org/drawingml/2006/main">
            <a:srgbClr val="2B2730"/>
          </a:solidFill>
          <a:ln xmlns:a="http://schemas.openxmlformats.org/drawingml/2006/main" w="9525">
            <a:solidFill>
              <a:srgbClr val="D9A441"/>
            </a:solidFill>
            <a:prstDash val="solid"/>
          </a:ln>
        </p:spPr>
      </p:sp>
      <p:sp>
        <p:nvSpPr>
          <p:cNvPr id="14" name="">
            <a:extLst xmlns:a="http://schemas.openxmlformats.org/drawingml/2006/main">
              <a:ext uri="{FF2B5EF4-FFF2-40B4-BE49-F238E27FC236}">
                <a16:creationId xmlns:a16="http://schemas.microsoft.com/office/drawing/2014/main" id="{529908DA-F6A6-4324-80D4-3DB4B12EDB7B}"/>
              </a:ext>
            </a:extLst>
          </p:cNvPr>
          <p:cNvSpPr>
            <a:spLocks xmlns:a="http://schemas.openxmlformats.org/drawingml/2006/main" noGrp="1"/>
          </p:cNvSpPr>
          <p:nvPr/>
        </p:nvSpPr>
        <p:spPr>
          <a:xfrm xmlns:a="http://schemas.openxmlformats.org/drawingml/2006/main">
            <a:off x="666750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D9A441"/>
                </a:solidFill>
              </a:defRPr>
            </a:pPr>
            <a:r>
              <a:rPr sz="1650" b="1">
                <a:solidFill>
                  <a:srgbClr val="D9A441"/>
                </a:solidFill>
              </a:rPr>
              <a:t>VARIANCE SHARES</a:t>
            </a:r>
          </a:p>
        </p:txBody>
      </p:sp>
      <p:sp>
        <p:nvSpPr>
          <p:cNvPr id="15" name="">
            <a:extLst xmlns:a="http://schemas.openxmlformats.org/drawingml/2006/main">
              <a:ext uri="{FF2B5EF4-FFF2-40B4-BE49-F238E27FC236}">
                <a16:creationId xmlns:a16="http://schemas.microsoft.com/office/drawing/2014/main" id="{C071BBD8-1CAC-49E5-99A0-D0973CA6DB29}"/>
              </a:ext>
            </a:extLst>
          </p:cNvPr>
          <p:cNvSpPr>
            <a:spLocks xmlns:a="http://schemas.openxmlformats.org/drawingml/2006/main" noGrp="1"/>
          </p:cNvSpPr>
          <p:nvPr/>
        </p:nvSpPr>
        <p:spPr>
          <a:xfrm xmlns:a="http://schemas.openxmlformats.org/drawingml/2006/main">
            <a:off x="6762750" y="3095625"/>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F7F2E8"/>
                </a:solidFill>
              </a:defRPr>
            </a:pPr>
            <a:r>
              <a:rPr sz="2250" b="1">
                <a:solidFill>
                  <a:srgbClr val="F7F2E8"/>
                </a:solidFill>
              </a:rPr>
              <a:t>99.06%</a:t>
            </a:r>
          </a:p>
          <a:p xmlns:a="http://schemas.openxmlformats.org/drawingml/2006/main">
            <a:pPr algn="ctr">
              <a:buNone/>
              <a:defRPr sz="2250" b="1">
                <a:solidFill>
                  <a:srgbClr val="F7F2E8"/>
                </a:solidFill>
              </a:defRPr>
            </a:pPr>
            <a:r>
              <a:rPr sz="2250" b="1">
                <a:solidFill>
                  <a:srgbClr val="F7F2E8"/>
                </a:solidFill>
              </a:rPr>
              <a:t>0.94%</a:t>
            </a:r>
          </a:p>
        </p:txBody>
      </p:sp>
      <p:sp>
        <p:nvSpPr>
          <p:cNvPr id="16" name="">
            <a:extLst xmlns:a="http://schemas.openxmlformats.org/drawingml/2006/main">
              <a:ext uri="{FF2B5EF4-FFF2-40B4-BE49-F238E27FC236}">
                <a16:creationId xmlns:a16="http://schemas.microsoft.com/office/drawing/2014/main" id="{9226D951-B56C-4048-A1A1-79A30337A3B8}"/>
              </a:ext>
            </a:extLst>
          </p:cNvPr>
          <p:cNvSpPr>
            <a:spLocks xmlns:a="http://schemas.openxmlformats.org/drawingml/2006/main" noGrp="1"/>
          </p:cNvSpPr>
          <p:nvPr/>
        </p:nvSpPr>
        <p:spPr>
          <a:xfrm xmlns:a="http://schemas.openxmlformats.org/drawingml/2006/main">
            <a:off x="7258050" y="4229100"/>
            <a:ext cx="3381375" cy="438150"/>
          </a:xfrm>
          <a:prstGeom xmlns:a="http://schemas.openxmlformats.org/drawingml/2006/main" prst="roundRect">
            <a:avLst>
              <a:gd name="adj" fmla="val 17391"/>
            </a:avLst>
          </a:prstGeom>
          <a:solidFill xmlns:a="http://schemas.openxmlformats.org/drawingml/2006/main">
            <a:srgbClr val="17131C"/>
          </a:solidFill>
          <a:ln xmlns:a="http://schemas.openxmlformats.org/drawingml/2006/main" w="9525">
            <a:solidFill>
              <a:srgbClr val="22B8A7"/>
            </a:solidFill>
            <a:prstDash val="solid"/>
          </a:ln>
        </p:spPr>
      </p:sp>
      <p:sp>
        <p:nvSpPr>
          <p:cNvPr id="17" name="">
            <a:extLst xmlns:a="http://schemas.openxmlformats.org/drawingml/2006/main">
              <a:ext uri="{FF2B5EF4-FFF2-40B4-BE49-F238E27FC236}">
                <a16:creationId xmlns:a16="http://schemas.microsoft.com/office/drawing/2014/main" id="{A23223B5-25F3-4282-8ACA-C36ABC26CCA5}"/>
              </a:ext>
            </a:extLst>
          </p:cNvPr>
          <p:cNvSpPr>
            <a:spLocks xmlns:a="http://schemas.openxmlformats.org/drawingml/2006/main" noGrp="1"/>
          </p:cNvSpPr>
          <p:nvPr/>
        </p:nvSpPr>
        <p:spPr>
          <a:xfrm xmlns:a="http://schemas.openxmlformats.org/drawingml/2006/main">
            <a:off x="7353300" y="4267200"/>
            <a:ext cx="319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F7F2E8"/>
                </a:solidFill>
              </a:defRPr>
            </a:pPr>
            <a:r>
              <a:rPr sz="1275" b="1">
                <a:solidFill>
                  <a:srgbClr val="F7F2E8"/>
                </a:solidFill>
              </a:rPr>
              <a:t>Four observations, chosen units</a:t>
            </a:r>
          </a:p>
        </p:txBody>
      </p:sp>
    </p:spTree>
    <p:extLst>
      <p:ext uri="{BB962C8B-B14F-4D97-AF65-F5344CB8AC3E}">
        <p14:creationId xmlns:p14="http://schemas.microsoft.com/office/powerpoint/2010/main" val="1848015540"/>
      </p:ext>
    </p:extLst>
  </p:cSld>
</p:sld>
</file>

<file path=ppt/slides/slide2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EBA481-20AF-4B01-8AAD-43FCA7A1CF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ADE4AD-3D5C-4081-81A5-DB6D918B4554}"/>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A69237D-6A02-4BDC-B41F-011D24508654}"/>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INTERPRETATION</a:t>
            </a:r>
          </a:p>
        </p:txBody>
      </p:sp>
      <p:sp>
        <p:nvSpPr>
          <p:cNvPr id="4" name="">
            <a:extLst xmlns:a="http://schemas.openxmlformats.org/drawingml/2006/main">
              <a:ext uri="{FF2B5EF4-FFF2-40B4-BE49-F238E27FC236}">
                <a16:creationId xmlns:a16="http://schemas.microsoft.com/office/drawing/2014/main" id="{3ADE149B-DA04-4107-9499-7EB9FA99AC0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23</a:t>
            </a:r>
          </a:p>
        </p:txBody>
      </p:sp>
      <p:sp>
        <p:nvSpPr>
          <p:cNvPr id="5" name="">
            <a:extLst xmlns:a="http://schemas.openxmlformats.org/drawingml/2006/main">
              <a:ext uri="{FF2B5EF4-FFF2-40B4-BE49-F238E27FC236}">
                <a16:creationId xmlns:a16="http://schemas.microsoft.com/office/drawing/2014/main" id="{724FDECE-BAAA-4C54-B6DE-54F675CF0AF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D6DCC9CA-5200-41C3-8CB6-5ACF210ABD03}"/>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Explained variance is not predictive accuracy.</a:t>
            </a:r>
          </a:p>
        </p:txBody>
      </p:sp>
      <p:sp>
        <p:nvSpPr>
          <p:cNvPr id="7" name="">
            <a:extLst xmlns:a="http://schemas.openxmlformats.org/drawingml/2006/main">
              <a:ext uri="{FF2B5EF4-FFF2-40B4-BE49-F238E27FC236}">
                <a16:creationId xmlns:a16="http://schemas.microsoft.com/office/drawing/2014/main" id="{4A53E64E-8969-427E-869A-FE0F213B370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 99.06% figure describes this small dataset in its chosen measurement units.</a:t>
            </a:r>
          </a:p>
        </p:txBody>
      </p:sp>
      <p:sp>
        <p:nvSpPr>
          <p:cNvPr id="8" name="">
            <a:extLst xmlns:a="http://schemas.openxmlformats.org/drawingml/2006/main">
              <a:ext uri="{FF2B5EF4-FFF2-40B4-BE49-F238E27FC236}">
                <a16:creationId xmlns:a16="http://schemas.microsoft.com/office/drawing/2014/main" id="{1CFCEF6C-D784-4368-98FA-F9913993522E}"/>
              </a:ext>
            </a:extLst>
          </p:cNvPr>
          <p:cNvSpPr>
            <a:spLocks xmlns:a="http://schemas.openxmlformats.org/drawingml/2006/main" noGrp="1"/>
          </p:cNvSpPr>
          <p:nvPr/>
        </p:nvSpPr>
        <p:spPr>
          <a:xfrm xmlns:a="http://schemas.openxmlformats.org/drawingml/2006/main">
            <a:off x="55245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5C70E09F-E6DE-42DA-9480-F26561C1DF24}"/>
              </a:ext>
            </a:extLst>
          </p:cNvPr>
          <p:cNvSpPr>
            <a:spLocks xmlns:a="http://schemas.openxmlformats.org/drawingml/2006/main" noGrp="1"/>
          </p:cNvSpPr>
          <p:nvPr/>
        </p:nvSpPr>
        <p:spPr>
          <a:xfrm xmlns:a="http://schemas.openxmlformats.org/drawingml/2006/main">
            <a:off x="78105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WHAT IT SAYS</a:t>
            </a:r>
          </a:p>
        </p:txBody>
      </p:sp>
      <p:sp>
        <p:nvSpPr>
          <p:cNvPr id="10" name="">
            <a:extLst xmlns:a="http://schemas.openxmlformats.org/drawingml/2006/main">
              <a:ext uri="{FF2B5EF4-FFF2-40B4-BE49-F238E27FC236}">
                <a16:creationId xmlns:a16="http://schemas.microsoft.com/office/drawing/2014/main" id="{5B3AAA24-CBE1-4889-B779-D9A868F42A62}"/>
              </a:ext>
            </a:extLst>
          </p:cNvPr>
          <p:cNvSpPr>
            <a:spLocks xmlns:a="http://schemas.openxmlformats.org/drawingml/2006/main" noGrp="1"/>
          </p:cNvSpPr>
          <p:nvPr/>
        </p:nvSpPr>
        <p:spPr>
          <a:xfrm xmlns:a="http://schemas.openxmlformats.org/drawingml/2006/main">
            <a:off x="78105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One direction retains most sample variance.</a:t>
            </a:r>
          </a:p>
        </p:txBody>
      </p:sp>
      <p:sp>
        <p:nvSpPr>
          <p:cNvPr id="11" name="">
            <a:extLst xmlns:a="http://schemas.openxmlformats.org/drawingml/2006/main">
              <a:ext uri="{FF2B5EF4-FFF2-40B4-BE49-F238E27FC236}">
                <a16:creationId xmlns:a16="http://schemas.microsoft.com/office/drawing/2014/main" id="{2062DD73-0164-4804-868C-CCC8493AF097}"/>
              </a:ext>
            </a:extLst>
          </p:cNvPr>
          <p:cNvSpPr>
            <a:spLocks xmlns:a="http://schemas.openxmlformats.org/drawingml/2006/main" noGrp="1"/>
          </p:cNvSpPr>
          <p:nvPr/>
        </p:nvSpPr>
        <p:spPr>
          <a:xfrm xmlns:a="http://schemas.openxmlformats.org/drawingml/2006/main">
            <a:off x="617220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CDFD91DA-995F-40DA-9203-F7DD246C6D3B}"/>
              </a:ext>
            </a:extLst>
          </p:cNvPr>
          <p:cNvSpPr>
            <a:spLocks xmlns:a="http://schemas.openxmlformats.org/drawingml/2006/main" noGrp="1"/>
          </p:cNvSpPr>
          <p:nvPr/>
        </p:nvSpPr>
        <p:spPr>
          <a:xfrm xmlns:a="http://schemas.openxmlformats.org/drawingml/2006/main">
            <a:off x="640080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WHAT IT DOES NOT SAY</a:t>
            </a:r>
          </a:p>
        </p:txBody>
      </p:sp>
      <p:sp>
        <p:nvSpPr>
          <p:cNvPr id="13" name="">
            <a:extLst xmlns:a="http://schemas.openxmlformats.org/drawingml/2006/main">
              <a:ext uri="{FF2B5EF4-FFF2-40B4-BE49-F238E27FC236}">
                <a16:creationId xmlns:a16="http://schemas.microsoft.com/office/drawing/2014/main" id="{00EF25AA-1DE4-4E88-A247-F24B2E7462DD}"/>
              </a:ext>
            </a:extLst>
          </p:cNvPr>
          <p:cNvSpPr>
            <a:spLocks xmlns:a="http://schemas.openxmlformats.org/drawingml/2006/main" noGrp="1"/>
          </p:cNvSpPr>
          <p:nvPr/>
        </p:nvSpPr>
        <p:spPr>
          <a:xfrm xmlns:a="http://schemas.openxmlformats.org/drawingml/2006/main">
            <a:off x="640080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The model predicts with 99.06% accuracy.</a:t>
            </a:r>
          </a:p>
        </p:txBody>
      </p:sp>
      <p:sp>
        <p:nvSpPr>
          <p:cNvPr id="14" name="">
            <a:extLst xmlns:a="http://schemas.openxmlformats.org/drawingml/2006/main">
              <a:ext uri="{FF2B5EF4-FFF2-40B4-BE49-F238E27FC236}">
                <a16:creationId xmlns:a16="http://schemas.microsoft.com/office/drawing/2014/main" id="{752F40CB-9E79-4EE3-B598-3F949D838A9D}"/>
              </a:ext>
            </a:extLst>
          </p:cNvPr>
          <p:cNvSpPr>
            <a:spLocks xmlns:a="http://schemas.openxmlformats.org/drawingml/2006/main" noGrp="1"/>
          </p:cNvSpPr>
          <p:nvPr/>
        </p:nvSpPr>
        <p:spPr>
          <a:xfrm xmlns:a="http://schemas.openxmlformats.org/drawingml/2006/main">
            <a:off x="55245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BC80BCF-CA24-4771-B6AC-595D9013E84B}"/>
              </a:ext>
            </a:extLst>
          </p:cNvPr>
          <p:cNvSpPr>
            <a:spLocks xmlns:a="http://schemas.openxmlformats.org/drawingml/2006/main" noGrp="1"/>
          </p:cNvSpPr>
          <p:nvPr/>
        </p:nvSpPr>
        <p:spPr>
          <a:xfrm xmlns:a="http://schemas.openxmlformats.org/drawingml/2006/main">
            <a:off x="78105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WHAT TO ASK</a:t>
            </a:r>
          </a:p>
        </p:txBody>
      </p:sp>
      <p:sp>
        <p:nvSpPr>
          <p:cNvPr id="16" name="">
            <a:extLst xmlns:a="http://schemas.openxmlformats.org/drawingml/2006/main">
              <a:ext uri="{FF2B5EF4-FFF2-40B4-BE49-F238E27FC236}">
                <a16:creationId xmlns:a16="http://schemas.microsoft.com/office/drawing/2014/main" id="{BF4238E5-E9BD-4483-9443-CC8F7A76AE74}"/>
              </a:ext>
            </a:extLst>
          </p:cNvPr>
          <p:cNvSpPr>
            <a:spLocks xmlns:a="http://schemas.openxmlformats.org/drawingml/2006/main" noGrp="1"/>
          </p:cNvSpPr>
          <p:nvPr/>
        </p:nvSpPr>
        <p:spPr>
          <a:xfrm xmlns:a="http://schemas.openxmlformats.org/drawingml/2006/main">
            <a:off x="78105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Are scaling and sampling appropriate?</a:t>
            </a:r>
          </a:p>
        </p:txBody>
      </p:sp>
      <p:sp>
        <p:nvSpPr>
          <p:cNvPr id="17" name="">
            <a:extLst xmlns:a="http://schemas.openxmlformats.org/drawingml/2006/main">
              <a:ext uri="{FF2B5EF4-FFF2-40B4-BE49-F238E27FC236}">
                <a16:creationId xmlns:a16="http://schemas.microsoft.com/office/drawing/2014/main" id="{815A75F7-75C4-40BF-A8FF-DD6937BA8BB9}"/>
              </a:ext>
            </a:extLst>
          </p:cNvPr>
          <p:cNvSpPr>
            <a:spLocks xmlns:a="http://schemas.openxmlformats.org/drawingml/2006/main" noGrp="1"/>
          </p:cNvSpPr>
          <p:nvPr/>
        </p:nvSpPr>
        <p:spPr>
          <a:xfrm xmlns:a="http://schemas.openxmlformats.org/drawingml/2006/main">
            <a:off x="617220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F07A73"/>
            </a:solidFill>
            <a:prstDash val="solid"/>
          </a:ln>
        </p:spPr>
      </p:sp>
      <p:sp>
        <p:nvSpPr>
          <p:cNvPr id="18" name="">
            <a:extLst xmlns:a="http://schemas.openxmlformats.org/drawingml/2006/main">
              <a:ext uri="{FF2B5EF4-FFF2-40B4-BE49-F238E27FC236}">
                <a16:creationId xmlns:a16="http://schemas.microsoft.com/office/drawing/2014/main" id="{3BA94553-8E6B-400F-BBE7-DB3986D6D104}"/>
              </a:ext>
            </a:extLst>
          </p:cNvPr>
          <p:cNvSpPr>
            <a:spLocks xmlns:a="http://schemas.openxmlformats.org/drawingml/2006/main" noGrp="1"/>
          </p:cNvSpPr>
          <p:nvPr/>
        </p:nvSpPr>
        <p:spPr>
          <a:xfrm xmlns:a="http://schemas.openxmlformats.org/drawingml/2006/main">
            <a:off x="640080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07A73"/>
                </a:solidFill>
              </a:defRPr>
            </a:pPr>
            <a:r>
              <a:rPr sz="1350" b="1">
                <a:solidFill>
                  <a:srgbClr val="F07A73"/>
                </a:solidFill>
              </a:rPr>
              <a:t>WHAT TO CHECK</a:t>
            </a:r>
          </a:p>
        </p:txBody>
      </p:sp>
      <p:sp>
        <p:nvSpPr>
          <p:cNvPr id="19" name="">
            <a:extLst xmlns:a="http://schemas.openxmlformats.org/drawingml/2006/main">
              <a:ext uri="{FF2B5EF4-FFF2-40B4-BE49-F238E27FC236}">
                <a16:creationId xmlns:a16="http://schemas.microsoft.com/office/drawing/2014/main" id="{1C429725-F753-458F-A000-C63B43BBDA16}"/>
              </a:ext>
            </a:extLst>
          </p:cNvPr>
          <p:cNvSpPr>
            <a:spLocks xmlns:a="http://schemas.openxmlformats.org/drawingml/2006/main" noGrp="1"/>
          </p:cNvSpPr>
          <p:nvPr/>
        </p:nvSpPr>
        <p:spPr>
          <a:xfrm xmlns:a="http://schemas.openxmlformats.org/drawingml/2006/main">
            <a:off x="64008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Validation, uncertainty and decision objectives.</a:t>
            </a:r>
          </a:p>
        </p:txBody>
      </p:sp>
    </p:spTree>
    <p:extLst>
      <p:ext uri="{BB962C8B-B14F-4D97-AF65-F5344CB8AC3E}">
        <p14:creationId xmlns:p14="http://schemas.microsoft.com/office/powerpoint/2010/main" val="1859790207"/>
      </p:ext>
    </p:extLst>
  </p:cSld>
</p:sld>
</file>

<file path=ppt/slides/slide2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827E4D3-E758-4E35-ACEF-392B525A81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86A3D3-718F-4694-A610-B654E03EF751}"/>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768098C-8FFA-4F56-8A8D-B40C8A139C3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SYNTHETIC SECTOR MODEL</a:t>
            </a:r>
          </a:p>
        </p:txBody>
      </p:sp>
      <p:sp>
        <p:nvSpPr>
          <p:cNvPr id="4" name="">
            <a:extLst xmlns:a="http://schemas.openxmlformats.org/drawingml/2006/main">
              <a:ext uri="{FF2B5EF4-FFF2-40B4-BE49-F238E27FC236}">
                <a16:creationId xmlns:a16="http://schemas.microsoft.com/office/drawing/2014/main" id="{7222C629-6F57-44E1-98C2-D3826438DBC1}"/>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24</a:t>
            </a:r>
          </a:p>
        </p:txBody>
      </p:sp>
      <p:sp>
        <p:nvSpPr>
          <p:cNvPr id="5" name="">
            <a:extLst xmlns:a="http://schemas.openxmlformats.org/drawingml/2006/main">
              <a:ext uri="{FF2B5EF4-FFF2-40B4-BE49-F238E27FC236}">
                <a16:creationId xmlns:a16="http://schemas.microsoft.com/office/drawing/2014/main" id="{185376EA-7080-4C69-8ACA-CC7DCFAC51F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1E2E96C-4130-46CB-B7CB-13819114FA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A normalized mode describes relative components.</a:t>
            </a:r>
          </a:p>
        </p:txBody>
      </p:sp>
      <p:sp>
        <p:nvSpPr>
          <p:cNvPr id="7" name="">
            <a:extLst xmlns:a="http://schemas.openxmlformats.org/drawingml/2006/main">
              <a:ext uri="{FF2B5EF4-FFF2-40B4-BE49-F238E27FC236}">
                <a16:creationId xmlns:a16="http://schemas.microsoft.com/office/drawing/2014/main" id="{0452185E-2ACE-44B1-AF28-066959F6482E}"/>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Agriculture, Health, Energy, Transport—in that order. The multiplier is about 1.31148 per step.</a:t>
            </a:r>
          </a:p>
        </p:txBody>
      </p:sp>
      <p:sp>
        <p:nvSpPr>
          <p:cNvPr id="8" name="">
            <a:extLst xmlns:a="http://schemas.openxmlformats.org/drawingml/2006/main">
              <a:ext uri="{FF2B5EF4-FFF2-40B4-BE49-F238E27FC236}">
                <a16:creationId xmlns:a16="http://schemas.microsoft.com/office/drawing/2014/main" id="{350017FF-10AC-49D1-92AE-D7F3F5F89DE3}"/>
              </a:ext>
            </a:extLst>
          </p:cNvPr>
          <p:cNvSpPr>
            <a:spLocks xmlns:a="http://schemas.openxmlformats.org/drawingml/2006/main" noGrp="1"/>
          </p:cNvSpPr>
          <p:nvPr/>
        </p:nvSpPr>
        <p:spPr>
          <a:xfrm xmlns:a="http://schemas.openxmlformats.org/drawingml/2006/main">
            <a:off x="55245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DFAB0C8-11E1-49F1-94E7-0857FD2A00EB}"/>
              </a:ext>
            </a:extLst>
          </p:cNvPr>
          <p:cNvSpPr>
            <a:spLocks xmlns:a="http://schemas.openxmlformats.org/drawingml/2006/main" noGrp="1"/>
          </p:cNvSpPr>
          <p:nvPr/>
        </p:nvSpPr>
        <p:spPr>
          <a:xfrm xmlns:a="http://schemas.openxmlformats.org/drawingml/2006/main">
            <a:off x="76200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AGRICULTURE</a:t>
            </a:r>
          </a:p>
        </p:txBody>
      </p:sp>
      <p:sp>
        <p:nvSpPr>
          <p:cNvPr id="10" name="">
            <a:extLst xmlns:a="http://schemas.openxmlformats.org/drawingml/2006/main">
              <a:ext uri="{FF2B5EF4-FFF2-40B4-BE49-F238E27FC236}">
                <a16:creationId xmlns:a16="http://schemas.microsoft.com/office/drawing/2014/main" id="{31688381-614E-405B-8EC0-A439FAE0DAA9}"/>
              </a:ext>
            </a:extLst>
          </p:cNvPr>
          <p:cNvSpPr>
            <a:spLocks xmlns:a="http://schemas.openxmlformats.org/drawingml/2006/main" noGrp="1"/>
          </p:cNvSpPr>
          <p:nvPr/>
        </p:nvSpPr>
        <p:spPr>
          <a:xfrm xmlns:a="http://schemas.openxmlformats.org/drawingml/2006/main">
            <a:off x="76200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20.02% of the normalized eigenvector</a:t>
            </a:r>
          </a:p>
        </p:txBody>
      </p:sp>
      <p:sp>
        <p:nvSpPr>
          <p:cNvPr id="11" name="">
            <a:extLst xmlns:a="http://schemas.openxmlformats.org/drawingml/2006/main">
              <a:ext uri="{FF2B5EF4-FFF2-40B4-BE49-F238E27FC236}">
                <a16:creationId xmlns:a16="http://schemas.microsoft.com/office/drawing/2014/main" id="{F3A23DE4-C2F6-4114-ABAD-DD0741506A55}"/>
              </a:ext>
            </a:extLst>
          </p:cNvPr>
          <p:cNvSpPr>
            <a:spLocks xmlns:a="http://schemas.openxmlformats.org/drawingml/2006/main" noGrp="1"/>
          </p:cNvSpPr>
          <p:nvPr/>
        </p:nvSpPr>
        <p:spPr>
          <a:xfrm xmlns:a="http://schemas.openxmlformats.org/drawingml/2006/main">
            <a:off x="617220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51109CE7-9C61-4DDA-A024-357E13122AB6}"/>
              </a:ext>
            </a:extLst>
          </p:cNvPr>
          <p:cNvSpPr>
            <a:spLocks xmlns:a="http://schemas.openxmlformats.org/drawingml/2006/main" noGrp="1"/>
          </p:cNvSpPr>
          <p:nvPr/>
        </p:nvSpPr>
        <p:spPr>
          <a:xfrm xmlns:a="http://schemas.openxmlformats.org/drawingml/2006/main">
            <a:off x="638175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HEALTH</a:t>
            </a:r>
          </a:p>
        </p:txBody>
      </p:sp>
      <p:sp>
        <p:nvSpPr>
          <p:cNvPr id="13" name="">
            <a:extLst xmlns:a="http://schemas.openxmlformats.org/drawingml/2006/main">
              <a:ext uri="{FF2B5EF4-FFF2-40B4-BE49-F238E27FC236}">
                <a16:creationId xmlns:a16="http://schemas.microsoft.com/office/drawing/2014/main" id="{0E163BAB-D933-426E-B22D-6FE97FC852CA}"/>
              </a:ext>
            </a:extLst>
          </p:cNvPr>
          <p:cNvSpPr>
            <a:spLocks xmlns:a="http://schemas.openxmlformats.org/drawingml/2006/main" noGrp="1"/>
          </p:cNvSpPr>
          <p:nvPr/>
        </p:nvSpPr>
        <p:spPr>
          <a:xfrm xmlns:a="http://schemas.openxmlformats.org/drawingml/2006/main">
            <a:off x="638175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23.28% of the normalized eigenvector</a:t>
            </a:r>
          </a:p>
        </p:txBody>
      </p:sp>
      <p:sp>
        <p:nvSpPr>
          <p:cNvPr id="14" name="">
            <a:extLst xmlns:a="http://schemas.openxmlformats.org/drawingml/2006/main">
              <a:ext uri="{FF2B5EF4-FFF2-40B4-BE49-F238E27FC236}">
                <a16:creationId xmlns:a16="http://schemas.microsoft.com/office/drawing/2014/main" id="{84907878-1312-4850-885E-792D96904DCE}"/>
              </a:ext>
            </a:extLst>
          </p:cNvPr>
          <p:cNvSpPr>
            <a:spLocks xmlns:a="http://schemas.openxmlformats.org/drawingml/2006/main" noGrp="1"/>
          </p:cNvSpPr>
          <p:nvPr/>
        </p:nvSpPr>
        <p:spPr>
          <a:xfrm xmlns:a="http://schemas.openxmlformats.org/drawingml/2006/main">
            <a:off x="552450" y="3667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F97A318-CAC8-4D31-8F0F-70192F6EEAC1}"/>
              </a:ext>
            </a:extLst>
          </p:cNvPr>
          <p:cNvSpPr>
            <a:spLocks xmlns:a="http://schemas.openxmlformats.org/drawingml/2006/main" noGrp="1"/>
          </p:cNvSpPr>
          <p:nvPr/>
        </p:nvSpPr>
        <p:spPr>
          <a:xfrm xmlns:a="http://schemas.openxmlformats.org/drawingml/2006/main">
            <a:off x="76200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ENERGY</a:t>
            </a:r>
          </a:p>
        </p:txBody>
      </p:sp>
      <p:sp>
        <p:nvSpPr>
          <p:cNvPr id="16" name="">
            <a:extLst xmlns:a="http://schemas.openxmlformats.org/drawingml/2006/main">
              <a:ext uri="{FF2B5EF4-FFF2-40B4-BE49-F238E27FC236}">
                <a16:creationId xmlns:a16="http://schemas.microsoft.com/office/drawing/2014/main" id="{9A4FA51D-865D-4853-8A75-F966C2CA668F}"/>
              </a:ext>
            </a:extLst>
          </p:cNvPr>
          <p:cNvSpPr>
            <a:spLocks xmlns:a="http://schemas.openxmlformats.org/drawingml/2006/main" noGrp="1"/>
          </p:cNvSpPr>
          <p:nvPr/>
        </p:nvSpPr>
        <p:spPr>
          <a:xfrm xmlns:a="http://schemas.openxmlformats.org/drawingml/2006/main">
            <a:off x="76200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28.26% of the normalized eigenvector</a:t>
            </a:r>
          </a:p>
        </p:txBody>
      </p:sp>
      <p:sp>
        <p:nvSpPr>
          <p:cNvPr id="17" name="">
            <a:extLst xmlns:a="http://schemas.openxmlformats.org/drawingml/2006/main">
              <a:ext uri="{FF2B5EF4-FFF2-40B4-BE49-F238E27FC236}">
                <a16:creationId xmlns:a16="http://schemas.microsoft.com/office/drawing/2014/main" id="{851DFE5C-06D3-4537-9109-CD358C0FDC2C}"/>
              </a:ext>
            </a:extLst>
          </p:cNvPr>
          <p:cNvSpPr>
            <a:spLocks xmlns:a="http://schemas.openxmlformats.org/drawingml/2006/main" noGrp="1"/>
          </p:cNvSpPr>
          <p:nvPr/>
        </p:nvSpPr>
        <p:spPr>
          <a:xfrm xmlns:a="http://schemas.openxmlformats.org/drawingml/2006/main">
            <a:off x="6172200" y="3667125"/>
            <a:ext cx="5238750" cy="1219200"/>
          </a:xfrm>
          <a:prstGeom xmlns:a="http://schemas.openxmlformats.org/drawingml/2006/main" prst="roundRect">
            <a:avLst>
              <a:gd name="adj" fmla="val 6250"/>
            </a:avLst>
          </a:prstGeom>
          <a:solidFill xmlns:a="http://schemas.openxmlformats.org/drawingml/2006/main">
            <a:srgbClr val="154D57"/>
          </a:solidFill>
          <a:ln xmlns:a="http://schemas.openxmlformats.org/drawingml/2006/main" w="9525">
            <a:solidFill>
              <a:srgbClr val="D9A441"/>
            </a:solidFill>
            <a:prstDash val="solid"/>
          </a:ln>
        </p:spPr>
      </p:sp>
      <p:sp>
        <p:nvSpPr>
          <p:cNvPr id="18" name="">
            <a:extLst xmlns:a="http://schemas.openxmlformats.org/drawingml/2006/main">
              <a:ext uri="{FF2B5EF4-FFF2-40B4-BE49-F238E27FC236}">
                <a16:creationId xmlns:a16="http://schemas.microsoft.com/office/drawing/2014/main" id="{6051895B-F96E-4AFA-82E3-E390C2551AB5}"/>
              </a:ext>
            </a:extLst>
          </p:cNvPr>
          <p:cNvSpPr>
            <a:spLocks xmlns:a="http://schemas.openxmlformats.org/drawingml/2006/main" noGrp="1"/>
          </p:cNvSpPr>
          <p:nvPr/>
        </p:nvSpPr>
        <p:spPr>
          <a:xfrm xmlns:a="http://schemas.openxmlformats.org/drawingml/2006/main">
            <a:off x="638175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9A441"/>
                </a:solidFill>
              </a:defRPr>
            </a:pPr>
            <a:r>
              <a:rPr sz="1350" b="1">
                <a:solidFill>
                  <a:srgbClr val="D9A441"/>
                </a:solidFill>
              </a:rPr>
              <a:t>TRANSPORT</a:t>
            </a:r>
          </a:p>
        </p:txBody>
      </p:sp>
      <p:sp>
        <p:nvSpPr>
          <p:cNvPr id="19" name="">
            <a:extLst xmlns:a="http://schemas.openxmlformats.org/drawingml/2006/main">
              <a:ext uri="{FF2B5EF4-FFF2-40B4-BE49-F238E27FC236}">
                <a16:creationId xmlns:a16="http://schemas.microsoft.com/office/drawing/2014/main" id="{75BC24E5-9423-426A-A54F-78106946FD5A}"/>
              </a:ext>
            </a:extLst>
          </p:cNvPr>
          <p:cNvSpPr>
            <a:spLocks xmlns:a="http://schemas.openxmlformats.org/drawingml/2006/main" noGrp="1"/>
          </p:cNvSpPr>
          <p:nvPr/>
        </p:nvSpPr>
        <p:spPr>
          <a:xfrm xmlns:a="http://schemas.openxmlformats.org/drawingml/2006/main">
            <a:off x="638175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28.43%—not a recommended budget share</a:t>
            </a:r>
          </a:p>
        </p:txBody>
      </p:sp>
    </p:spTree>
    <p:extLst>
      <p:ext uri="{BB962C8B-B14F-4D97-AF65-F5344CB8AC3E}">
        <p14:creationId xmlns:p14="http://schemas.microsoft.com/office/powerpoint/2010/main" val="1623536807"/>
      </p:ext>
    </p:extLst>
  </p:cSld>
</p:sld>
</file>

<file path=ppt/slides/slide2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EBA481-20AF-4B01-8AAD-43FCA7A1CFD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ADE4AD-3D5C-4081-81A5-DB6D918B4554}"/>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6A69237D-6A02-4BDC-B41F-011D24508654}"/>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REASONING CLINIC</a:t>
            </a:r>
          </a:p>
        </p:txBody>
      </p:sp>
      <p:sp>
        <p:nvSpPr>
          <p:cNvPr id="4" name="">
            <a:extLst xmlns:a="http://schemas.openxmlformats.org/drawingml/2006/main">
              <a:ext uri="{FF2B5EF4-FFF2-40B4-BE49-F238E27FC236}">
                <a16:creationId xmlns:a16="http://schemas.microsoft.com/office/drawing/2014/main" id="{3ADE149B-DA04-4107-9499-7EB9FA99AC02}"/>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25</a:t>
            </a:r>
          </a:p>
        </p:txBody>
      </p:sp>
      <p:sp>
        <p:nvSpPr>
          <p:cNvPr id="5" name="">
            <a:extLst xmlns:a="http://schemas.openxmlformats.org/drawingml/2006/main">
              <a:ext uri="{FF2B5EF4-FFF2-40B4-BE49-F238E27FC236}">
                <a16:creationId xmlns:a16="http://schemas.microsoft.com/office/drawing/2014/main" id="{724FDECE-BAAA-4C54-B6DE-54F675CF0AFA}"/>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D6DCC9CA-5200-41C3-8CB6-5ACF210ABD03}"/>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Model weights are not budget shares.</a:t>
            </a:r>
          </a:p>
        </p:txBody>
      </p:sp>
      <p:sp>
        <p:nvSpPr>
          <p:cNvPr id="7" name="">
            <a:extLst xmlns:a="http://schemas.openxmlformats.org/drawingml/2006/main">
              <a:ext uri="{FF2B5EF4-FFF2-40B4-BE49-F238E27FC236}">
                <a16:creationId xmlns:a16="http://schemas.microsoft.com/office/drawing/2014/main" id="{4A53E64E-8969-427E-869A-FE0F213B3706}"/>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The coefficients are invented; the dominant mode amplifies, rather than settling.</a:t>
            </a:r>
          </a:p>
        </p:txBody>
      </p:sp>
      <p:sp>
        <p:nvSpPr>
          <p:cNvPr id="8" name="">
            <a:extLst xmlns:a="http://schemas.openxmlformats.org/drawingml/2006/main">
              <a:ext uri="{FF2B5EF4-FFF2-40B4-BE49-F238E27FC236}">
                <a16:creationId xmlns:a16="http://schemas.microsoft.com/office/drawing/2014/main" id="{1CFCEF6C-D784-4368-98FA-F9913993522E}"/>
              </a:ext>
            </a:extLst>
          </p:cNvPr>
          <p:cNvSpPr>
            <a:spLocks xmlns:a="http://schemas.openxmlformats.org/drawingml/2006/main" noGrp="1"/>
          </p:cNvSpPr>
          <p:nvPr/>
        </p:nvSpPr>
        <p:spPr>
          <a:xfrm xmlns:a="http://schemas.openxmlformats.org/drawingml/2006/main">
            <a:off x="55245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5C70E09F-E6DE-42DA-9480-F26561C1DF24}"/>
              </a:ext>
            </a:extLst>
          </p:cNvPr>
          <p:cNvSpPr>
            <a:spLocks xmlns:a="http://schemas.openxmlformats.org/drawingml/2006/main" noGrp="1"/>
          </p:cNvSpPr>
          <p:nvPr/>
        </p:nvSpPr>
        <p:spPr>
          <a:xfrm xmlns:a="http://schemas.openxmlformats.org/drawingml/2006/main">
            <a:off x="78105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UNSUPPORTED LEAP</a:t>
            </a:r>
          </a:p>
        </p:txBody>
      </p:sp>
      <p:sp>
        <p:nvSpPr>
          <p:cNvPr id="10" name="">
            <a:extLst xmlns:a="http://schemas.openxmlformats.org/drawingml/2006/main">
              <a:ext uri="{FF2B5EF4-FFF2-40B4-BE49-F238E27FC236}">
                <a16:creationId xmlns:a16="http://schemas.microsoft.com/office/drawing/2014/main" id="{5B3AAA24-CBE1-4889-B779-D9A868F42A62}"/>
              </a:ext>
            </a:extLst>
          </p:cNvPr>
          <p:cNvSpPr>
            <a:spLocks xmlns:a="http://schemas.openxmlformats.org/drawingml/2006/main" noGrp="1"/>
          </p:cNvSpPr>
          <p:nvPr/>
        </p:nvSpPr>
        <p:spPr>
          <a:xfrm xmlns:a="http://schemas.openxmlformats.org/drawingml/2006/main">
            <a:off x="78105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“Largest component means largest budget.”</a:t>
            </a:r>
          </a:p>
        </p:txBody>
      </p:sp>
      <p:sp>
        <p:nvSpPr>
          <p:cNvPr id="11" name="">
            <a:extLst xmlns:a="http://schemas.openxmlformats.org/drawingml/2006/main">
              <a:ext uri="{FF2B5EF4-FFF2-40B4-BE49-F238E27FC236}">
                <a16:creationId xmlns:a16="http://schemas.microsoft.com/office/drawing/2014/main" id="{2062DD73-0164-4804-868C-CCC8493AF097}"/>
              </a:ext>
            </a:extLst>
          </p:cNvPr>
          <p:cNvSpPr>
            <a:spLocks xmlns:a="http://schemas.openxmlformats.org/drawingml/2006/main" noGrp="1"/>
          </p:cNvSpPr>
          <p:nvPr/>
        </p:nvSpPr>
        <p:spPr>
          <a:xfrm xmlns:a="http://schemas.openxmlformats.org/drawingml/2006/main">
            <a:off x="6172200" y="2266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CDFD91DA-995F-40DA-9203-F7DD246C6D3B}"/>
              </a:ext>
            </a:extLst>
          </p:cNvPr>
          <p:cNvSpPr>
            <a:spLocks xmlns:a="http://schemas.openxmlformats.org/drawingml/2006/main" noGrp="1"/>
          </p:cNvSpPr>
          <p:nvPr/>
        </p:nvSpPr>
        <p:spPr>
          <a:xfrm xmlns:a="http://schemas.openxmlformats.org/drawingml/2006/main">
            <a:off x="6400800" y="2419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MODEL VALIDITY</a:t>
            </a:r>
          </a:p>
        </p:txBody>
      </p:sp>
      <p:sp>
        <p:nvSpPr>
          <p:cNvPr id="13" name="">
            <a:extLst xmlns:a="http://schemas.openxmlformats.org/drawingml/2006/main">
              <a:ext uri="{FF2B5EF4-FFF2-40B4-BE49-F238E27FC236}">
                <a16:creationId xmlns:a16="http://schemas.microsoft.com/office/drawing/2014/main" id="{00EF25AA-1DE4-4E88-A247-F24B2E7462DD}"/>
              </a:ext>
            </a:extLst>
          </p:cNvPr>
          <p:cNvSpPr>
            <a:spLocks xmlns:a="http://schemas.openxmlformats.org/drawingml/2006/main" noGrp="1"/>
          </p:cNvSpPr>
          <p:nvPr/>
        </p:nvSpPr>
        <p:spPr>
          <a:xfrm xmlns:a="http://schemas.openxmlformats.org/drawingml/2006/main">
            <a:off x="6400800" y="2781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Where is the empirical or causal evidence?</a:t>
            </a:r>
          </a:p>
        </p:txBody>
      </p:sp>
      <p:sp>
        <p:nvSpPr>
          <p:cNvPr id="14" name="">
            <a:extLst xmlns:a="http://schemas.openxmlformats.org/drawingml/2006/main">
              <a:ext uri="{FF2B5EF4-FFF2-40B4-BE49-F238E27FC236}">
                <a16:creationId xmlns:a16="http://schemas.microsoft.com/office/drawing/2014/main" id="{752F40CB-9E79-4EE3-B598-3F949D838A9D}"/>
              </a:ext>
            </a:extLst>
          </p:cNvPr>
          <p:cNvSpPr>
            <a:spLocks xmlns:a="http://schemas.openxmlformats.org/drawingml/2006/main" noGrp="1"/>
          </p:cNvSpPr>
          <p:nvPr/>
        </p:nvSpPr>
        <p:spPr>
          <a:xfrm xmlns:a="http://schemas.openxmlformats.org/drawingml/2006/main">
            <a:off x="55245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BC80BCF-CA24-4771-B6AC-595D9013E84B}"/>
              </a:ext>
            </a:extLst>
          </p:cNvPr>
          <p:cNvSpPr>
            <a:spLocks xmlns:a="http://schemas.openxmlformats.org/drawingml/2006/main" noGrp="1"/>
          </p:cNvSpPr>
          <p:nvPr/>
        </p:nvSpPr>
        <p:spPr>
          <a:xfrm xmlns:a="http://schemas.openxmlformats.org/drawingml/2006/main">
            <a:off x="78105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DECISION DESIGN</a:t>
            </a:r>
          </a:p>
        </p:txBody>
      </p:sp>
      <p:sp>
        <p:nvSpPr>
          <p:cNvPr id="16" name="">
            <a:extLst xmlns:a="http://schemas.openxmlformats.org/drawingml/2006/main">
              <a:ext uri="{FF2B5EF4-FFF2-40B4-BE49-F238E27FC236}">
                <a16:creationId xmlns:a16="http://schemas.microsoft.com/office/drawing/2014/main" id="{BF4238E5-E9BD-4483-9443-CC8F7A76AE74}"/>
              </a:ext>
            </a:extLst>
          </p:cNvPr>
          <p:cNvSpPr>
            <a:spLocks xmlns:a="http://schemas.openxmlformats.org/drawingml/2006/main" noGrp="1"/>
          </p:cNvSpPr>
          <p:nvPr/>
        </p:nvSpPr>
        <p:spPr>
          <a:xfrm xmlns:a="http://schemas.openxmlformats.org/drawingml/2006/main">
            <a:off x="78105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What are the costs, constraints and objectives?</a:t>
            </a:r>
          </a:p>
        </p:txBody>
      </p:sp>
      <p:sp>
        <p:nvSpPr>
          <p:cNvPr id="17" name="">
            <a:extLst xmlns:a="http://schemas.openxmlformats.org/drawingml/2006/main">
              <a:ext uri="{FF2B5EF4-FFF2-40B4-BE49-F238E27FC236}">
                <a16:creationId xmlns:a16="http://schemas.microsoft.com/office/drawing/2014/main" id="{815A75F7-75C4-40BF-A8FF-DD6937BA8BB9}"/>
              </a:ext>
            </a:extLst>
          </p:cNvPr>
          <p:cNvSpPr>
            <a:spLocks xmlns:a="http://schemas.openxmlformats.org/drawingml/2006/main" noGrp="1"/>
          </p:cNvSpPr>
          <p:nvPr/>
        </p:nvSpPr>
        <p:spPr>
          <a:xfrm xmlns:a="http://schemas.openxmlformats.org/drawingml/2006/main">
            <a:off x="6172200" y="3790950"/>
            <a:ext cx="5238750" cy="1200150"/>
          </a:xfrm>
          <a:prstGeom xmlns:a="http://schemas.openxmlformats.org/drawingml/2006/main" prst="roundRect">
            <a:avLst>
              <a:gd name="adj" fmla="val 6349"/>
            </a:avLst>
          </a:prstGeom>
          <a:solidFill xmlns:a="http://schemas.openxmlformats.org/drawingml/2006/main">
            <a:srgbClr val="0D2A43"/>
          </a:solidFill>
          <a:ln xmlns:a="http://schemas.openxmlformats.org/drawingml/2006/main" w="9525">
            <a:solidFill>
              <a:srgbClr val="F07A73"/>
            </a:solidFill>
            <a:prstDash val="solid"/>
          </a:ln>
        </p:spPr>
      </p:sp>
      <p:sp>
        <p:nvSpPr>
          <p:cNvPr id="18" name="">
            <a:extLst xmlns:a="http://schemas.openxmlformats.org/drawingml/2006/main">
              <a:ext uri="{FF2B5EF4-FFF2-40B4-BE49-F238E27FC236}">
                <a16:creationId xmlns:a16="http://schemas.microsoft.com/office/drawing/2014/main" id="{3BA94553-8E6B-400F-BBE7-DB3986D6D104}"/>
              </a:ext>
            </a:extLst>
          </p:cNvPr>
          <p:cNvSpPr>
            <a:spLocks xmlns:a="http://schemas.openxmlformats.org/drawingml/2006/main" noGrp="1"/>
          </p:cNvSpPr>
          <p:nvPr/>
        </p:nvSpPr>
        <p:spPr>
          <a:xfrm xmlns:a="http://schemas.openxmlformats.org/drawingml/2006/main">
            <a:off x="640080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07A73"/>
                </a:solidFill>
              </a:defRPr>
            </a:pPr>
            <a:r>
              <a:rPr sz="1350" b="1">
                <a:solidFill>
                  <a:srgbClr val="F07A73"/>
                </a:solidFill>
              </a:rPr>
              <a:t>UNCERTAINTY</a:t>
            </a:r>
          </a:p>
        </p:txBody>
      </p:sp>
      <p:sp>
        <p:nvSpPr>
          <p:cNvPr id="19" name="">
            <a:extLst xmlns:a="http://schemas.openxmlformats.org/drawingml/2006/main">
              <a:ext uri="{FF2B5EF4-FFF2-40B4-BE49-F238E27FC236}">
                <a16:creationId xmlns:a16="http://schemas.microsoft.com/office/drawing/2014/main" id="{1C429725-F753-458F-A000-C63B43BBDA16}"/>
              </a:ext>
            </a:extLst>
          </p:cNvPr>
          <p:cNvSpPr>
            <a:spLocks xmlns:a="http://schemas.openxmlformats.org/drawingml/2006/main" noGrp="1"/>
          </p:cNvSpPr>
          <p:nvPr/>
        </p:nvSpPr>
        <p:spPr>
          <a:xfrm xmlns:a="http://schemas.openxmlformats.org/drawingml/2006/main">
            <a:off x="64008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a:solidFill>
                  <a:srgbClr val="F7F2E8"/>
                </a:solidFill>
              </a:defRPr>
            </a:pPr>
            <a:r>
              <a:rPr sz="1650" b="0">
                <a:solidFill>
                  <a:srgbClr val="F7F2E8"/>
                </a:solidFill>
              </a:rPr>
              <a:t>How sensitive is the recommendation?</a:t>
            </a:r>
          </a:p>
        </p:txBody>
      </p:sp>
    </p:spTree>
    <p:extLst>
      <p:ext uri="{BB962C8B-B14F-4D97-AF65-F5344CB8AC3E}">
        <p14:creationId xmlns:p14="http://schemas.microsoft.com/office/powerpoint/2010/main" val="1859790207"/>
      </p:ext>
    </p:extLst>
  </p:cSld>
</p:sld>
</file>

<file path=ppt/slides/slide26.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827E4D3-E758-4E35-ACEF-392B525A81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086A3D3-718F-4694-A610-B654E03EF751}"/>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B768098C-8FFA-4F56-8A8D-B40C8A139C3F}"/>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CHECK YOUR UNDERSTANDING</a:t>
            </a:r>
          </a:p>
        </p:txBody>
      </p:sp>
      <p:sp>
        <p:nvSpPr>
          <p:cNvPr id="4" name="">
            <a:extLst xmlns:a="http://schemas.openxmlformats.org/drawingml/2006/main">
              <a:ext uri="{FF2B5EF4-FFF2-40B4-BE49-F238E27FC236}">
                <a16:creationId xmlns:a16="http://schemas.microsoft.com/office/drawing/2014/main" id="{7222C629-6F57-44E1-98C2-D3826438DBC1}"/>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26</a:t>
            </a:r>
          </a:p>
        </p:txBody>
      </p:sp>
      <p:sp>
        <p:nvSpPr>
          <p:cNvPr id="5" name="">
            <a:extLst xmlns:a="http://schemas.openxmlformats.org/drawingml/2006/main">
              <a:ext uri="{FF2B5EF4-FFF2-40B4-BE49-F238E27FC236}">
                <a16:creationId xmlns:a16="http://schemas.microsoft.com/office/drawing/2014/main" id="{185376EA-7080-4C69-8ACA-CC7DCFAC51FF}"/>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1E2E96C-4130-46CB-B7CB-13819114FA5F}"/>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Explain the reason—not just yes or no.</a:t>
            </a:r>
          </a:p>
        </p:txBody>
      </p:sp>
      <p:sp>
        <p:nvSpPr>
          <p:cNvPr id="7" name="">
            <a:extLst xmlns:a="http://schemas.openxmlformats.org/drawingml/2006/main">
              <a:ext uri="{FF2B5EF4-FFF2-40B4-BE49-F238E27FC236}">
                <a16:creationId xmlns:a16="http://schemas.microsoft.com/office/drawing/2014/main" id="{0452185E-2ACE-44B1-AF28-066959F6482E}"/>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Use the worked examples to support each answer.</a:t>
            </a:r>
          </a:p>
        </p:txBody>
      </p:sp>
      <p:sp>
        <p:nvSpPr>
          <p:cNvPr id="8" name="">
            <a:extLst xmlns:a="http://schemas.openxmlformats.org/drawingml/2006/main">
              <a:ext uri="{FF2B5EF4-FFF2-40B4-BE49-F238E27FC236}">
                <a16:creationId xmlns:a16="http://schemas.microsoft.com/office/drawing/2014/main" id="{350017FF-10AC-49D1-92AE-D7F3F5F89DE3}"/>
              </a:ext>
            </a:extLst>
          </p:cNvPr>
          <p:cNvSpPr>
            <a:spLocks xmlns:a="http://schemas.openxmlformats.org/drawingml/2006/main" noGrp="1"/>
          </p:cNvSpPr>
          <p:nvPr/>
        </p:nvSpPr>
        <p:spPr>
          <a:xfrm xmlns:a="http://schemas.openxmlformats.org/drawingml/2006/main">
            <a:off x="55245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CDFAB0C8-11E1-49F1-94E7-0857FD2A00EB}"/>
              </a:ext>
            </a:extLst>
          </p:cNvPr>
          <p:cNvSpPr>
            <a:spLocks xmlns:a="http://schemas.openxmlformats.org/drawingml/2006/main" noGrp="1"/>
          </p:cNvSpPr>
          <p:nvPr/>
        </p:nvSpPr>
        <p:spPr>
          <a:xfrm xmlns:a="http://schemas.openxmlformats.org/drawingml/2006/main">
            <a:off x="76200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QUESTION 1</a:t>
            </a:r>
          </a:p>
        </p:txBody>
      </p:sp>
      <p:sp>
        <p:nvSpPr>
          <p:cNvPr id="10" name="">
            <a:extLst xmlns:a="http://schemas.openxmlformats.org/drawingml/2006/main">
              <a:ext uri="{FF2B5EF4-FFF2-40B4-BE49-F238E27FC236}">
                <a16:creationId xmlns:a16="http://schemas.microsoft.com/office/drawing/2014/main" id="{31688381-614E-405B-8EC0-A439FAE0DAA9}"/>
              </a:ext>
            </a:extLst>
          </p:cNvPr>
          <p:cNvSpPr>
            <a:spLocks xmlns:a="http://schemas.openxmlformats.org/drawingml/2006/main" noGrp="1"/>
          </p:cNvSpPr>
          <p:nvPr/>
        </p:nvSpPr>
        <p:spPr>
          <a:xfrm xmlns:a="http://schemas.openxmlformats.org/drawingml/2006/main">
            <a:off x="76200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What does an eigenvalue of −2 do?</a:t>
            </a:r>
          </a:p>
        </p:txBody>
      </p:sp>
      <p:sp>
        <p:nvSpPr>
          <p:cNvPr id="11" name="">
            <a:extLst xmlns:a="http://schemas.openxmlformats.org/drawingml/2006/main">
              <a:ext uri="{FF2B5EF4-FFF2-40B4-BE49-F238E27FC236}">
                <a16:creationId xmlns:a16="http://schemas.microsoft.com/office/drawing/2014/main" id="{F3A23DE4-C2F6-4114-ABAD-DD0741506A55}"/>
              </a:ext>
            </a:extLst>
          </p:cNvPr>
          <p:cNvSpPr>
            <a:spLocks xmlns:a="http://schemas.openxmlformats.org/drawingml/2006/main" noGrp="1"/>
          </p:cNvSpPr>
          <p:nvPr/>
        </p:nvSpPr>
        <p:spPr>
          <a:xfrm xmlns:a="http://schemas.openxmlformats.org/drawingml/2006/main">
            <a:off x="6172200" y="2143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51109CE7-9C61-4DDA-A024-357E13122AB6}"/>
              </a:ext>
            </a:extLst>
          </p:cNvPr>
          <p:cNvSpPr>
            <a:spLocks xmlns:a="http://schemas.openxmlformats.org/drawingml/2006/main" noGrp="1"/>
          </p:cNvSpPr>
          <p:nvPr/>
        </p:nvSpPr>
        <p:spPr>
          <a:xfrm xmlns:a="http://schemas.openxmlformats.org/drawingml/2006/main">
            <a:off x="6381750" y="2286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QUESTION 2</a:t>
            </a:r>
          </a:p>
        </p:txBody>
      </p:sp>
      <p:sp>
        <p:nvSpPr>
          <p:cNvPr id="13" name="">
            <a:extLst xmlns:a="http://schemas.openxmlformats.org/drawingml/2006/main">
              <a:ext uri="{FF2B5EF4-FFF2-40B4-BE49-F238E27FC236}">
                <a16:creationId xmlns:a16="http://schemas.microsoft.com/office/drawing/2014/main" id="{0E163BAB-D933-426E-B22D-6FE97FC852CA}"/>
              </a:ext>
            </a:extLst>
          </p:cNvPr>
          <p:cNvSpPr>
            <a:spLocks xmlns:a="http://schemas.openxmlformats.org/drawingml/2006/main" noGrp="1"/>
          </p:cNvSpPr>
          <p:nvPr/>
        </p:nvSpPr>
        <p:spPr>
          <a:xfrm xmlns:a="http://schemas.openxmlformats.org/drawingml/2006/main">
            <a:off x="6381750" y="2647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Does zero residual prove dominance?</a:t>
            </a:r>
          </a:p>
        </p:txBody>
      </p:sp>
      <p:sp>
        <p:nvSpPr>
          <p:cNvPr id="14" name="">
            <a:extLst xmlns:a="http://schemas.openxmlformats.org/drawingml/2006/main">
              <a:ext uri="{FF2B5EF4-FFF2-40B4-BE49-F238E27FC236}">
                <a16:creationId xmlns:a16="http://schemas.microsoft.com/office/drawing/2014/main" id="{84907878-1312-4850-885E-792D96904DCE}"/>
              </a:ext>
            </a:extLst>
          </p:cNvPr>
          <p:cNvSpPr>
            <a:spLocks xmlns:a="http://schemas.openxmlformats.org/drawingml/2006/main" noGrp="1"/>
          </p:cNvSpPr>
          <p:nvPr/>
        </p:nvSpPr>
        <p:spPr>
          <a:xfrm xmlns:a="http://schemas.openxmlformats.org/drawingml/2006/main">
            <a:off x="552450" y="3667125"/>
            <a:ext cx="5238750" cy="1219200"/>
          </a:xfrm>
          <a:prstGeom xmlns:a="http://schemas.openxmlformats.org/drawingml/2006/main" prst="roundRect">
            <a:avLst>
              <a:gd name="adj" fmla="val 625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CF97A318-CAC8-4D31-8F0F-70192F6EEAC1}"/>
              </a:ext>
            </a:extLst>
          </p:cNvPr>
          <p:cNvSpPr>
            <a:spLocks xmlns:a="http://schemas.openxmlformats.org/drawingml/2006/main" noGrp="1"/>
          </p:cNvSpPr>
          <p:nvPr/>
        </p:nvSpPr>
        <p:spPr>
          <a:xfrm xmlns:a="http://schemas.openxmlformats.org/drawingml/2006/main">
            <a:off x="76200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QUESTION 3</a:t>
            </a:r>
          </a:p>
        </p:txBody>
      </p:sp>
      <p:sp>
        <p:nvSpPr>
          <p:cNvPr id="16" name="">
            <a:extLst xmlns:a="http://schemas.openxmlformats.org/drawingml/2006/main">
              <a:ext uri="{FF2B5EF4-FFF2-40B4-BE49-F238E27FC236}">
                <a16:creationId xmlns:a16="http://schemas.microsoft.com/office/drawing/2014/main" id="{9A4FA51D-865D-4853-8A75-F966C2CA668F}"/>
              </a:ext>
            </a:extLst>
          </p:cNvPr>
          <p:cNvSpPr>
            <a:spLocks xmlns:a="http://schemas.openxmlformats.org/drawingml/2006/main" noGrp="1"/>
          </p:cNvSpPr>
          <p:nvPr/>
        </p:nvSpPr>
        <p:spPr>
          <a:xfrm xmlns:a="http://schemas.openxmlformats.org/drawingml/2006/main">
            <a:off x="76200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Can spectral radius 0.8 allow early growth?</a:t>
            </a:r>
          </a:p>
        </p:txBody>
      </p:sp>
      <p:sp>
        <p:nvSpPr>
          <p:cNvPr id="17" name="">
            <a:extLst xmlns:a="http://schemas.openxmlformats.org/drawingml/2006/main">
              <a:ext uri="{FF2B5EF4-FFF2-40B4-BE49-F238E27FC236}">
                <a16:creationId xmlns:a16="http://schemas.microsoft.com/office/drawing/2014/main" id="{851DFE5C-06D3-4537-9109-CD358C0FDC2C}"/>
              </a:ext>
            </a:extLst>
          </p:cNvPr>
          <p:cNvSpPr>
            <a:spLocks xmlns:a="http://schemas.openxmlformats.org/drawingml/2006/main" noGrp="1"/>
          </p:cNvSpPr>
          <p:nvPr/>
        </p:nvSpPr>
        <p:spPr>
          <a:xfrm xmlns:a="http://schemas.openxmlformats.org/drawingml/2006/main">
            <a:off x="6172200" y="3667125"/>
            <a:ext cx="5238750" cy="1219200"/>
          </a:xfrm>
          <a:prstGeom xmlns:a="http://schemas.openxmlformats.org/drawingml/2006/main" prst="roundRect">
            <a:avLst>
              <a:gd name="adj" fmla="val 6250"/>
            </a:avLst>
          </a:prstGeom>
          <a:solidFill xmlns:a="http://schemas.openxmlformats.org/drawingml/2006/main">
            <a:srgbClr val="154D57"/>
          </a:solidFill>
          <a:ln xmlns:a="http://schemas.openxmlformats.org/drawingml/2006/main" w="9525">
            <a:solidFill>
              <a:srgbClr val="D9A441"/>
            </a:solidFill>
            <a:prstDash val="solid"/>
          </a:ln>
        </p:spPr>
      </p:sp>
      <p:sp>
        <p:nvSpPr>
          <p:cNvPr id="18" name="">
            <a:extLst xmlns:a="http://schemas.openxmlformats.org/drawingml/2006/main">
              <a:ext uri="{FF2B5EF4-FFF2-40B4-BE49-F238E27FC236}">
                <a16:creationId xmlns:a16="http://schemas.microsoft.com/office/drawing/2014/main" id="{6051895B-F96E-4AFA-82E3-E390C2551AB5}"/>
              </a:ext>
            </a:extLst>
          </p:cNvPr>
          <p:cNvSpPr>
            <a:spLocks xmlns:a="http://schemas.openxmlformats.org/drawingml/2006/main" noGrp="1"/>
          </p:cNvSpPr>
          <p:nvPr/>
        </p:nvSpPr>
        <p:spPr>
          <a:xfrm xmlns:a="http://schemas.openxmlformats.org/drawingml/2006/main">
            <a:off x="6381750" y="381000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9A441"/>
                </a:solidFill>
              </a:defRPr>
            </a:pPr>
            <a:r>
              <a:rPr sz="1350" b="1">
                <a:solidFill>
                  <a:srgbClr val="D9A441"/>
                </a:solidFill>
              </a:rPr>
              <a:t>QUESTION 4</a:t>
            </a:r>
          </a:p>
        </p:txBody>
      </p:sp>
      <p:sp>
        <p:nvSpPr>
          <p:cNvPr id="19" name="">
            <a:extLst xmlns:a="http://schemas.openxmlformats.org/drawingml/2006/main">
              <a:ext uri="{FF2B5EF4-FFF2-40B4-BE49-F238E27FC236}">
                <a16:creationId xmlns:a16="http://schemas.microsoft.com/office/drawing/2014/main" id="{75BC24E5-9423-426A-A54F-78106946FD5A}"/>
              </a:ext>
            </a:extLst>
          </p:cNvPr>
          <p:cNvSpPr>
            <a:spLocks xmlns:a="http://schemas.openxmlformats.org/drawingml/2006/main" noGrp="1"/>
          </p:cNvSpPr>
          <p:nvPr/>
        </p:nvSpPr>
        <p:spPr>
          <a:xfrm xmlns:a="http://schemas.openxmlformats.org/drawingml/2006/main">
            <a:off x="6381750" y="41719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F7F2E8"/>
                </a:solidFill>
              </a:defRPr>
            </a:pPr>
            <a:r>
              <a:rPr sz="1575" b="0">
                <a:solidFill>
                  <a:srgbClr val="F7F2E8"/>
                </a:solidFill>
              </a:rPr>
              <a:t>Does 99% variance mean 99% accuracy?</a:t>
            </a:r>
          </a:p>
        </p:txBody>
      </p:sp>
    </p:spTree>
    <p:extLst>
      <p:ext uri="{BB962C8B-B14F-4D97-AF65-F5344CB8AC3E}">
        <p14:creationId xmlns:p14="http://schemas.microsoft.com/office/powerpoint/2010/main" val="1623536807"/>
      </p:ext>
    </p:extLst>
  </p:cSld>
</p:sld>
</file>

<file path=ppt/slides/slide27.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B1C518A-B717-4D66-9658-A15D4076A90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1F75A2-9DD5-40D6-9533-FE4969A080CE}"/>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2ADF727F-5FA5-49C0-A9F8-B3C5D5B3B3BC}"/>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REPRODUCIBLE PRACTICE</a:t>
            </a:r>
          </a:p>
        </p:txBody>
      </p:sp>
      <p:sp>
        <p:nvSpPr>
          <p:cNvPr id="4" name="">
            <a:extLst xmlns:a="http://schemas.openxmlformats.org/drawingml/2006/main">
              <a:ext uri="{FF2B5EF4-FFF2-40B4-BE49-F238E27FC236}">
                <a16:creationId xmlns:a16="http://schemas.microsoft.com/office/drawing/2014/main" id="{94447B3E-1D2F-47BA-A513-05AE49A2051F}"/>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27</a:t>
            </a:r>
          </a:p>
        </p:txBody>
      </p:sp>
      <p:sp>
        <p:nvSpPr>
          <p:cNvPr id="5" name="">
            <a:extLst xmlns:a="http://schemas.openxmlformats.org/drawingml/2006/main">
              <a:ext uri="{FF2B5EF4-FFF2-40B4-BE49-F238E27FC236}">
                <a16:creationId xmlns:a16="http://schemas.microsoft.com/office/drawing/2014/main" id="{29FCDD9C-79A7-4894-9AF9-B10E24187477}"/>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61E921D1-0F73-4846-B9C5-308E14F1721E}"/>
              </a:ext>
            </a:extLst>
          </p:cNvPr>
          <p:cNvSpPr>
            <a:spLocks xmlns:a="http://schemas.openxmlformats.org/drawingml/2006/main" noGrp="1"/>
          </p:cNvSpPr>
          <p:nvPr/>
        </p:nvSpPr>
        <p:spPr>
          <a:xfrm xmlns:a="http://schemas.openxmlformats.org/drawingml/2006/main">
            <a:off x="514350" y="7810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F7F2E8"/>
                </a:solidFill>
              </a:defRPr>
            </a:pPr>
            <a:r>
              <a:rPr sz="2850" b="1">
                <a:solidFill>
                  <a:srgbClr val="F7F2E8"/>
                </a:solidFill>
              </a:rPr>
              <a:t>Run the notebook, then inspect the evidence.</a:t>
            </a:r>
          </a:p>
        </p:txBody>
      </p:sp>
      <p:sp>
        <p:nvSpPr>
          <p:cNvPr id="7" name="">
            <a:extLst xmlns:a="http://schemas.openxmlformats.org/drawingml/2006/main">
              <a:ext uri="{FF2B5EF4-FFF2-40B4-BE49-F238E27FC236}">
                <a16:creationId xmlns:a16="http://schemas.microsoft.com/office/drawing/2014/main" id="{7A51F114-31D1-4689-9E2C-91F7DC446F99}"/>
              </a:ext>
            </a:extLst>
          </p:cNvPr>
          <p:cNvSpPr>
            <a:spLocks xmlns:a="http://schemas.openxmlformats.org/drawingml/2006/main" noGrp="1"/>
          </p:cNvSpPr>
          <p:nvPr/>
        </p:nvSpPr>
        <p:spPr>
          <a:xfrm xmlns:a="http://schemas.openxmlformats.org/drawingml/2006/main">
            <a:off x="533400" y="1495425"/>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AFC1CE"/>
                </a:solidFill>
              </a:defRPr>
            </a:pPr>
            <a:r>
              <a:rPr sz="1350" b="0">
                <a:solidFill>
                  <a:srgbClr val="AFC1CE"/>
                </a:solidFill>
              </a:rPr>
              <a:t>Use the matching Lesson 6 notebook with srai_math in VS Code or Colab.</a:t>
            </a:r>
          </a:p>
        </p:txBody>
      </p:sp>
      <p:sp>
        <p:nvSpPr>
          <p:cNvPr id="8" name="">
            <a:extLst xmlns:a="http://schemas.openxmlformats.org/drawingml/2006/main">
              <a:ext uri="{FF2B5EF4-FFF2-40B4-BE49-F238E27FC236}">
                <a16:creationId xmlns:a16="http://schemas.microsoft.com/office/drawing/2014/main" id="{F42F17D4-5987-4E71-88A4-A4B1735E8011}"/>
              </a:ext>
            </a:extLst>
          </p:cNvPr>
          <p:cNvSpPr>
            <a:spLocks xmlns:a="http://schemas.openxmlformats.org/drawingml/2006/main" noGrp="1"/>
          </p:cNvSpPr>
          <p:nvPr/>
        </p:nvSpPr>
        <p:spPr>
          <a:xfrm xmlns:a="http://schemas.openxmlformats.org/drawingml/2006/main">
            <a:off x="628650" y="214312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9" name="">
            <a:extLst xmlns:a="http://schemas.openxmlformats.org/drawingml/2006/main">
              <a:ext uri="{FF2B5EF4-FFF2-40B4-BE49-F238E27FC236}">
                <a16:creationId xmlns:a16="http://schemas.microsoft.com/office/drawing/2014/main" id="{6CA53F12-5A90-4098-8EFD-5FBFD05B0A1E}"/>
              </a:ext>
            </a:extLst>
          </p:cNvPr>
          <p:cNvSpPr>
            <a:spLocks xmlns:a="http://schemas.openxmlformats.org/drawingml/2006/main" noGrp="1"/>
          </p:cNvSpPr>
          <p:nvPr/>
        </p:nvSpPr>
        <p:spPr>
          <a:xfrm xmlns:a="http://schemas.openxmlformats.org/drawingml/2006/main">
            <a:off x="800100"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1</a:t>
            </a:r>
          </a:p>
        </p:txBody>
      </p:sp>
      <p:sp>
        <p:nvSpPr>
          <p:cNvPr id="10" name="">
            <a:extLst xmlns:a="http://schemas.openxmlformats.org/drawingml/2006/main">
              <a:ext uri="{FF2B5EF4-FFF2-40B4-BE49-F238E27FC236}">
                <a16:creationId xmlns:a16="http://schemas.microsoft.com/office/drawing/2014/main" id="{2DA700F1-3502-4A9B-8D19-13A54AB0E3AB}"/>
              </a:ext>
            </a:extLst>
          </p:cNvPr>
          <p:cNvSpPr>
            <a:spLocks xmlns:a="http://schemas.openxmlformats.org/drawingml/2006/main" noGrp="1"/>
          </p:cNvSpPr>
          <p:nvPr/>
        </p:nvSpPr>
        <p:spPr>
          <a:xfrm xmlns:a="http://schemas.openxmlformats.org/drawingml/2006/main">
            <a:off x="1409700" y="231457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Follow its dependency setup instructions.</a:t>
            </a:r>
          </a:p>
        </p:txBody>
      </p:sp>
      <p:sp>
        <p:nvSpPr>
          <p:cNvPr id="11" name="">
            <a:extLst xmlns:a="http://schemas.openxmlformats.org/drawingml/2006/main">
              <a:ext uri="{FF2B5EF4-FFF2-40B4-BE49-F238E27FC236}">
                <a16:creationId xmlns:a16="http://schemas.microsoft.com/office/drawing/2014/main" id="{06B1DF91-411E-43DD-AA77-A4452D9149D6}"/>
              </a:ext>
            </a:extLst>
          </p:cNvPr>
          <p:cNvSpPr>
            <a:spLocks xmlns:a="http://schemas.openxmlformats.org/drawingml/2006/main" noGrp="1"/>
          </p:cNvSpPr>
          <p:nvPr/>
        </p:nvSpPr>
        <p:spPr>
          <a:xfrm xmlns:a="http://schemas.openxmlformats.org/drawingml/2006/main">
            <a:off x="6248400" y="214312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2" name="">
            <a:extLst xmlns:a="http://schemas.openxmlformats.org/drawingml/2006/main">
              <a:ext uri="{FF2B5EF4-FFF2-40B4-BE49-F238E27FC236}">
                <a16:creationId xmlns:a16="http://schemas.microsoft.com/office/drawing/2014/main" id="{1E2E4923-F595-430A-BB92-DADA8434239C}"/>
              </a:ext>
            </a:extLst>
          </p:cNvPr>
          <p:cNvSpPr>
            <a:spLocks xmlns:a="http://schemas.openxmlformats.org/drawingml/2006/main" noGrp="1"/>
          </p:cNvSpPr>
          <p:nvPr/>
        </p:nvSpPr>
        <p:spPr>
          <a:xfrm xmlns:a="http://schemas.openxmlformats.org/drawingml/2006/main">
            <a:off x="6419850" y="233362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2</a:t>
            </a:r>
          </a:p>
        </p:txBody>
      </p:sp>
      <p:sp>
        <p:nvSpPr>
          <p:cNvPr id="13" name="">
            <a:extLst xmlns:a="http://schemas.openxmlformats.org/drawingml/2006/main">
              <a:ext uri="{FF2B5EF4-FFF2-40B4-BE49-F238E27FC236}">
                <a16:creationId xmlns:a16="http://schemas.microsoft.com/office/drawing/2014/main" id="{887F86F6-2340-463F-B35F-789DCECA9049}"/>
              </a:ext>
            </a:extLst>
          </p:cNvPr>
          <p:cNvSpPr>
            <a:spLocks xmlns:a="http://schemas.openxmlformats.org/drawingml/2006/main" noGrp="1"/>
          </p:cNvSpPr>
          <p:nvPr/>
        </p:nvSpPr>
        <p:spPr>
          <a:xfrm xmlns:a="http://schemas.openxmlformats.org/drawingml/2006/main">
            <a:off x="7029450" y="231457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Restart the kernel, then run every cell.</a:t>
            </a:r>
          </a:p>
        </p:txBody>
      </p:sp>
      <p:sp>
        <p:nvSpPr>
          <p:cNvPr id="14" name="">
            <a:extLst xmlns:a="http://schemas.openxmlformats.org/drawingml/2006/main">
              <a:ext uri="{FF2B5EF4-FFF2-40B4-BE49-F238E27FC236}">
                <a16:creationId xmlns:a16="http://schemas.microsoft.com/office/drawing/2014/main" id="{48DE20E4-FEA3-4E6C-BC55-395284743419}"/>
              </a:ext>
            </a:extLst>
          </p:cNvPr>
          <p:cNvSpPr>
            <a:spLocks xmlns:a="http://schemas.openxmlformats.org/drawingml/2006/main" noGrp="1"/>
          </p:cNvSpPr>
          <p:nvPr/>
        </p:nvSpPr>
        <p:spPr>
          <a:xfrm xmlns:a="http://schemas.openxmlformats.org/drawingml/2006/main">
            <a:off x="628650" y="357187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5" name="">
            <a:extLst xmlns:a="http://schemas.openxmlformats.org/drawingml/2006/main">
              <a:ext uri="{FF2B5EF4-FFF2-40B4-BE49-F238E27FC236}">
                <a16:creationId xmlns:a16="http://schemas.microsoft.com/office/drawing/2014/main" id="{5D1D1951-9F30-4E62-BE7D-12640E76ED59}"/>
              </a:ext>
            </a:extLst>
          </p:cNvPr>
          <p:cNvSpPr>
            <a:spLocks xmlns:a="http://schemas.openxmlformats.org/drawingml/2006/main" noGrp="1"/>
          </p:cNvSpPr>
          <p:nvPr/>
        </p:nvSpPr>
        <p:spPr>
          <a:xfrm xmlns:a="http://schemas.openxmlformats.org/drawingml/2006/main">
            <a:off x="800100" y="376237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3</a:t>
            </a:r>
          </a:p>
        </p:txBody>
      </p:sp>
      <p:sp>
        <p:nvSpPr>
          <p:cNvPr id="16" name="">
            <a:extLst xmlns:a="http://schemas.openxmlformats.org/drawingml/2006/main">
              <a:ext uri="{FF2B5EF4-FFF2-40B4-BE49-F238E27FC236}">
                <a16:creationId xmlns:a16="http://schemas.microsoft.com/office/drawing/2014/main" id="{BD7FEFE8-7DDC-47B0-B95B-2C1D0F79FA6C}"/>
              </a:ext>
            </a:extLst>
          </p:cNvPr>
          <p:cNvSpPr>
            <a:spLocks xmlns:a="http://schemas.openxmlformats.org/drawingml/2006/main" noGrp="1"/>
          </p:cNvSpPr>
          <p:nvPr/>
        </p:nvSpPr>
        <p:spPr>
          <a:xfrm xmlns:a="http://schemas.openxmlformats.org/drawingml/2006/main">
            <a:off x="1409700" y="374332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Check assertions, figures and versions.</a:t>
            </a:r>
          </a:p>
        </p:txBody>
      </p:sp>
      <p:sp>
        <p:nvSpPr>
          <p:cNvPr id="17" name="">
            <a:extLst xmlns:a="http://schemas.openxmlformats.org/drawingml/2006/main">
              <a:ext uri="{FF2B5EF4-FFF2-40B4-BE49-F238E27FC236}">
                <a16:creationId xmlns:a16="http://schemas.microsoft.com/office/drawing/2014/main" id="{8F3163C9-AC87-41CA-BD29-22359B2A06BA}"/>
              </a:ext>
            </a:extLst>
          </p:cNvPr>
          <p:cNvSpPr>
            <a:spLocks xmlns:a="http://schemas.openxmlformats.org/drawingml/2006/main" noGrp="1"/>
          </p:cNvSpPr>
          <p:nvPr/>
        </p:nvSpPr>
        <p:spPr>
          <a:xfrm xmlns:a="http://schemas.openxmlformats.org/drawingml/2006/main">
            <a:off x="6248400" y="3571875"/>
            <a:ext cx="5219700" cy="1123950"/>
          </a:xfrm>
          <a:prstGeom xmlns:a="http://schemas.openxmlformats.org/drawingml/2006/main" prst="roundRect">
            <a:avLst>
              <a:gd name="adj" fmla="val 6780"/>
            </a:avLst>
          </a:prstGeom>
          <a:solidFill xmlns:a="http://schemas.openxmlformats.org/drawingml/2006/main">
            <a:srgbClr val="0D2A43"/>
          </a:solidFill>
          <a:ln xmlns:a="http://schemas.openxmlformats.org/drawingml/2006/main" w="9525">
            <a:solidFill>
              <a:srgbClr val="22B8A7"/>
            </a:solidFill>
            <a:prstDash val="solid"/>
          </a:ln>
        </p:spPr>
      </p:sp>
      <p:sp>
        <p:nvSpPr>
          <p:cNvPr id="18" name="">
            <a:extLst xmlns:a="http://schemas.openxmlformats.org/drawingml/2006/main">
              <a:ext uri="{FF2B5EF4-FFF2-40B4-BE49-F238E27FC236}">
                <a16:creationId xmlns:a16="http://schemas.microsoft.com/office/drawing/2014/main" id="{17CF76F3-35E0-47F1-B431-BFDEE6DEF86A}"/>
              </a:ext>
            </a:extLst>
          </p:cNvPr>
          <p:cNvSpPr>
            <a:spLocks xmlns:a="http://schemas.openxmlformats.org/drawingml/2006/main" noGrp="1"/>
          </p:cNvSpPr>
          <p:nvPr/>
        </p:nvSpPr>
        <p:spPr>
          <a:xfrm xmlns:a="http://schemas.openxmlformats.org/drawingml/2006/main">
            <a:off x="6419850" y="3762375"/>
            <a:ext cx="47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D9A441"/>
                </a:solidFill>
              </a:defRPr>
            </a:pPr>
            <a:r>
              <a:rPr sz="2250" b="1">
                <a:solidFill>
                  <a:srgbClr val="D9A441"/>
                </a:solidFill>
              </a:rPr>
              <a:t>4</a:t>
            </a:r>
          </a:p>
        </p:txBody>
      </p:sp>
      <p:sp>
        <p:nvSpPr>
          <p:cNvPr id="19" name="">
            <a:extLst xmlns:a="http://schemas.openxmlformats.org/drawingml/2006/main">
              <a:ext uri="{FF2B5EF4-FFF2-40B4-BE49-F238E27FC236}">
                <a16:creationId xmlns:a16="http://schemas.microsoft.com/office/drawing/2014/main" id="{BBC93B72-B692-4128-A19E-17B9F177BE79}"/>
              </a:ext>
            </a:extLst>
          </p:cNvPr>
          <p:cNvSpPr>
            <a:spLocks xmlns:a="http://schemas.openxmlformats.org/drawingml/2006/main" noGrp="1"/>
          </p:cNvSpPr>
          <p:nvPr/>
        </p:nvSpPr>
        <p:spPr>
          <a:xfrm xmlns:a="http://schemas.openxmlformats.org/drawingml/2006/main">
            <a:off x="7029450" y="3743325"/>
            <a:ext cx="4191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F7F2E8"/>
                </a:solidFill>
              </a:defRPr>
            </a:pPr>
            <a:r>
              <a:rPr sz="1650" b="1">
                <a:solidFill>
                  <a:srgbClr val="F7F2E8"/>
                </a:solidFill>
              </a:rPr>
              <a:t>Keep the executed copy; investigate failures.</a:t>
            </a:r>
          </a:p>
        </p:txBody>
      </p:sp>
    </p:spTree>
    <p:extLst>
      <p:ext uri="{BB962C8B-B14F-4D97-AF65-F5344CB8AC3E}">
        <p14:creationId xmlns:p14="http://schemas.microsoft.com/office/powerpoint/2010/main" val="1154098988"/>
      </p:ext>
    </p:extLst>
  </p:cSld>
</p:sld>
</file>

<file path=ppt/slides/slide28.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94305A1-A353-4B03-BAC2-3E754547B4F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2B8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BDB360-4A89-419D-BE19-2EB5ED89D109}"/>
              </a:ext>
            </a:extLst>
          </p:cNvPr>
          <p:cNvSpPr>
            <a:spLocks xmlns:a="http://schemas.openxmlformats.org/drawingml/2006/main" noGrp="1"/>
          </p:cNvSpPr>
          <p:nvPr/>
        </p:nvSpPr>
        <p:spPr>
          <a:xfrm xmlns:a="http://schemas.openxmlformats.org/drawingml/2006/main">
            <a:off x="514350" y="2476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79D7CC"/>
                </a:solidFill>
              </a:defRPr>
            </a:pPr>
            <a:r>
              <a:rPr sz="1350" b="1">
                <a:solidFill>
                  <a:srgbClr val="79D7CC"/>
                </a:solidFill>
              </a:rPr>
              <a:t>SRAI</a:t>
            </a:r>
          </a:p>
        </p:txBody>
      </p:sp>
      <p:sp>
        <p:nvSpPr>
          <p:cNvPr id="3" name="">
            <a:extLst xmlns:a="http://schemas.openxmlformats.org/drawingml/2006/main">
              <a:ext uri="{FF2B5EF4-FFF2-40B4-BE49-F238E27FC236}">
                <a16:creationId xmlns:a16="http://schemas.microsoft.com/office/drawing/2014/main" id="{D4BED5E7-2D26-471F-A42F-2EA5DD63FFF0}"/>
              </a:ext>
            </a:extLst>
          </p:cNvPr>
          <p:cNvSpPr>
            <a:spLocks xmlns:a="http://schemas.openxmlformats.org/drawingml/2006/main" noGrp="1"/>
          </p:cNvSpPr>
          <p:nvPr/>
        </p:nvSpPr>
        <p:spPr>
          <a:xfrm xmlns:a="http://schemas.openxmlformats.org/drawingml/2006/main">
            <a:off x="1657350" y="2571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AFC1CE"/>
                </a:solidFill>
              </a:defRPr>
            </a:pPr>
            <a:r>
              <a:rPr sz="975" b="1">
                <a:solidFill>
                  <a:srgbClr val="AFC1CE"/>
                </a:solidFill>
              </a:rPr>
              <a:t>CLOSING</a:t>
            </a:r>
          </a:p>
        </p:txBody>
      </p:sp>
      <p:sp>
        <p:nvSpPr>
          <p:cNvPr id="4" name="">
            <a:extLst xmlns:a="http://schemas.openxmlformats.org/drawingml/2006/main">
              <a:ext uri="{FF2B5EF4-FFF2-40B4-BE49-F238E27FC236}">
                <a16:creationId xmlns:a16="http://schemas.microsoft.com/office/drawing/2014/main" id="{14D45392-D416-414D-ADCC-6D5CA788869A}"/>
              </a:ext>
            </a:extLst>
          </p:cNvPr>
          <p:cNvSpPr>
            <a:spLocks xmlns:a="http://schemas.openxmlformats.org/drawingml/2006/main" noGrp="1"/>
          </p:cNvSpPr>
          <p:nvPr/>
        </p:nvSpPr>
        <p:spPr>
          <a:xfrm xmlns:a="http://schemas.openxmlformats.org/drawingml/2006/main">
            <a:off x="11315700" y="2667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a:solidFill>
                  <a:srgbClr val="AFC1CE"/>
                </a:solidFill>
              </a:defRPr>
            </a:pPr>
            <a:r>
              <a:rPr sz="975" b="1">
                <a:solidFill>
                  <a:srgbClr val="AFC1CE"/>
                </a:solidFill>
              </a:rPr>
              <a:t>28</a:t>
            </a:r>
          </a:p>
        </p:txBody>
      </p:sp>
      <p:sp>
        <p:nvSpPr>
          <p:cNvPr id="5" name="">
            <a:extLst xmlns:a="http://schemas.openxmlformats.org/drawingml/2006/main">
              <a:ext uri="{FF2B5EF4-FFF2-40B4-BE49-F238E27FC236}">
                <a16:creationId xmlns:a16="http://schemas.microsoft.com/office/drawing/2014/main" id="{8FEDFEE8-75DB-4143-BDE7-D88B465FF65C}"/>
              </a:ext>
            </a:extLst>
          </p:cNvPr>
          <p:cNvSpPr>
            <a:spLocks xmlns:a="http://schemas.openxmlformats.org/drawingml/2006/main" noGrp="1"/>
          </p:cNvSpPr>
          <p:nvPr/>
        </p:nvSpPr>
        <p:spPr>
          <a:xfrm xmlns:a="http://schemas.openxmlformats.org/drawingml/2006/main">
            <a:off x="514350" y="628650"/>
            <a:ext cx="11182350" cy="0"/>
          </a:xfrm>
          <a:prstGeom xmlns:a="http://schemas.openxmlformats.org/drawingml/2006/main" prst="line">
            <a:avLst/>
          </a:prstGeom>
          <a:noFill xmlns:a="http://schemas.openxmlformats.org/drawingml/2006/main"/>
          <a:ln xmlns:a="http://schemas.openxmlformats.org/drawingml/2006/main" w="19050">
            <a:solidFill>
              <a:srgbClr val="0D2A43"/>
            </a:solidFill>
            <a:prstDash val="solid"/>
          </a:ln>
        </p:spPr>
      </p:sp>
      <p:sp>
        <p:nvSpPr>
          <p:cNvPr id="6" name="">
            <a:extLst xmlns:a="http://schemas.openxmlformats.org/drawingml/2006/main">
              <a:ext uri="{FF2B5EF4-FFF2-40B4-BE49-F238E27FC236}">
                <a16:creationId xmlns:a16="http://schemas.microsoft.com/office/drawing/2014/main" id="{96E5994E-8594-4728-B105-53AFE781E966}"/>
              </a:ext>
            </a:extLst>
          </p:cNvPr>
          <p:cNvSpPr>
            <a:spLocks xmlns:a="http://schemas.openxmlformats.org/drawingml/2006/main" noGrp="1"/>
          </p:cNvSpPr>
          <p:nvPr/>
        </p:nvSpPr>
        <p:spPr>
          <a:xfrm xmlns:a="http://schemas.openxmlformats.org/drawingml/2006/main">
            <a:off x="1143000" y="1381125"/>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F7F2E8"/>
                </a:solidFill>
              </a:defRPr>
            </a:pPr>
            <a:r>
              <a:rPr sz="3150" b="1">
                <a:solidFill>
                  <a:srgbClr val="F7F2E8"/>
                </a:solidFill>
              </a:rPr>
              <a:t>Understand the mode—and respect its limits.</a:t>
            </a:r>
          </a:p>
        </p:txBody>
      </p:sp>
      <p:sp>
        <p:nvSpPr>
          <p:cNvPr id="7" name="">
            <a:extLst xmlns:a="http://schemas.openxmlformats.org/drawingml/2006/main">
              <a:ext uri="{FF2B5EF4-FFF2-40B4-BE49-F238E27FC236}">
                <a16:creationId xmlns:a16="http://schemas.microsoft.com/office/drawing/2014/main" id="{61A8A178-BCE9-4A58-801C-030F86643943}"/>
              </a:ext>
            </a:extLst>
          </p:cNvPr>
          <p:cNvSpPr>
            <a:spLocks xmlns:a="http://schemas.openxmlformats.org/drawingml/2006/main" noGrp="1"/>
          </p:cNvSpPr>
          <p:nvPr/>
        </p:nvSpPr>
        <p:spPr>
          <a:xfrm xmlns:a="http://schemas.openxmlformats.org/drawingml/2006/main">
            <a:off x="1143000" y="2343150"/>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0">
                <a:solidFill>
                  <a:srgbClr val="AFC1CE"/>
                </a:solidFill>
              </a:defRPr>
            </a:pPr>
            <a:r>
              <a:rPr sz="2250" b="0">
                <a:solidFill>
                  <a:srgbClr val="AFC1CE"/>
                </a:solidFill>
              </a:rPr>
              <a:t>Make every numerical result</a:t>
            </a:r>
          </a:p>
        </p:txBody>
      </p:sp>
      <p:sp>
        <p:nvSpPr>
          <p:cNvPr id="8" name="">
            <a:extLst xmlns:a="http://schemas.openxmlformats.org/drawingml/2006/main">
              <a:ext uri="{FF2B5EF4-FFF2-40B4-BE49-F238E27FC236}">
                <a16:creationId xmlns:a16="http://schemas.microsoft.com/office/drawing/2014/main" id="{322E0539-6CA6-42DE-B5D8-B5172B9BC564}"/>
              </a:ext>
            </a:extLst>
          </p:cNvPr>
          <p:cNvSpPr>
            <a:spLocks xmlns:a="http://schemas.openxmlformats.org/drawingml/2006/main" noGrp="1"/>
          </p:cNvSpPr>
          <p:nvPr/>
        </p:nvSpPr>
        <p:spPr>
          <a:xfrm xmlns:a="http://schemas.openxmlformats.org/drawingml/2006/main">
            <a:off x="1143000" y="295275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700" b="1">
                <a:solidFill>
                  <a:srgbClr val="D9A441"/>
                </a:solidFill>
              </a:defRPr>
            </a:pPr>
            <a:r>
              <a:rPr sz="2700" b="1">
                <a:solidFill>
                  <a:srgbClr val="D9A441"/>
                </a:solidFill>
              </a:rPr>
              <a:t>interpretable  •  reproducible  •  accountable</a:t>
            </a:r>
          </a:p>
        </p:txBody>
      </p:sp>
      <p:sp>
        <p:nvSpPr>
          <p:cNvPr id="9" name="">
            <a:extLst xmlns:a="http://schemas.openxmlformats.org/drawingml/2006/main">
              <a:ext uri="{FF2B5EF4-FFF2-40B4-BE49-F238E27FC236}">
                <a16:creationId xmlns:a16="http://schemas.microsoft.com/office/drawing/2014/main" id="{DFAC4214-83AA-4AE0-8A5E-F2660266B111}"/>
              </a:ext>
            </a:extLst>
          </p:cNvPr>
          <p:cNvSpPr>
            <a:spLocks xmlns:a="http://schemas.openxmlformats.org/drawingml/2006/main" noGrp="1"/>
          </p:cNvSpPr>
          <p:nvPr/>
        </p:nvSpPr>
        <p:spPr>
          <a:xfrm xmlns:a="http://schemas.openxmlformats.org/drawingml/2006/main">
            <a:off x="3286125" y="4095750"/>
            <a:ext cx="5619750" cy="0"/>
          </a:xfrm>
          <a:prstGeom xmlns:a="http://schemas.openxmlformats.org/drawingml/2006/main" prst="line">
            <a:avLst/>
          </a:prstGeom>
          <a:noFill xmlns:a="http://schemas.openxmlformats.org/drawingml/2006/main"/>
          <a:ln xmlns:a="http://schemas.openxmlformats.org/drawingml/2006/main" w="38100">
            <a:solidFill>
              <a:srgbClr val="22B8A7"/>
            </a:solidFill>
            <a:prstDash val="solid"/>
          </a:ln>
        </p:spPr>
      </p:sp>
      <p:sp>
        <p:nvSpPr>
          <p:cNvPr id="10" name="">
            <a:extLst xmlns:a="http://schemas.openxmlformats.org/drawingml/2006/main">
              <a:ext uri="{FF2B5EF4-FFF2-40B4-BE49-F238E27FC236}">
                <a16:creationId xmlns:a16="http://schemas.microsoft.com/office/drawing/2014/main" id="{38E7F201-E120-4C27-8B81-D904466C6038}"/>
              </a:ext>
            </a:extLst>
          </p:cNvPr>
          <p:cNvSpPr>
            <a:spLocks xmlns:a="http://schemas.openxmlformats.org/drawingml/2006/main" noGrp="1"/>
          </p:cNvSpPr>
          <p:nvPr/>
        </p:nvSpPr>
        <p:spPr>
          <a:xfrm xmlns:a="http://schemas.openxmlformats.org/drawingml/2006/main">
            <a:off x="1143000" y="45243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79D7CC"/>
                </a:solidFill>
              </a:defRPr>
            </a:pPr>
            <a:r>
              <a:rPr sz="2250" b="1">
                <a:solidFill>
                  <a:srgbClr val="79D7CC"/>
                </a:solidFill>
              </a:rPr>
              <a:t>SRAI</a:t>
            </a:r>
          </a:p>
        </p:txBody>
      </p:sp>
      <p:sp>
        <p:nvSpPr>
          <p:cNvPr id="11" name="">
            <a:extLst xmlns:a="http://schemas.openxmlformats.org/drawingml/2006/main">
              <a:ext uri="{FF2B5EF4-FFF2-40B4-BE49-F238E27FC236}">
                <a16:creationId xmlns:a16="http://schemas.microsoft.com/office/drawing/2014/main" id="{123C1C76-7976-4D69-A3CA-C56468EA46A8}"/>
              </a:ext>
            </a:extLst>
          </p:cNvPr>
          <p:cNvSpPr>
            <a:spLocks xmlns:a="http://schemas.openxmlformats.org/drawingml/2006/main" noGrp="1"/>
          </p:cNvSpPr>
          <p:nvPr/>
        </p:nvSpPr>
        <p:spPr>
          <a:xfrm xmlns:a="http://schemas.openxmlformats.org/drawingml/2006/main">
            <a:off x="1428750" y="50863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0">
                <a:solidFill>
                  <a:srgbClr val="F7F2E8"/>
                </a:solidFill>
              </a:defRPr>
            </a:pPr>
            <a:r>
              <a:rPr sz="1650" b="0">
                <a:solidFill>
                  <a:srgbClr val="F7F2E8"/>
                </a:solidFill>
              </a:rPr>
              <a:t>Use the chapter, notebook, exercises and Executive Brief together.</a:t>
            </a:r>
          </a:p>
        </p:txBody>
      </p:sp>
      <p:sp>
        <p:nvSpPr>
          <p:cNvPr id="12" name="">
            <a:extLst xmlns:a="http://schemas.openxmlformats.org/drawingml/2006/main">
              <a:ext uri="{FF2B5EF4-FFF2-40B4-BE49-F238E27FC236}">
                <a16:creationId xmlns:a16="http://schemas.microsoft.com/office/drawing/2014/main" id="{2AB53D77-0401-43EE-9A2B-B0414CE24E73}"/>
              </a:ext>
            </a:extLst>
          </p:cNvPr>
          <p:cNvSpPr>
            <a:spLocks xmlns:a="http://schemas.openxmlformats.org/drawingml/2006/main" noGrp="1"/>
          </p:cNvSpPr>
          <p:nvPr/>
        </p:nvSpPr>
        <p:spPr>
          <a:xfrm xmlns:a="http://schemas.openxmlformats.org/drawingml/2006/main">
            <a:off x="1428750" y="58102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AFC1CE"/>
                </a:solidFill>
              </a:defRPr>
            </a:pPr>
            <a:r>
              <a:rPr sz="1200" b="0">
                <a:solidFill>
                  <a:srgbClr val="AFC1CE"/>
                </a:solidFill>
              </a:rPr>
              <a:t>@SRAIStatisticsReasoningandAI</a:t>
            </a:r>
          </a:p>
        </p:txBody>
      </p:sp>
    </p:spTree>
    <p:extLst>
      <p:ext uri="{BB962C8B-B14F-4D97-AF65-F5344CB8AC3E}">
        <p14:creationId xmlns:p14="http://schemas.microsoft.com/office/powerpoint/2010/main" val="2035873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2026-09-03T11:54:53.8990000Z</dcterms:created>
  <dcterms:modified xsi:type="dcterms:W3CDTF">2026-09-03T11:54:53.8990000Z</dcterms:modified>
</coreProperties>
</file>