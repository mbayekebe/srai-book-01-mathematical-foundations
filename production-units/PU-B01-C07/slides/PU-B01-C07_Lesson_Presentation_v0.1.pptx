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7bb0e5a2954dd5" /><Relationship Type="http://schemas.openxmlformats.org/officeDocument/2006/relationships/extended-properties" Target="/docProps/app.xml" Id="R7bed74fec350418a" /><Relationship Type="http://schemas.openxmlformats.org/officeDocument/2006/relationships/officeDocument" Target="/ppt/presentation.xml" Id="R8bf71bbbffa240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923a36cc2b4ebb"/>
  </p:sldMasterIdLst>
  <p:notesMasterIdLst>
    <p:notesMasterId xmlns:r="http://schemas.openxmlformats.org/officeDocument/2006/relationships" r:id="R97d7c748878b43af"/>
  </p:notesMasterIdLst>
  <p:sldIdLst>
    <p:sldId xmlns:r="http://schemas.openxmlformats.org/officeDocument/2006/relationships" id="256" r:id="Ra8de7ce7010f4e73"/>
    <p:sldId xmlns:r="http://schemas.openxmlformats.org/officeDocument/2006/relationships" id="257" r:id="Rcd8f5029526b4239"/>
    <p:sldId xmlns:r="http://schemas.openxmlformats.org/officeDocument/2006/relationships" id="258" r:id="Rc6643f7fd7d0403a"/>
    <p:sldId xmlns:r="http://schemas.openxmlformats.org/officeDocument/2006/relationships" id="259" r:id="R3a91faa4f2074f16"/>
    <p:sldId xmlns:r="http://schemas.openxmlformats.org/officeDocument/2006/relationships" id="260" r:id="Rd572189a2330402d"/>
    <p:sldId xmlns:r="http://schemas.openxmlformats.org/officeDocument/2006/relationships" id="261" r:id="Rc51d2aa1d3cf4fa1"/>
    <p:sldId xmlns:r="http://schemas.openxmlformats.org/officeDocument/2006/relationships" id="262" r:id="R7a24c4c57c294c24"/>
    <p:sldId xmlns:r="http://schemas.openxmlformats.org/officeDocument/2006/relationships" id="263" r:id="Rf986e2895c774e75"/>
    <p:sldId xmlns:r="http://schemas.openxmlformats.org/officeDocument/2006/relationships" id="264" r:id="R11f20d8e625c440f"/>
    <p:sldId xmlns:r="http://schemas.openxmlformats.org/officeDocument/2006/relationships" id="265" r:id="R4a188bbf3f114067"/>
    <p:sldId xmlns:r="http://schemas.openxmlformats.org/officeDocument/2006/relationships" id="266" r:id="R9833e1353eeb489e"/>
    <p:sldId xmlns:r="http://schemas.openxmlformats.org/officeDocument/2006/relationships" id="267" r:id="Rbe5b5d8d8a5748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2b0b4454b6409c" /><Relationship Type="http://schemas.openxmlformats.org/officeDocument/2006/relationships/slideMaster" Target="/ppt/slideMasters/slideMaster1.xml" Id="R59923a36cc2b4ebb" /><Relationship Type="http://schemas.openxmlformats.org/officeDocument/2006/relationships/notesMaster" Target="/ppt/notesMasters/notesMaster1.xml" Id="R97d7c748878b43af" /><Relationship Type="http://schemas.openxmlformats.org/officeDocument/2006/relationships/presProps" Target="/ppt/presProps.xml" Id="R029086f86db147fd" /><Relationship Type="http://schemas.openxmlformats.org/officeDocument/2006/relationships/tableStyles" Target="/ppt/tableStyles.xml" Id="R8d34c560fa8f42f1" /><Relationship Type="http://schemas.openxmlformats.org/officeDocument/2006/relationships/slide" Target="/ppt/slides/slide1.xml" Id="Ra8de7ce7010f4e73" /><Relationship Type="http://schemas.openxmlformats.org/officeDocument/2006/relationships/slide" Target="/ppt/slides/slide2.xml" Id="Rcd8f5029526b4239" /><Relationship Type="http://schemas.openxmlformats.org/officeDocument/2006/relationships/slide" Target="/ppt/slides/slide3.xml" Id="Rc6643f7fd7d0403a" /><Relationship Type="http://schemas.openxmlformats.org/officeDocument/2006/relationships/slide" Target="/ppt/slides/slide4.xml" Id="R3a91faa4f2074f16" /><Relationship Type="http://schemas.openxmlformats.org/officeDocument/2006/relationships/slide" Target="/ppt/slides/slide5.xml" Id="Rd572189a2330402d" /><Relationship Type="http://schemas.openxmlformats.org/officeDocument/2006/relationships/slide" Target="/ppt/slides/slide6.xml" Id="Rc51d2aa1d3cf4fa1" /><Relationship Type="http://schemas.openxmlformats.org/officeDocument/2006/relationships/slide" Target="/ppt/slides/slide7.xml" Id="R7a24c4c57c294c24" /><Relationship Type="http://schemas.openxmlformats.org/officeDocument/2006/relationships/slide" Target="/ppt/slides/slide8.xml" Id="Rf986e2895c774e75" /><Relationship Type="http://schemas.openxmlformats.org/officeDocument/2006/relationships/slide" Target="/ppt/slides/slide9.xml" Id="R11f20d8e625c440f" /><Relationship Type="http://schemas.openxmlformats.org/officeDocument/2006/relationships/slide" Target="/ppt/slides/slide10.xml" Id="R4a188bbf3f114067" /><Relationship Type="http://schemas.openxmlformats.org/officeDocument/2006/relationships/slide" Target="/ppt/slides/slide11.xml" Id="R9833e1353eeb489e" /><Relationship Type="http://schemas.openxmlformats.org/officeDocument/2006/relationships/slide" Target="/ppt/slides/slide12.xml" Id="Rbe5b5d8d8a5748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dc60bbc3114a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7a7f314b8a48ec" /><Relationship Type="http://schemas.openxmlformats.org/officeDocument/2006/relationships/notesMaster" Target="/ppt/notesMasters/notesMaster1.xml" Id="R853db0edeb3248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5db2d7ea864e49" /><Relationship Type="http://schemas.openxmlformats.org/officeDocument/2006/relationships/notesMaster" Target="/ppt/notesMasters/notesMaster1.xml" Id="Rfe29ed9a584440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6d45ef59274c56" /><Relationship Type="http://schemas.openxmlformats.org/officeDocument/2006/relationships/notesMaster" Target="/ppt/notesMasters/notesMaster1.xml" Id="R69121a1ad43c42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64edc0f2674764" /><Relationship Type="http://schemas.openxmlformats.org/officeDocument/2006/relationships/notesMaster" Target="/ppt/notesMasters/notesMaster1.xml" Id="R61ce4be9dde240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98daf328df4a46" /><Relationship Type="http://schemas.openxmlformats.org/officeDocument/2006/relationships/notesMaster" Target="/ppt/notesMasters/notesMaster1.xml" Id="R0006d6c9df6249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40b26e3b40430a" /><Relationship Type="http://schemas.openxmlformats.org/officeDocument/2006/relationships/notesMaster" Target="/ppt/notesMasters/notesMaster1.xml" Id="R1a793e1910fb4b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14d1035fc84af1" /><Relationship Type="http://schemas.openxmlformats.org/officeDocument/2006/relationships/notesMaster" Target="/ppt/notesMasters/notesMaster1.xml" Id="R9308ae7dd91a4f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b9ff48b2ef4d81" /><Relationship Type="http://schemas.openxmlformats.org/officeDocument/2006/relationships/notesMaster" Target="/ppt/notesMasters/notesMaster1.xml" Id="R6533a7a28bb343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a114aaffba4496" /><Relationship Type="http://schemas.openxmlformats.org/officeDocument/2006/relationships/notesMaster" Target="/ppt/notesMasters/notesMaster1.xml" Id="R942b9089b39b42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4901b58c2c4a24" /><Relationship Type="http://schemas.openxmlformats.org/officeDocument/2006/relationships/notesMaster" Target="/ppt/notesMasters/notesMaster1.xml" Id="R9a11ca768f2842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0776d08416b4d14" /><Relationship Type="http://schemas.openxmlformats.org/officeDocument/2006/relationships/notesMaster" Target="/ppt/notesMasters/notesMaster1.xml" Id="R09395fc2e723433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540b797d74a4209" /><Relationship Type="http://schemas.openxmlformats.org/officeDocument/2006/relationships/notesMaster" Target="/ppt/notesMasters/notesMaster1.xml" Id="R05b75d4caa5040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b06adc3c0a47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883131efc8438d" /><Relationship Type="http://schemas.openxmlformats.org/officeDocument/2006/relationships/slideLayout" Target="/ppt/slideLayouts/slideLayout1.xml" Id="R758658cd208f4f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8658cd208f4f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1ddd92d914b74" /><Relationship Type="http://schemas.openxmlformats.org/officeDocument/2006/relationships/notesSlide" Target="/ppt/notesSlides/notesSlide1.xml" Id="R1655a3c78a0b4d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ac5f9894b4799" /><Relationship Type="http://schemas.openxmlformats.org/officeDocument/2006/relationships/notesSlide" Target="/ppt/notesSlides/notesSlide2.xml" Id="Rce2d69e201f245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b34e66d944d98" /><Relationship Type="http://schemas.openxmlformats.org/officeDocument/2006/relationships/notesSlide" Target="/ppt/notesSlides/notesSlide3.xml" Id="R1fadb13ca83947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d67b6635c4a3b" /><Relationship Type="http://schemas.openxmlformats.org/officeDocument/2006/relationships/notesSlide" Target="/ppt/notesSlides/notesSlide4.xml" Id="Re3aa5b0cc85d44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314d161664cca" /><Relationship Type="http://schemas.openxmlformats.org/officeDocument/2006/relationships/notesSlide" Target="/ppt/notesSlides/notesSlide5.xml" Id="R73567d7466e948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efa550af64692" /><Relationship Type="http://schemas.openxmlformats.org/officeDocument/2006/relationships/notesSlide" Target="/ppt/notesSlides/notesSlide6.xml" Id="R40d5a3446dd940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ae0e146944143" /><Relationship Type="http://schemas.openxmlformats.org/officeDocument/2006/relationships/notesSlide" Target="/ppt/notesSlides/notesSlide7.xml" Id="R0f8e731780d449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91032a4c34a97" /><Relationship Type="http://schemas.openxmlformats.org/officeDocument/2006/relationships/notesSlide" Target="/ppt/notesSlides/notesSlide8.xml" Id="Rd2d339e2e81448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ab8e2647649ad" /><Relationship Type="http://schemas.openxmlformats.org/officeDocument/2006/relationships/notesSlide" Target="/ppt/notesSlides/notesSlide9.xml" Id="Ra628c0597fe34b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4826ec78b4059" /><Relationship Type="http://schemas.openxmlformats.org/officeDocument/2006/relationships/notesSlide" Target="/ppt/notesSlides/notesSlide10.xml" Id="Rd0b03d5f507f4ba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6a9ad705d4b8a" /><Relationship Type="http://schemas.openxmlformats.org/officeDocument/2006/relationships/notesSlide" Target="/ppt/notesSlides/notesSlide11.xml" Id="R6164ee34f3e749e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c8b9e29f804fb0" /><Relationship Type="http://schemas.openxmlformats.org/officeDocument/2006/relationships/notesSlide" Target="/ppt/notesSlides/notesSlide12.xml" Id="R6a292ea86a6347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3B80C4-2795-46C8-95D3-43C2542B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A462A-5373-416C-A531-01B087EE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9D7CC"/>
                </a:solidFill>
              </a:defRPr>
            </a:pPr>
            <a:r>
              <a:rPr sz="1350" b="1">
                <a:solidFill>
                  <a:srgbClr val="79D7CC"/>
                </a:solidFill>
              </a:rPr>
              <a:t>SRAI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123355-E37E-45A1-9E24-87807AFA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05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FC3D2"/>
                </a:solidFill>
              </a:defRPr>
            </a:pPr>
            <a:r>
              <a:rPr sz="900" b="1">
                <a:solidFill>
                  <a:srgbClr val="AFC3D2"/>
                </a:solidFill>
              </a:rPr>
              <a:t>LESSON 7 · DIMENSIONALITY REDUCTION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13704C-A535-499B-AAD7-836D54B3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905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FC3D2"/>
                </a:solidFill>
              </a:defRPr>
            </a:pPr>
            <a:r>
              <a:rPr sz="900" b="1">
                <a:solidFill>
                  <a:srgbClr val="AFC3D2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E80F1A-F339-4C70-A704-E881641F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647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AFC"/>
                </a:solidFill>
              </a:defRPr>
            </a:pPr>
            <a:r>
              <a:rPr sz="3150" b="1">
                <a:solidFill>
                  <a:srgbClr val="F7FAFC"/>
                </a:solidFill>
              </a:rPr>
              <a:t>WHAT CAN YOU</a:t>
            </a:r>
          </a:p>
          <a:p xmlns:a="http://schemas.openxmlformats.org/drawingml/2006/main">
            <a:pPr algn="l">
              <a:defRPr sz="3150" b="1">
                <a:solidFill>
                  <a:srgbClr val="F7FAFC"/>
                </a:solidFill>
              </a:defRPr>
            </a:pPr>
            <a:r>
              <a:rPr sz="3150" b="1">
                <a:solidFill>
                  <a:srgbClr val="F7FAFC"/>
                </a:solidFill>
              </a:rPr>
              <a:t>REMOVE WITHOUT</a:t>
            </a:r>
          </a:p>
          <a:p xmlns:a="http://schemas.openxmlformats.org/drawingml/2006/main">
            <a:pPr algn="l">
              <a:defRPr sz="3150" b="1">
                <a:solidFill>
                  <a:srgbClr val="F7FAFC"/>
                </a:solidFill>
              </a:defRPr>
            </a:pPr>
            <a:r>
              <a:rPr sz="3150" b="1">
                <a:solidFill>
                  <a:srgbClr val="F7FAFC"/>
                </a:solidFill>
              </a:rPr>
              <a:t>LOSING THE DECISION?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461F87-52DA-4E4F-AF19-3486D2B2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D7CC"/>
                </a:solidFill>
              </a:defRPr>
            </a:pPr>
            <a:r>
              <a:rPr sz="1650" b="1">
                <a:solidFill>
                  <a:srgbClr val="79D7CC"/>
                </a:solidFill>
              </a:rPr>
              <a:t>SVD, PCA and accountable compression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58646-ED80-4BC7-8309-407BCD8B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047750"/>
            <a:ext cx="2857500" cy="3381375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0324A"/>
          </a:solidFill>
          <a:ln xmlns:a="http://schemas.openxmlformats.org/drawingml/2006/main" w="9525">
            <a:solidFill>
              <a:srgbClr val="2D88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2E2D93-8F57-49C0-A604-6E1F0DE7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5621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D8A526"/>
                </a:solidFill>
              </a:defRPr>
            </a:pPr>
            <a:r>
              <a:rPr sz="2325" b="1">
                <a:solidFill>
                  <a:srgbClr val="D8A526"/>
                </a:solidFill>
              </a:rPr>
              <a:t>A ≈ UₖΣₖVₖᵀ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68459B-B2B4-4D0B-88FE-ABD16B7D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622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FC3D2"/>
                </a:solidFill>
              </a:defRPr>
            </a:pPr>
            <a:r>
              <a:rPr sz="1125" b="0">
                <a:solidFill>
                  <a:srgbClr val="AFC3D2"/>
                </a:solidFill>
              </a:rPr>
              <a:t>compress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E1BF3A-37D8-4354-8FDF-AECDF112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1462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595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9D7CC"/>
                </a:solidFill>
              </a:defRPr>
            </a:pPr>
            <a:r>
              <a:rPr sz="2100" b="1">
                <a:solidFill>
                  <a:srgbClr val="79D7CC"/>
                </a:solidFill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C552A6-EC66-4B53-AB5A-E8B6CBD1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623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measure loss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252063-756E-48D2-8159-09DB5314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FC3D2"/>
                </a:solidFill>
              </a:defRPr>
            </a:pPr>
            <a:r>
              <a:rPr sz="825" b="0">
                <a:solidFill>
                  <a:srgbClr val="AFC3D2"/>
                </a:solidFill>
              </a:rPr>
              <a:t>PU-B01-C07 · Controlled publication candidate v0.1</a:t>
            </a:r>
          </a:p>
        </p:txBody>
      </p:sp>
    </p:spTree>
    <p:extLst>
      <p:ext uri="{BB962C8B-B14F-4D97-AF65-F5344CB8AC3E}">
        <p14:creationId xmlns:p14="http://schemas.microsoft.com/office/powerpoint/2010/main" val="21239942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A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6BD7EC-9DE1-4BA1-8B82-4E6FF3F3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35B1DE-D4D7-4D5A-9661-A21442CA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9D7CC"/>
                </a:solidFill>
              </a:defRPr>
            </a:pPr>
            <a:r>
              <a:rPr sz="1350" b="1">
                <a:solidFill>
                  <a:srgbClr val="79D7CC"/>
                </a:solidFill>
              </a:rPr>
              <a:t>SRAI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B99DC-106A-4E9C-B850-D8A553A9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05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FC3D2"/>
                </a:solidFill>
              </a:defRPr>
            </a:pPr>
            <a:r>
              <a:rPr sz="900" b="1">
                <a:solidFill>
                  <a:srgbClr val="AFC3D2"/>
                </a:solidFill>
              </a:rPr>
              <a:t>LEARNING ROUTE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84D87-C1BE-420A-868F-168ED2D6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905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FC3D2"/>
                </a:solidFill>
              </a:defRPr>
            </a:pPr>
            <a:r>
              <a:rPr sz="900" b="1">
                <a:solidFill>
                  <a:srgbClr val="AFC3D2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CA0724-F532-433E-87C1-F0E6E091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AFC"/>
                </a:solidFill>
              </a:defRPr>
            </a:pPr>
            <a:r>
              <a:rPr sz="2400" b="1">
                <a:solidFill>
                  <a:srgbClr val="F7FAFC"/>
                </a:solidFill>
              </a:rPr>
              <a:t>Four questions guide the lesson.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A4CAA3-DC49-4C73-90E3-8FCAA48E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3D2"/>
                </a:solidFill>
              </a:defRPr>
            </a:pPr>
            <a:r>
              <a:rPr sz="1125" b="0">
                <a:solidFill>
                  <a:srgbClr val="AFC3D2"/>
                </a:solidFill>
              </a:rPr>
              <a:t>We move from structure to compression, then from compression to governance.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6F39A9-59B0-4A52-9B6C-92CFBAE0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4953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C2940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FD08D6-A43B-42F6-95D0-7C560490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B8A7"/>
                </a:solidFill>
              </a:defRPr>
            </a:pPr>
            <a:r>
              <a:rPr sz="900" b="1">
                <a:solidFill>
                  <a:srgbClr val="22B8A7"/>
                </a:solidFill>
              </a:rPr>
              <a:t>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E30DD8-9060-47E0-B455-A6489255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45339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Which directions dominate the matrix?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3F85CA-4BC2-421B-BE3C-62CEE549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953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C2940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F09DCC-0EFB-4476-9040-C1F38E1E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2885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B8A7"/>
                </a:solidFill>
              </a:defRPr>
            </a:pPr>
            <a:r>
              <a:rPr sz="900" b="1">
                <a:solidFill>
                  <a:srgbClr val="22B8A7"/>
                </a:solidFill>
              </a:rPr>
              <a:t>COMPRESSION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3EBDD6-C78A-468F-9928-418B2726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71750"/>
            <a:ext cx="45339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How well does rank-k preserve the original?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6DF9B-C5B0-4A2C-9729-CE914DC7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4953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C2940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395D75-426A-4EA6-A166-A4C14E16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B8A7"/>
                </a:solidFill>
              </a:defRPr>
            </a:pPr>
            <a:r>
              <a:rPr sz="900" b="1">
                <a:solidFill>
                  <a:srgbClr val="22B8A7"/>
                </a:solidFill>
              </a:rPr>
              <a:t>VARIATION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C6DDE3-F563-47C6-AF59-6C56F80D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43375"/>
            <a:ext cx="45339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What does PCA retain after centering?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584400-1E35-47BE-ABEA-12D5FDC5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67125"/>
            <a:ext cx="4953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C2940"/>
          </a:solidFill>
          <a:ln xmlns:a="http://schemas.openxmlformats.org/drawingml/2006/main" w="9525">
            <a:solidFill>
              <a:srgbClr val="D8A5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4B0164-9B0E-4C64-BE5D-466A47F6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00475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A526"/>
                </a:solidFill>
              </a:defRPr>
            </a:pPr>
            <a:r>
              <a:rPr sz="900" b="1">
                <a:solidFill>
                  <a:srgbClr val="D8A526"/>
                </a:solidFill>
              </a:rPr>
              <a:t>DECISION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9A5993-D2AD-4868-8071-2CFF1ECF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43375"/>
            <a:ext cx="45339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Which losses are acceptable for the intended use?</a:t>
            </a:r>
          </a:p>
        </p:txBody>
      </p:sp>
    </p:spTree>
    <p:extLst>
      <p:ext uri="{BB962C8B-B14F-4D97-AF65-F5344CB8AC3E}">
        <p14:creationId xmlns:p14="http://schemas.microsoft.com/office/powerpoint/2010/main" val="19571451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A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90C1FB-BA35-4A19-BE0B-8C3B9EBA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AC60E-DAC2-497F-936D-33ED27B4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9D7CC"/>
                </a:solidFill>
              </a:defRPr>
            </a:pPr>
            <a:r>
              <a:rPr sz="1350" b="1">
                <a:solidFill>
                  <a:srgbClr val="79D7CC"/>
                </a:solidFill>
              </a:rPr>
              <a:t>SRAI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21734E-01C7-4B2E-9BEC-1BB9711E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05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FC3D2"/>
                </a:solidFill>
              </a:defRPr>
            </a:pPr>
            <a:r>
              <a:rPr sz="900" b="1">
                <a:solidFill>
                  <a:srgbClr val="AFC3D2"/>
                </a:solidFill>
              </a:rPr>
              <a:t>SVD ANATOMY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73AC6-399F-4502-9029-04EF8434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905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FC3D2"/>
                </a:solidFill>
              </a:defRPr>
            </a:pPr>
            <a:r>
              <a:rPr sz="900" b="1">
                <a:solidFill>
                  <a:srgbClr val="AFC3D2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E75F9-0E65-4073-A5F0-AC2A2E24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AFC"/>
                </a:solidFill>
              </a:defRPr>
            </a:pPr>
            <a:r>
              <a:rPr sz="2400" b="1">
                <a:solidFill>
                  <a:srgbClr val="F7FAFC"/>
                </a:solidFill>
              </a:rPr>
              <a:t>A matrix separates into directions and strengths.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A9289-0F33-4208-9B1E-B9412635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3D2"/>
                </a:solidFill>
              </a:defRPr>
            </a:pPr>
            <a:r>
              <a:rPr sz="1125" b="0">
                <a:solidFill>
                  <a:srgbClr val="AFC3D2"/>
                </a:solidFill>
              </a:rPr>
              <a:t>For A ∈ ℝᵐˣⁿ, the singular value decomposition is A = UΣVᵀ.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D270F0-D925-441B-A596-562F0E4D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C2940"/>
          </a:solidFill>
          <a:ln xmlns:a="http://schemas.openxmlformats.org/drawingml/2006/main" w="9525">
            <a:solidFill>
              <a:srgbClr val="2D88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74A179-9BA5-48EF-BF10-5576727E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88C9"/>
                </a:solidFill>
              </a:defRPr>
            </a:pPr>
            <a:r>
              <a:rPr sz="900" b="1">
                <a:solidFill>
                  <a:srgbClr val="2D88C9"/>
                </a:solidFill>
              </a:rPr>
              <a:t>Vᵀ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A97E01-8C4F-4245-AA88-A7E3C6B9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7241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Input directions</a:t>
            </a:r>
          </a:p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Right singular vectors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E38800-ECDB-45FD-9DFA-A24E2683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7813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8A526"/>
                </a:solidFill>
              </a:defRPr>
            </a:pPr>
            <a:r>
              <a:rPr sz="2250" b="1">
                <a:solidFill>
                  <a:srgbClr val="D8A526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AA5BD5-22CF-4FDD-B391-14BA514F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C2940"/>
          </a:solidFill>
          <a:ln xmlns:a="http://schemas.openxmlformats.org/drawingml/2006/main" w="9525">
            <a:solidFill>
              <a:srgbClr val="D8A5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EFCD48-698F-4B12-AB6E-AA963FF8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3241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A526"/>
                </a:solidFill>
              </a:defRPr>
            </a:pPr>
            <a:r>
              <a:rPr sz="900" b="1">
                <a:solidFill>
                  <a:srgbClr val="D8A526"/>
                </a:solidFill>
              </a:rPr>
              <a:t>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B2D4D1-0CF9-4D22-A9D0-358944FC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667000"/>
            <a:ext cx="27241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Directional strengths</a:t>
            </a:r>
          </a:p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σ₁ ≥ σ₂ ≥ … ≥ 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1C23A5-AEC9-40CF-BA8B-3C0C0598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7813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8A526"/>
                </a:solidFill>
              </a:defRPr>
            </a:pPr>
            <a:r>
              <a:rPr sz="2250" b="1">
                <a:solidFill>
                  <a:srgbClr val="D8A526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7897F0-FB10-432F-B944-8EC04C69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907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C2940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1E9CFD-23A5-484B-996A-DFB0BEC4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241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B8A7"/>
                </a:solidFill>
              </a:defRPr>
            </a:pPr>
            <a:r>
              <a:rPr sz="900" b="1">
                <a:solidFill>
                  <a:srgbClr val="22B8A7"/>
                </a:solidFill>
              </a:rPr>
              <a:t>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59D8DE-72B1-42A4-8B17-2A1D75A5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67000"/>
            <a:ext cx="27241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Output directions</a:t>
            </a:r>
          </a:p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Left singular vectors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754975-147C-4934-A403-5495BECC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57750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9D7CC"/>
                </a:solidFill>
              </a:defRPr>
            </a:pPr>
            <a:r>
              <a:rPr sz="1500" b="1">
                <a:solidFill>
                  <a:srgbClr val="79D7CC"/>
                </a:solidFill>
              </a:rPr>
              <a:t>The factors are interpretable only with the data definition and intended use.</a:t>
            </a:r>
          </a:p>
        </p:txBody>
      </p:sp>
    </p:spTree>
    <p:extLst>
      <p:ext uri="{BB962C8B-B14F-4D97-AF65-F5344CB8AC3E}">
        <p14:creationId xmlns:p14="http://schemas.microsoft.com/office/powerpoint/2010/main" val="10056121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A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026055-E4F5-481F-BA67-DC4F1AB8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C5B36C-DA39-4CCD-99AD-1B12C6DE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9D7CC"/>
                </a:solidFill>
              </a:defRPr>
            </a:pPr>
            <a:r>
              <a:rPr sz="1350" b="1">
                <a:solidFill>
                  <a:srgbClr val="79D7CC"/>
                </a:solidFill>
              </a:rPr>
              <a:t>SRAI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72D76-D758-423A-A189-124A5788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05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FC3D2"/>
                </a:solidFill>
              </a:defRPr>
            </a:pPr>
            <a:r>
              <a:rPr sz="900" b="1">
                <a:solidFill>
                  <a:srgbClr val="AFC3D2"/>
                </a:solidFill>
              </a:rPr>
              <a:t>VERIFICATION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B2F8F9-A26D-4E77-BBB3-B020B7CE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905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FC3D2"/>
                </a:solidFill>
              </a:defRPr>
            </a:pPr>
            <a:r>
              <a:rPr sz="900" b="1">
                <a:solidFill>
                  <a:srgbClr val="AFC3D2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E7B53-D11B-4466-981F-DC9A6538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AFC"/>
                </a:solidFill>
              </a:defRPr>
            </a:pPr>
            <a:r>
              <a:rPr sz="2400" b="1">
                <a:solidFill>
                  <a:srgbClr val="F7FAFC"/>
                </a:solidFill>
              </a:rPr>
              <a:t>Three checks turn a decomposition into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485D04-FBFA-4E1A-8876-4D5CF229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3238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C2940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74B10-9EE2-431B-B5B5-4ED92F07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22885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B8A7"/>
                </a:solidFill>
              </a:defRPr>
            </a:pPr>
            <a:r>
              <a:rPr sz="900" b="1">
                <a:solidFill>
                  <a:srgbClr val="22B8A7"/>
                </a:solidFill>
              </a:rPr>
              <a:t>RECONSTRUCTION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BF76EB-3AC9-439D-80C4-64C037EB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571750"/>
            <a:ext cx="28194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Verify</a:t>
            </a:r>
          </a:p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A ≈ UΣVᵀ</a:t>
            </a:r>
          </a:p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within a stated tolerance.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374527-9B3A-420E-B081-74604E44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238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C2940"/>
          </a:solidFill>
          <a:ln xmlns:a="http://schemas.openxmlformats.org/drawingml/2006/main" w="9525">
            <a:solidFill>
              <a:srgbClr val="2D88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B30030-4366-4372-B2B3-263A43F5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2885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88C9"/>
                </a:solidFill>
              </a:defRPr>
            </a:pPr>
            <a:r>
              <a:rPr sz="900" b="1">
                <a:solidFill>
                  <a:srgbClr val="2D88C9"/>
                </a:solidFill>
              </a:rPr>
              <a:t>ORTHOGONALITY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907B7C-F8A8-44BA-8E4F-70ECD20D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71750"/>
            <a:ext cx="28194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Verify</a:t>
            </a:r>
          </a:p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UᵀU = I</a:t>
            </a:r>
          </a:p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and</a:t>
            </a:r>
          </a:p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VᵀV = 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D5F82A-933A-4320-9F73-86940B5C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3238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C2940"/>
          </a:solidFill>
          <a:ln xmlns:a="http://schemas.openxmlformats.org/drawingml/2006/main" w="9525">
            <a:solidFill>
              <a:srgbClr val="D8A5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716A13-042F-4448-BFF0-43E0E5C6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22885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A526"/>
                </a:solidFill>
              </a:defRPr>
            </a:pPr>
            <a:r>
              <a:rPr sz="900" b="1">
                <a:solidFill>
                  <a:srgbClr val="D8A526"/>
                </a:solidFill>
              </a:rPr>
              <a:t>ORDERING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8A5DB5-6F95-47E4-9C65-C94A7703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571750"/>
            <a:ext cx="28194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Confirm singular values are nonnegative and descending.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E3B52E-0C69-4D6D-9F6E-650BA75A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00625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A printed matrix is not enough: assertions make the result reproducible.</a:t>
            </a:r>
          </a:p>
        </p:txBody>
      </p:sp>
    </p:spTree>
    <p:extLst>
      <p:ext uri="{BB962C8B-B14F-4D97-AF65-F5344CB8AC3E}">
        <p14:creationId xmlns:p14="http://schemas.microsoft.com/office/powerpoint/2010/main" val="511847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A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67A61E-44C7-4535-9901-574BBC40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1F419-5900-48FF-9FBB-D94B1B43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9D7CC"/>
                </a:solidFill>
              </a:defRPr>
            </a:pPr>
            <a:r>
              <a:rPr sz="1350" b="1">
                <a:solidFill>
                  <a:srgbClr val="79D7CC"/>
                </a:solidFill>
              </a:rPr>
              <a:t>SRAI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2C9D2-80FF-44F1-84DD-3AF2B1E8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05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FC3D2"/>
                </a:solidFill>
              </a:defRPr>
            </a:pPr>
            <a:r>
              <a:rPr sz="900" b="1">
                <a:solidFill>
                  <a:srgbClr val="AFC3D2"/>
                </a:solidFill>
              </a:rPr>
              <a:t>LOW-RANK APPROXIMATION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B6392-7FE8-47F5-9F56-C0DD622C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905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FC3D2"/>
                </a:solidFill>
              </a:defRPr>
            </a:pPr>
            <a:r>
              <a:rPr sz="900" b="1">
                <a:solidFill>
                  <a:srgbClr val="AFC3D2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3E827-36F2-4BB6-8F87-E4770EDC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AFC"/>
                </a:solidFill>
              </a:defRPr>
            </a:pPr>
            <a:r>
              <a:rPr sz="2400" b="1">
                <a:solidFill>
                  <a:srgbClr val="F7FAFC"/>
                </a:solidFill>
              </a:rPr>
              <a:t>Compression is a controlled approximation—not deletion by intuition.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68E55-FAE2-440D-9913-AF165BD7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38375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D8A526"/>
                </a:solidFill>
              </a:defRPr>
            </a:pPr>
            <a:r>
              <a:rPr sz="2625" b="1">
                <a:solidFill>
                  <a:srgbClr val="D8A526"/>
                </a:solidFill>
              </a:rPr>
              <a:t>Aₖ = UₖΣₖVₖᵀ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87B24D-D44F-4F1E-922D-D09B6F0C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476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C2940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1F52D1-AF8E-490C-A313-995C6814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85975"/>
            <a:ext cx="405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B8A7"/>
                </a:solidFill>
              </a:defRPr>
            </a:pPr>
            <a:r>
              <a:rPr sz="900" b="1">
                <a:solidFill>
                  <a:srgbClr val="22B8A7"/>
                </a:solidFill>
              </a:rPr>
              <a:t>RETAIN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90D008-A102-4625-B768-A4B8A685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28875"/>
            <a:ext cx="40576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Keep the first k dominant directions.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A95ED9-9B5F-49A0-92AE-4AD450B2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4476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C2940"/>
          </a:solidFill>
          <a:ln xmlns:a="http://schemas.openxmlformats.org/drawingml/2006/main" w="9525">
            <a:solidFill>
              <a:srgbClr val="2D88C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00032D-DB1E-4578-98A7-17DCF9A4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09975"/>
            <a:ext cx="405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88C9"/>
                </a:solidFill>
              </a:defRPr>
            </a:pPr>
            <a:r>
              <a:rPr sz="900" b="1">
                <a:solidFill>
                  <a:srgbClr val="2D88C9"/>
                </a:solidFill>
              </a:rPr>
              <a:t>MEASURE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DBBD57-E442-48F1-9430-E97E5F35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52875"/>
            <a:ext cx="40576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Report ‖A − Aₖ‖F and downstream performance.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9FD4F0-1F8F-4E3E-8F57-C3C096AE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AFC"/>
                </a:solidFill>
              </a:defRPr>
            </a:pPr>
            <a:r>
              <a:rPr sz="1650" b="1">
                <a:solidFill>
                  <a:srgbClr val="F7FAFC"/>
                </a:solidFill>
              </a:rPr>
              <a:t>Best in Frobenius norm does not automatically mean best for the decision.</a:t>
            </a:r>
          </a:p>
        </p:txBody>
      </p:sp>
    </p:spTree>
    <p:extLst>
      <p:ext uri="{BB962C8B-B14F-4D97-AF65-F5344CB8AC3E}">
        <p14:creationId xmlns:p14="http://schemas.microsoft.com/office/powerpoint/2010/main" val="15925267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A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349093-8CC2-4319-960E-F9522C78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E5E5E-A219-446F-902B-35FD1154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9D7CC"/>
                </a:solidFill>
              </a:defRPr>
            </a:pPr>
            <a:r>
              <a:rPr sz="1350" b="1">
                <a:solidFill>
                  <a:srgbClr val="79D7CC"/>
                </a:solidFill>
              </a:rPr>
              <a:t>SRAI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293D0-86A7-4E32-9501-55218DBB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05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FC3D2"/>
                </a:solidFill>
              </a:defRPr>
            </a:pPr>
            <a:r>
              <a:rPr sz="900" b="1">
                <a:solidFill>
                  <a:srgbClr val="AFC3D2"/>
                </a:solidFill>
              </a:rPr>
              <a:t>PCA FROM SVD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98BF5-3AEA-4A20-BFAD-783B9A04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905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FC3D2"/>
                </a:solidFill>
              </a:defRPr>
            </a:pPr>
            <a:r>
              <a:rPr sz="900" b="1">
                <a:solidFill>
                  <a:srgbClr val="AFC3D2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B10208-1E8B-4DF5-B27C-CE9338DC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AFC"/>
                </a:solidFill>
              </a:defRPr>
            </a:pPr>
            <a:r>
              <a:rPr sz="2400" b="1">
                <a:solidFill>
                  <a:srgbClr val="F7FAFC"/>
                </a:solidFill>
              </a:rPr>
              <a:t>PCA starts with centered data.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072AEF-F258-40C1-9664-3F3605B2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3D2"/>
                </a:solidFill>
              </a:defRPr>
            </a:pPr>
            <a:r>
              <a:rPr sz="1125" b="0">
                <a:solidFill>
                  <a:srgbClr val="AFC3D2"/>
                </a:solidFill>
              </a:rPr>
              <a:t>For centered Xc = UΣVᵀ, principal directions are rows of Vᵀ and scores are Z = UΣ.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FA3F3-6D7A-4E40-A758-56DD0C16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C2940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981C2C-748D-42B3-8B8B-3753E18F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3241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B8A7"/>
                </a:solidFill>
              </a:defRPr>
            </a:pPr>
            <a:r>
              <a:rPr sz="900" b="1">
                <a:solidFill>
                  <a:srgbClr val="22B8A7"/>
                </a:solidFill>
              </a:rPr>
              <a:t>1 · CENTER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ED2E69-5253-4358-924C-28EDB320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667000"/>
            <a:ext cx="28194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Subtract each variable’s mean.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66CF5E-38D5-4B70-B7D6-FB127755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C2940"/>
          </a:solidFill>
          <a:ln xmlns:a="http://schemas.openxmlformats.org/drawingml/2006/main" w="9525">
            <a:solidFill>
              <a:srgbClr val="2D88C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A7AA22-6484-48E6-9DB8-289AC8F1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241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88C9"/>
                </a:solidFill>
              </a:defRPr>
            </a:pPr>
            <a:r>
              <a:rPr sz="900" b="1">
                <a:solidFill>
                  <a:srgbClr val="2D88C9"/>
                </a:solidFill>
              </a:rPr>
              <a:t>2 · DECOMPOSE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FD9386-C0C5-4433-8460-E2F22312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67000"/>
            <a:ext cx="28194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Apply SVD to the centered matrix.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99916E-4990-40E2-8A41-2F926293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90750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C2940"/>
          </a:solidFill>
          <a:ln xmlns:a="http://schemas.openxmlformats.org/drawingml/2006/main" w="9525">
            <a:solidFill>
              <a:srgbClr val="D8A5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77F445-16B3-4559-90E7-308AF2CA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3241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A526"/>
                </a:solidFill>
              </a:defRPr>
            </a:pPr>
            <a:r>
              <a:rPr sz="900" b="1">
                <a:solidFill>
                  <a:srgbClr val="D8A526"/>
                </a:solidFill>
              </a:rPr>
              <a:t>3 · RETAIN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D1E380-BF37-4655-9949-F8C543FD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667000"/>
            <a:ext cx="28194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Choose k using evidence—not convenience.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36C9B7-F406-4D8B-BB7F-57E1484C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57750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9D7CC"/>
                </a:solidFill>
              </a:defRPr>
            </a:pPr>
            <a:r>
              <a:rPr sz="1500" b="1">
                <a:solidFill>
                  <a:srgbClr val="79D7CC"/>
                </a:solidFill>
              </a:rPr>
              <a:t>Standardize only when scale differences are analytically meaningful.</a:t>
            </a:r>
          </a:p>
        </p:txBody>
      </p:sp>
    </p:spTree>
    <p:extLst>
      <p:ext uri="{BB962C8B-B14F-4D97-AF65-F5344CB8AC3E}">
        <p14:creationId xmlns:p14="http://schemas.microsoft.com/office/powerpoint/2010/main" val="7211315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A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6C5B23-289B-4F85-A511-C7221E3C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ADADAA-8BE4-4255-841E-7AE27B21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9D7CC"/>
                </a:solidFill>
              </a:defRPr>
            </a:pPr>
            <a:r>
              <a:rPr sz="1350" b="1">
                <a:solidFill>
                  <a:srgbClr val="79D7CC"/>
                </a:solidFill>
              </a:rPr>
              <a:t>SRAI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478D88-11E1-4A1B-A7D7-3C412D58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05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FC3D2"/>
                </a:solidFill>
              </a:defRPr>
            </a:pPr>
            <a:r>
              <a:rPr sz="900" b="1">
                <a:solidFill>
                  <a:srgbClr val="AFC3D2"/>
                </a:solidFill>
              </a:rPr>
              <a:t>EXPLAINED VARIANCE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FAA7A-7EC4-4DAD-AA5F-41F1CA8B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905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FC3D2"/>
                </a:solidFill>
              </a:defRPr>
            </a:pPr>
            <a:r>
              <a:rPr sz="900" b="1">
                <a:solidFill>
                  <a:srgbClr val="AFC3D2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9E4196-C8CD-4588-9766-41F64EE7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AFC"/>
                </a:solidFill>
              </a:defRPr>
            </a:pPr>
            <a:r>
              <a:rPr sz="2400" b="1">
                <a:solidFill>
                  <a:srgbClr val="F7FAFC"/>
                </a:solidFill>
              </a:rPr>
              <a:t>Variance retained is not importance, fairness or accuracy.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8FF24C-DAC3-4519-810B-DEC4223E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495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D8A526"/>
                </a:solidFill>
              </a:defRPr>
            </a:pPr>
            <a:r>
              <a:rPr sz="2325" b="1">
                <a:solidFill>
                  <a:srgbClr val="D8A526"/>
                </a:solidFill>
              </a:rPr>
              <a:t>shareᵢ = σᵢ² / Σⱼ σⱼ²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9E43F-D6D0-43AF-AE81-B2137F48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57375"/>
            <a:ext cx="4286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C2940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FF0D08-766C-43C3-A05B-E8C92A9F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90725"/>
            <a:ext cx="3867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B8A7"/>
                </a:solidFill>
              </a:defRPr>
            </a:pPr>
            <a:r>
              <a:rPr sz="900" b="1">
                <a:solidFill>
                  <a:srgbClr val="22B8A7"/>
                </a:solidFill>
              </a:rPr>
              <a:t>WHAT IT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A97B5D-1E7B-4D2F-AA7E-F49A1A98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33625"/>
            <a:ext cx="3867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How much centered variation a direction retains.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3ED239-7F25-4BE8-ADE8-5C20A69A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4286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C2940"/>
          </a:solidFill>
          <a:ln xmlns:a="http://schemas.openxmlformats.org/drawingml/2006/main" w="9525">
            <a:solidFill>
              <a:srgbClr val="D8A5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86D04E-134F-4029-8227-541D2D15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67100"/>
            <a:ext cx="3867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A526"/>
                </a:solidFill>
              </a:defRPr>
            </a:pPr>
            <a:r>
              <a:rPr sz="900" b="1">
                <a:solidFill>
                  <a:srgbClr val="D8A526"/>
                </a:solidFill>
              </a:rPr>
              <a:t>WHAT IT DOES NOT SAY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3CC3D2-FBA9-4CC2-A46C-7D76DD56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10000"/>
            <a:ext cx="3867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Whether the representation is causal, equitable or decision-ready.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784687-C1E9-4591-A05F-36BF1DB7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00625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AFC"/>
                </a:solidFill>
              </a:defRPr>
            </a:pPr>
            <a:r>
              <a:rPr sz="1500" b="1">
                <a:solidFill>
                  <a:srgbClr val="F7FAFC"/>
                </a:solidFill>
              </a:rPr>
              <a:t>Always inspect residuals, rare events and subgroup reconstruction loss.</a:t>
            </a:r>
          </a:p>
        </p:txBody>
      </p:sp>
    </p:spTree>
    <p:extLst>
      <p:ext uri="{BB962C8B-B14F-4D97-AF65-F5344CB8AC3E}">
        <p14:creationId xmlns:p14="http://schemas.microsoft.com/office/powerpoint/2010/main" val="21260270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A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013FED-7E01-44BF-92CD-3E621C82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035E0-8B0A-4530-9A40-EE4DD679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9D7CC"/>
                </a:solidFill>
              </a:defRPr>
            </a:pPr>
            <a:r>
              <a:rPr sz="1350" b="1">
                <a:solidFill>
                  <a:srgbClr val="79D7CC"/>
                </a:solidFill>
              </a:rPr>
              <a:t>SRAI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DCD11E-DEFF-4B25-B7FD-736A7467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05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FC3D2"/>
                </a:solidFill>
              </a:defRPr>
            </a:pPr>
            <a:r>
              <a:rPr sz="900" b="1">
                <a:solidFill>
                  <a:srgbClr val="AFC3D2"/>
                </a:solidFill>
              </a:rPr>
              <a:t>DECISION INTELLIGENCE CASE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224A53-19CD-4A89-92CE-46F47B80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905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FC3D2"/>
                </a:solidFill>
              </a:defRPr>
            </a:pPr>
            <a:r>
              <a:rPr sz="900" b="1">
                <a:solidFill>
                  <a:srgbClr val="AFC3D2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F53604-D712-4463-BBBB-9CEAA5CF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AFC"/>
                </a:solidFill>
              </a:defRPr>
            </a:pPr>
            <a:r>
              <a:rPr sz="2400" b="1">
                <a:solidFill>
                  <a:srgbClr val="F7FAFC"/>
                </a:solidFill>
              </a:rPr>
              <a:t>Five national indicators can become two components—carefully.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17C15D-0B8D-4871-BED5-691AB090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3D2"/>
                </a:solidFill>
              </a:defRPr>
            </a:pPr>
            <a:r>
              <a:rPr sz="1125" b="0">
                <a:solidFill>
                  <a:srgbClr val="AFC3D2"/>
                </a:solidFill>
              </a:rPr>
              <a:t>Agriculture, food, electricity, health and transport may share variation.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C108E-DE62-4715-91C1-518F67DA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C2940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48508-BDD6-4A9C-8775-BADFCB7A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2288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B8A7"/>
                </a:solidFill>
              </a:defRPr>
            </a:pPr>
            <a:r>
              <a:rPr sz="900" b="1">
                <a:solidFill>
                  <a:srgbClr val="22B8A7"/>
                </a:solidFill>
              </a:rPr>
              <a:t>PRESERVE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E3C8E-1EA6-4F84-A003-BD5DE153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571750"/>
            <a:ext cx="29146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Shared regional patterns and reproducible component scores.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22275D-9F5A-4028-8C49-022EC986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C2940"/>
          </a:solidFill>
          <a:ln xmlns:a="http://schemas.openxmlformats.org/drawingml/2006/main" w="9525">
            <a:solidFill>
              <a:srgbClr val="2D88C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C36518-C6FE-4D54-B5C7-7D7BA627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2288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88C9"/>
                </a:solidFill>
              </a:defRPr>
            </a:pPr>
            <a:r>
              <a:rPr sz="900" b="1">
                <a:solidFill>
                  <a:srgbClr val="2D88C9"/>
                </a:solidFill>
              </a:rPr>
              <a:t>INSPECT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30F476-746A-4094-BC0E-EF71224C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571750"/>
            <a:ext cx="29146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Loadings, residuals, subgroup loss and rare observations.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0C884E-68AD-44A0-911F-6B4EC403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9550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C2940"/>
          </a:solidFill>
          <a:ln xmlns:a="http://schemas.openxmlformats.org/drawingml/2006/main" w="9525">
            <a:solidFill>
              <a:srgbClr val="D8A5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D6E8A5-9B19-40FE-A59D-28807958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2288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A526"/>
                </a:solidFill>
              </a:defRPr>
            </a:pPr>
            <a:r>
              <a:rPr sz="900" b="1">
                <a:solidFill>
                  <a:srgbClr val="D8A526"/>
                </a:solidFill>
              </a:rPr>
              <a:t>DO NOT CLAIM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5017F2-D307-4870-AE84-76EFD0A0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571750"/>
            <a:ext cx="29146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A causal “development” index or an automatic budget priority.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B131C2-9E95-4F9D-9536-A33A9619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57750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9D7CC"/>
                </a:solidFill>
              </a:defRPr>
            </a:pPr>
            <a:r>
              <a:rPr sz="1500" b="1">
                <a:solidFill>
                  <a:srgbClr val="79D7CC"/>
                </a:solidFill>
              </a:rPr>
              <a:t>Compression informs a decision; it does not replace accountable authority.</a:t>
            </a:r>
          </a:p>
        </p:txBody>
      </p:sp>
    </p:spTree>
    <p:extLst>
      <p:ext uri="{BB962C8B-B14F-4D97-AF65-F5344CB8AC3E}">
        <p14:creationId xmlns:p14="http://schemas.microsoft.com/office/powerpoint/2010/main" val="9480068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A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89C229-8F3A-4AB1-8702-954C6CE6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653742-1160-44B5-BEE6-A15A260B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9D7CC"/>
                </a:solidFill>
              </a:defRPr>
            </a:pPr>
            <a:r>
              <a:rPr sz="1350" b="1">
                <a:solidFill>
                  <a:srgbClr val="79D7CC"/>
                </a:solidFill>
              </a:rPr>
              <a:t>SRAI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AB2A9-0AF9-4E6B-AF41-D8811AE4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05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FC3D2"/>
                </a:solidFill>
              </a:defRPr>
            </a:pPr>
            <a:r>
              <a:rPr sz="900" b="1">
                <a:solidFill>
                  <a:srgbClr val="AFC3D2"/>
                </a:solidFill>
              </a:rPr>
              <a:t>FAILURE MODES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90177D-5BED-4D08-AC31-144232EC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905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FC3D2"/>
                </a:solidFill>
              </a:defRPr>
            </a:pPr>
            <a:r>
              <a:rPr sz="900" b="1">
                <a:solidFill>
                  <a:srgbClr val="AFC3D2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5729C1-47E7-478B-B515-51D01905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AFC"/>
                </a:solidFill>
              </a:defRPr>
            </a:pPr>
            <a:r>
              <a:rPr sz="2400" b="1">
                <a:solidFill>
                  <a:srgbClr val="F7FAFC"/>
                </a:solidFill>
              </a:rPr>
              <a:t>Most errors happen before or after the decomposition.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15666C-F837-4B29-B665-AFB7F977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4953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C2940"/>
          </a:solidFill>
          <a:ln xmlns:a="http://schemas.openxmlformats.org/drawingml/2006/main" w="9525">
            <a:solidFill>
              <a:srgbClr val="D8A5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E173C4-DDD8-4000-80A0-3C0F1449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13360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A526"/>
                </a:solidFill>
              </a:defRPr>
            </a:pPr>
            <a:r>
              <a:rPr sz="900" b="1">
                <a:solidFill>
                  <a:srgbClr val="D8A526"/>
                </a:solidFill>
              </a:rPr>
              <a:t>PREPROCESSING LEAKAGE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D25B3-7CDB-4D33-BF44-4CB57149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476500"/>
            <a:ext cx="45339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Fit centering and scaling on training data only.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58B1B7-A825-4B20-9B08-0D9DC177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4953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C2940"/>
          </a:solidFill>
          <a:ln xmlns:a="http://schemas.openxmlformats.org/drawingml/2006/main" w="9525">
            <a:solidFill>
              <a:srgbClr val="5B354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A35952-60D6-49AB-843E-CFD18EC3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3360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3543"/>
                </a:solidFill>
              </a:defRPr>
            </a:pPr>
            <a:r>
              <a:rPr sz="900" b="1">
                <a:solidFill>
                  <a:srgbClr val="5B3543"/>
                </a:solidFill>
              </a:rPr>
              <a:t>CONVENIENT 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A19715-FBDB-4CD5-99F9-BF6570CD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45339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Validate the retained dimension against the downstream task.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DA57F0-2C12-4133-84D6-296C0D4B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71875"/>
            <a:ext cx="4953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C2940"/>
          </a:solidFill>
          <a:ln xmlns:a="http://schemas.openxmlformats.org/drawingml/2006/main" w="9525">
            <a:solidFill>
              <a:srgbClr val="2D88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7A7F01-F30D-44BC-A50C-8CC0B81B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705225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88C9"/>
                </a:solidFill>
              </a:defRPr>
            </a:pPr>
            <a:r>
              <a:rPr sz="900" b="1">
                <a:solidFill>
                  <a:srgbClr val="2D88C9"/>
                </a:solidFill>
              </a:rPr>
              <a:t>CAUSAL NAMING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BC52A8-7474-438C-AE5D-E743401F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048125"/>
            <a:ext cx="45339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Loadings describe association, not causal effect.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577121-FD92-409B-8AFF-397A5EEC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71875"/>
            <a:ext cx="4953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C2940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7CEBAF-CFBD-46F9-9F13-8CB34D6A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05225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B8A7"/>
                </a:solidFill>
              </a:defRPr>
            </a:pPr>
            <a:r>
              <a:rPr sz="900" b="1">
                <a:solidFill>
                  <a:srgbClr val="22B8A7"/>
                </a:solidFill>
              </a:rPr>
              <a:t>INVISIBLE LOSS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46A30F-44EF-48F7-B7A5-D48B6649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48125"/>
            <a:ext cx="45339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Retain a route to original variables and observations.</a:t>
            </a:r>
          </a:p>
        </p:txBody>
      </p:sp>
    </p:spTree>
    <p:extLst>
      <p:ext uri="{BB962C8B-B14F-4D97-AF65-F5344CB8AC3E}">
        <p14:creationId xmlns:p14="http://schemas.microsoft.com/office/powerpoint/2010/main" val="646081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A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87EFB1-C3BE-4BD4-9FF2-0CD74AD6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369505-22F7-411C-8A73-644D5CCD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9D7CC"/>
                </a:solidFill>
              </a:defRPr>
            </a:pPr>
            <a:r>
              <a:rPr sz="1350" b="1">
                <a:solidFill>
                  <a:srgbClr val="79D7CC"/>
                </a:solidFill>
              </a:rPr>
              <a:t>SRAI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A07EF-DFC7-4C08-868F-58CA7C77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05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FC3D2"/>
                </a:solidFill>
              </a:defRPr>
            </a:pPr>
            <a:r>
              <a:rPr sz="900" b="1">
                <a:solidFill>
                  <a:srgbClr val="AFC3D2"/>
                </a:solidFill>
              </a:rPr>
              <a:t>RESPONSIBLE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BAB27-0834-40B9-832F-A6B3DFE4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905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FC3D2"/>
                </a:solidFill>
              </a:defRPr>
            </a:pPr>
            <a:r>
              <a:rPr sz="900" b="1">
                <a:solidFill>
                  <a:srgbClr val="AFC3D2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7DFF1-7161-4A1E-98D1-0C770C3C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AFC"/>
                </a:solidFill>
              </a:defRPr>
            </a:pPr>
            <a:r>
              <a:rPr sz="2400" b="1">
                <a:solidFill>
                  <a:srgbClr val="F7FAFC"/>
                </a:solidFill>
              </a:rPr>
              <a:t>A defensible reduction leaves an evidence trail.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7CA72C-7E03-4FF9-B90C-113B8D1F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333625"/>
            <a:ext cx="2000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C2940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4DAB06-7717-4D67-BB58-2EB3F8A3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6697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B8A7"/>
                </a:solidFill>
              </a:defRPr>
            </a:pPr>
            <a:r>
              <a:rPr sz="900" b="1">
                <a:solidFill>
                  <a:srgbClr val="22B8A7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361159-E813-42B3-9C4C-FE41E1E1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09875"/>
            <a:ext cx="15811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Define use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716CF2-F4D1-4C91-AF01-5A6C55EE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14625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8A526"/>
                </a:solidFill>
              </a:defRPr>
            </a:pPr>
            <a:r>
              <a:rPr sz="1650" b="1">
                <a:solidFill>
                  <a:srgbClr val="D8A526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0EBE88-612A-41FB-8C7B-DCA666A0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33625"/>
            <a:ext cx="2000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C2940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AB2D12-65B1-4892-8649-1F98ACBD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6697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B8A7"/>
                </a:solidFill>
              </a:defRPr>
            </a:pPr>
            <a:r>
              <a:rPr sz="900" b="1">
                <a:solidFill>
                  <a:srgbClr val="22B8A7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952DB5-22D5-4313-A80C-BC519E2F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9875"/>
            <a:ext cx="15811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Prepare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891E4F-6311-4E8C-80F1-1F3C9398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714625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8A526"/>
                </a:solidFill>
              </a:defRPr>
            </a:pPr>
            <a:r>
              <a:rPr sz="1650" b="1">
                <a:solidFill>
                  <a:srgbClr val="D8A526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8FB31D-C2CF-4C71-B748-D28778D6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33625"/>
            <a:ext cx="2000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C2940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4DDEC4-8618-4619-A5A3-31FFF7DC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46697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B8A7"/>
                </a:solidFill>
              </a:defRPr>
            </a:pPr>
            <a:r>
              <a:rPr sz="900" b="1">
                <a:solidFill>
                  <a:srgbClr val="22B8A7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48755D-562F-4D26-9636-07400951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809875"/>
            <a:ext cx="15811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Compute SVD/PCA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8186F7-DD24-4E90-B0F3-FE3547C4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14625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8A526"/>
                </a:solidFill>
              </a:defRPr>
            </a:pPr>
            <a:r>
              <a:rPr sz="1650" b="1">
                <a:solidFill>
                  <a:srgbClr val="D8A526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69D574-493C-451F-A6C3-D1F919F7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33625"/>
            <a:ext cx="2000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C2940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AB502D-AAF6-4DD3-AE34-C9EE78E6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6697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B8A7"/>
                </a:solidFill>
              </a:defRPr>
            </a:pPr>
            <a:r>
              <a:rPr sz="900" b="1">
                <a:solidFill>
                  <a:srgbClr val="22B8A7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0FE0C1-F674-4974-A9EA-F0B684F5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09875"/>
            <a:ext cx="15811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Validate loss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063137-7C1A-4862-A296-0A573CE1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14625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8A526"/>
                </a:solidFill>
              </a:defRPr>
            </a:pPr>
            <a:r>
              <a:rPr sz="1650" b="1">
                <a:solidFill>
                  <a:srgbClr val="D8A526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0A4E80-D35A-4940-B5FA-4C16991A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333625"/>
            <a:ext cx="2000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C2940"/>
          </a:solidFill>
          <a:ln xmlns:a="http://schemas.openxmlformats.org/drawingml/2006/main" w="9525">
            <a:solidFill>
              <a:srgbClr val="D8A5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0ACA9A-FDAF-45A2-B594-A53765F1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46697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A526"/>
                </a:solidFill>
              </a:defRPr>
            </a:pPr>
            <a:r>
              <a:rPr sz="900" b="1">
                <a:solidFill>
                  <a:srgbClr val="D8A526"/>
                </a:solidFill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6FA65E-2BC1-4464-9645-769419E2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809875"/>
            <a:ext cx="15811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Document decision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8E1D38-4DED-4EBC-B62E-20E3D016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962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FAFC"/>
                </a:solidFill>
              </a:defRPr>
            </a:pPr>
            <a:r>
              <a:rPr sz="1575" b="1">
                <a:solidFill>
                  <a:srgbClr val="F7FAFC"/>
                </a:solidFill>
              </a:rPr>
              <a:t>Record what is preserved, what is removed, who can reverse the choice, and when to stop.</a:t>
            </a:r>
          </a:p>
        </p:txBody>
      </p:sp>
    </p:spTree>
    <p:extLst>
      <p:ext uri="{BB962C8B-B14F-4D97-AF65-F5344CB8AC3E}">
        <p14:creationId xmlns:p14="http://schemas.microsoft.com/office/powerpoint/2010/main" val="11423196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A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BD35DF-033B-440C-AB7C-DFB39CD1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67CE8-76E6-4C21-9859-B355E4C3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9D7CC"/>
                </a:solidFill>
              </a:defRPr>
            </a:pPr>
            <a:r>
              <a:rPr sz="1350" b="1">
                <a:solidFill>
                  <a:srgbClr val="79D7CC"/>
                </a:solidFill>
              </a:rPr>
              <a:t>SRAI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93B3B0-6859-4414-9A8A-11C63F3B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05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FC3D2"/>
                </a:solidFill>
              </a:defRPr>
            </a:pPr>
            <a:r>
              <a:rPr sz="900" b="1">
                <a:solidFill>
                  <a:srgbClr val="AFC3D2"/>
                </a:solidFill>
              </a:rPr>
              <a:t>REASONING CLINIC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75195-9DC6-40F6-A34E-80A7B547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905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FC3D2"/>
                </a:solidFill>
              </a:defRPr>
            </a:pPr>
            <a:r>
              <a:rPr sz="900" b="1">
                <a:solidFill>
                  <a:srgbClr val="AFC3D2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6D66EE-A7AA-4013-805A-1A9D3E97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AFC"/>
                </a:solidFill>
              </a:defRPr>
            </a:pPr>
            <a:r>
              <a:rPr sz="2400" b="1">
                <a:solidFill>
                  <a:srgbClr val="F7FAFC"/>
                </a:solidFill>
              </a:rPr>
              <a:t>Explain the reason—not just the retained percentage.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F333E-AD71-4BDD-9553-8937C2F8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4953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C2940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3E148-3FBA-405D-9CB7-2FA231D2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13360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B8A7"/>
                </a:solidFill>
              </a:defRPr>
            </a:pPr>
            <a:r>
              <a:rPr sz="900" b="1">
                <a:solidFill>
                  <a:srgbClr val="22B8A7"/>
                </a:solidFill>
              </a:rPr>
              <a:t>QUESTION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C579D0-74C5-4F61-A55C-E5FD47C0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476500"/>
            <a:ext cx="45339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Why was centering required?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E1CDA-DED9-46E2-9A70-2F62BCFF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4953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C2940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C23232-9AD5-4B2E-9C31-56A903D8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3360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B8A7"/>
                </a:solidFill>
              </a:defRPr>
            </a:pPr>
            <a:r>
              <a:rPr sz="900" b="1">
                <a:solidFill>
                  <a:srgbClr val="22B8A7"/>
                </a:solidFill>
              </a:rPr>
              <a:t>QUESTION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D0BF19-3E25-4ED4-B69C-BB3B684B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45339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What does a rank-2 error omit?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AD2B88-2952-42C9-853C-AC9510D6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71875"/>
            <a:ext cx="4953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C2940"/>
          </a:solidFill>
          <a:ln xmlns:a="http://schemas.openxmlformats.org/drawingml/2006/main" w="9525">
            <a:solidFill>
              <a:srgbClr val="22B8A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F3AB0D-127D-4EA6-A3EE-F4C097E2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705225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B8A7"/>
                </a:solidFill>
              </a:defRPr>
            </a:pPr>
            <a:r>
              <a:rPr sz="900" b="1">
                <a:solidFill>
                  <a:srgbClr val="22B8A7"/>
                </a:solidFill>
              </a:rPr>
              <a:t>QUESTION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534921-5C10-4FD7-8007-3EE8538B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048125"/>
            <a:ext cx="45339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Which groups have the largest residuals?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39B8D2-7522-4658-9837-33C7FE60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71875"/>
            <a:ext cx="4953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C2940"/>
          </a:solidFill>
          <a:ln xmlns:a="http://schemas.openxmlformats.org/drawingml/2006/main" w="9525">
            <a:solidFill>
              <a:srgbClr val="D8A52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1A6D7C-A4E4-4D71-B3D3-ECB04778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05225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A526"/>
                </a:solidFill>
              </a:defRPr>
            </a:pPr>
            <a:r>
              <a:rPr sz="900" b="1">
                <a:solidFill>
                  <a:srgbClr val="D8A526"/>
                </a:solidFill>
              </a:rPr>
              <a:t>QUESTION 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9A5586-FAE1-4C40-9797-35A6D4B0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48125"/>
            <a:ext cx="45339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What evidence would require REVISE or STOP?</a:t>
            </a:r>
          </a:p>
        </p:txBody>
      </p:sp>
    </p:spTree>
    <p:extLst>
      <p:ext uri="{BB962C8B-B14F-4D97-AF65-F5344CB8AC3E}">
        <p14:creationId xmlns:p14="http://schemas.microsoft.com/office/powerpoint/2010/main" val="11054115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A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A665E8-F86F-4213-926B-7B6F718C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6C9B0-38DD-447C-B39D-83671B44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9D7CC"/>
                </a:solidFill>
              </a:defRPr>
            </a:pPr>
            <a:r>
              <a:rPr sz="1350" b="1">
                <a:solidFill>
                  <a:srgbClr val="79D7CC"/>
                </a:solidFill>
              </a:rPr>
              <a:t>SRAI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2DBA87-CFE8-4119-BF6C-D54692BB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05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FC3D2"/>
                </a:solidFill>
              </a:defRPr>
            </a:pPr>
            <a:r>
              <a:rPr sz="900" b="1">
                <a:solidFill>
                  <a:srgbClr val="AFC3D2"/>
                </a:solidFill>
              </a:rPr>
              <a:t>CLOSING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5D49B-3C1F-412B-B3ED-54D83D72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905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FC3D2"/>
                </a:solidFill>
              </a:defRPr>
            </a:pPr>
            <a:r>
              <a:rPr sz="900" b="1">
                <a:solidFill>
                  <a:srgbClr val="AFC3D2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542018-577F-45EC-826E-A0C4D7EF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24000"/>
            <a:ext cx="876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7FAFC"/>
                </a:solidFill>
              </a:defRPr>
            </a:pPr>
            <a:r>
              <a:rPr sz="2850" b="1">
                <a:solidFill>
                  <a:srgbClr val="F7FAFC"/>
                </a:solidFill>
              </a:rPr>
              <a:t>COMPRESS THE MATRIX.</a:t>
            </a:r>
          </a:p>
          <a:p xmlns:a="http://schemas.openxmlformats.org/drawingml/2006/main">
            <a:pPr algn="ctr">
              <a:defRPr sz="2850" b="1">
                <a:solidFill>
                  <a:srgbClr val="F7FAFC"/>
                </a:solidFill>
              </a:defRPr>
            </a:pPr>
            <a:r>
              <a:rPr sz="2850" b="1">
                <a:solidFill>
                  <a:srgbClr val="F7FAFC"/>
                </a:solidFill>
              </a:rPr>
              <a:t>PRESERVE THE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BE6EB-4626-47F8-957C-C203A1BD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48000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79D7CC"/>
                </a:solidFill>
              </a:defRPr>
            </a:pPr>
            <a:r>
              <a:rPr sz="1650" b="0">
                <a:solidFill>
                  <a:srgbClr val="79D7CC"/>
                </a:solidFill>
              </a:rPr>
              <a:t>SVD reveals dominant directions. PCA summarizes centered variation.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B413A7-D15D-4D32-9A76-37154167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857625"/>
            <a:ext cx="828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8A526"/>
                </a:solidFill>
              </a:defRPr>
            </a:pPr>
            <a:r>
              <a:rPr sz="1500" b="1">
                <a:solidFill>
                  <a:srgbClr val="D8A526"/>
                </a:solidFill>
              </a:rPr>
              <a:t>A responsible workflow quantifies what is retained and lost—before the result supports a decision.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F7875-9D8E-4B0C-80A4-9F1D5417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4825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480E7A-3E21-4CD5-853E-BB90AFF4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340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7FAFC"/>
                </a:solidFill>
              </a:defRPr>
            </a:pPr>
            <a:r>
              <a:rPr sz="1200" b="0">
                <a:solidFill>
                  <a:srgbClr val="F7FAFC"/>
                </a:solidFill>
              </a:rPr>
              <a:t>Use the lesson, notebook, exercises and executive brief together.</a:t>
            </a:r>
          </a:p>
        </p:txBody>
      </p:sp>
    </p:spTree>
    <p:extLst>
      <p:ext uri="{BB962C8B-B14F-4D97-AF65-F5344CB8AC3E}">
        <p14:creationId xmlns:p14="http://schemas.microsoft.com/office/powerpoint/2010/main" val="7414157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2026-09-07T08:09:10.5320000Z</dcterms:created>
  <dcterms:modified xsi:type="dcterms:W3CDTF">2026-09-07T08:09:10.5320000Z</dcterms:modified>
</coreProperties>
</file>