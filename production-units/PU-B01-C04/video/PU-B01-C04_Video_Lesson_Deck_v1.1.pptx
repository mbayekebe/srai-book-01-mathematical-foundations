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e4fcd66cb54151" /><Relationship Type="http://schemas.openxmlformats.org/officeDocument/2006/relationships/extended-properties" Target="/docProps/app.xml" Id="Raf450c73f9f24c34" /><Relationship Type="http://schemas.openxmlformats.org/officeDocument/2006/relationships/officeDocument" Target="/ppt/presentation.xml" Id="R72670aaee03949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8df17bf7f4163"/>
  </p:sldMasterIdLst>
  <p:notesMasterIdLst>
    <p:notesMasterId xmlns:r="http://schemas.openxmlformats.org/officeDocument/2006/relationships" r:id="R473a237cdd4e4d91"/>
  </p:notesMasterIdLst>
  <p:sldIdLst>
    <p:sldId xmlns:r="http://schemas.openxmlformats.org/officeDocument/2006/relationships" id="256" r:id="R24823f473d2b4922"/>
    <p:sldId xmlns:r="http://schemas.openxmlformats.org/officeDocument/2006/relationships" id="257" r:id="R8338ebaf6b7d438a"/>
    <p:sldId xmlns:r="http://schemas.openxmlformats.org/officeDocument/2006/relationships" id="258" r:id="Rb4836d9d3119419c"/>
    <p:sldId xmlns:r="http://schemas.openxmlformats.org/officeDocument/2006/relationships" id="259" r:id="Rdbfc355e5d7f4be8"/>
    <p:sldId xmlns:r="http://schemas.openxmlformats.org/officeDocument/2006/relationships" id="260" r:id="Red21466859e44578"/>
    <p:sldId xmlns:r="http://schemas.openxmlformats.org/officeDocument/2006/relationships" id="261" r:id="Rfa4d252215fc41f3"/>
    <p:sldId xmlns:r="http://schemas.openxmlformats.org/officeDocument/2006/relationships" id="262" r:id="R04303c7b7ad94a9c"/>
    <p:sldId xmlns:r="http://schemas.openxmlformats.org/officeDocument/2006/relationships" id="263" r:id="R89ff0cd9df9b4c57"/>
    <p:sldId xmlns:r="http://schemas.openxmlformats.org/officeDocument/2006/relationships" id="264" r:id="Rcf3e531335dd4954"/>
    <p:sldId xmlns:r="http://schemas.openxmlformats.org/officeDocument/2006/relationships" id="265" r:id="R66b875ae77d04d7a"/>
    <p:sldId xmlns:r="http://schemas.openxmlformats.org/officeDocument/2006/relationships" id="266" r:id="R633d4e10d4c049da"/>
    <p:sldId xmlns:r="http://schemas.openxmlformats.org/officeDocument/2006/relationships" id="267" r:id="R3db98b65c5734eab"/>
    <p:sldId xmlns:r="http://schemas.openxmlformats.org/officeDocument/2006/relationships" id="268" r:id="Raf50e922d72042a0"/>
    <p:sldId xmlns:r="http://schemas.openxmlformats.org/officeDocument/2006/relationships" id="269" r:id="Re8341db029184f2a"/>
    <p:sldId xmlns:r="http://schemas.openxmlformats.org/officeDocument/2006/relationships" id="270" r:id="R62379446f5374831"/>
    <p:sldId xmlns:r="http://schemas.openxmlformats.org/officeDocument/2006/relationships" id="271" r:id="Rf7289b84667e4c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4439fe01ae4679" /><Relationship Type="http://schemas.openxmlformats.org/officeDocument/2006/relationships/slideMaster" Target="/ppt/slideMasters/slideMaster1.xml" Id="Rf258df17bf7f4163" /><Relationship Type="http://schemas.openxmlformats.org/officeDocument/2006/relationships/notesMaster" Target="/ppt/notesMasters/notesMaster1.xml" Id="R473a237cdd4e4d91" /><Relationship Type="http://schemas.openxmlformats.org/officeDocument/2006/relationships/presProps" Target="/ppt/presProps.xml" Id="R9587634747ae493f" /><Relationship Type="http://schemas.openxmlformats.org/officeDocument/2006/relationships/tableStyles" Target="/ppt/tableStyles.xml" Id="R4609853168664276" /><Relationship Type="http://schemas.openxmlformats.org/officeDocument/2006/relationships/slide" Target="/ppt/slides/slide1.xml" Id="R24823f473d2b4922" /><Relationship Type="http://schemas.openxmlformats.org/officeDocument/2006/relationships/slide" Target="/ppt/slides/slide2.xml" Id="R8338ebaf6b7d438a" /><Relationship Type="http://schemas.openxmlformats.org/officeDocument/2006/relationships/slide" Target="/ppt/slides/slide3.xml" Id="Rb4836d9d3119419c" /><Relationship Type="http://schemas.openxmlformats.org/officeDocument/2006/relationships/slide" Target="/ppt/slides/slide4.xml" Id="Rdbfc355e5d7f4be8" /><Relationship Type="http://schemas.openxmlformats.org/officeDocument/2006/relationships/slide" Target="/ppt/slides/slide5.xml" Id="Red21466859e44578" /><Relationship Type="http://schemas.openxmlformats.org/officeDocument/2006/relationships/slide" Target="/ppt/slides/slide6.xml" Id="Rfa4d252215fc41f3" /><Relationship Type="http://schemas.openxmlformats.org/officeDocument/2006/relationships/slide" Target="/ppt/slides/slide7.xml" Id="R04303c7b7ad94a9c" /><Relationship Type="http://schemas.openxmlformats.org/officeDocument/2006/relationships/slide" Target="/ppt/slides/slide8.xml" Id="R89ff0cd9df9b4c57" /><Relationship Type="http://schemas.openxmlformats.org/officeDocument/2006/relationships/slide" Target="/ppt/slides/slide9.xml" Id="Rcf3e531335dd4954" /><Relationship Type="http://schemas.openxmlformats.org/officeDocument/2006/relationships/slide" Target="/ppt/slides/slide10.xml" Id="R66b875ae77d04d7a" /><Relationship Type="http://schemas.openxmlformats.org/officeDocument/2006/relationships/slide" Target="/ppt/slides/slide11.xml" Id="R633d4e10d4c049da" /><Relationship Type="http://schemas.openxmlformats.org/officeDocument/2006/relationships/slide" Target="/ppt/slides/slide12.xml" Id="R3db98b65c5734eab" /><Relationship Type="http://schemas.openxmlformats.org/officeDocument/2006/relationships/slide" Target="/ppt/slides/slide13.xml" Id="Raf50e922d72042a0" /><Relationship Type="http://schemas.openxmlformats.org/officeDocument/2006/relationships/slide" Target="/ppt/slides/slide14.xml" Id="Re8341db029184f2a" /><Relationship Type="http://schemas.openxmlformats.org/officeDocument/2006/relationships/slide" Target="/ppt/slides/slide15.xml" Id="R62379446f5374831" /><Relationship Type="http://schemas.openxmlformats.org/officeDocument/2006/relationships/slide" Target="/ppt/slides/slide16.xml" Id="Rf7289b84667e4c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a1b34f04d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3936fbefa4eac" /><Relationship Type="http://schemas.openxmlformats.org/officeDocument/2006/relationships/notesMaster" Target="/ppt/notesMasters/notesMaster1.xml" Id="R1bbc59d4ac3b4a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92fd4e44ff43de" /><Relationship Type="http://schemas.openxmlformats.org/officeDocument/2006/relationships/notesMaster" Target="/ppt/notesMasters/notesMaster1.xml" Id="R1578b9d6f91c46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5b2894cfff4960" /><Relationship Type="http://schemas.openxmlformats.org/officeDocument/2006/relationships/notesMaster" Target="/ppt/notesMasters/notesMaster1.xml" Id="R91eb9cbd9e1f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9c0f1ece794090" /><Relationship Type="http://schemas.openxmlformats.org/officeDocument/2006/relationships/notesMaster" Target="/ppt/notesMasters/notesMaster1.xml" Id="R1a79ceeb46c847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de0d5d65624e4d" /><Relationship Type="http://schemas.openxmlformats.org/officeDocument/2006/relationships/notesMaster" Target="/ppt/notesMasters/notesMaster1.xml" Id="Rce43b0e793ee4b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4724ea2e749e6" /><Relationship Type="http://schemas.openxmlformats.org/officeDocument/2006/relationships/notesMaster" Target="/ppt/notesMasters/notesMaster1.xml" Id="R719850fcc42e45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ca6e1ade764522" /><Relationship Type="http://schemas.openxmlformats.org/officeDocument/2006/relationships/notesMaster" Target="/ppt/notesMasters/notesMaster1.xml" Id="Rf1071932949742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119c514fa94d70" /><Relationship Type="http://schemas.openxmlformats.org/officeDocument/2006/relationships/notesMaster" Target="/ppt/notesMasters/notesMaster1.xml" Id="R711a5089043143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0bf25af9554fa8" /><Relationship Type="http://schemas.openxmlformats.org/officeDocument/2006/relationships/notesMaster" Target="/ppt/notesMasters/notesMaster1.xml" Id="R1fb6cfb4bb7d44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6332d7713240b9" /><Relationship Type="http://schemas.openxmlformats.org/officeDocument/2006/relationships/notesMaster" Target="/ppt/notesMasters/notesMaster1.xml" Id="Rcda8f40a70cf4c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4a78dfb1914cb8" /><Relationship Type="http://schemas.openxmlformats.org/officeDocument/2006/relationships/notesMaster" Target="/ppt/notesMasters/notesMaster1.xml" Id="R1f7c80d416ad40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464f768a514e78" /><Relationship Type="http://schemas.openxmlformats.org/officeDocument/2006/relationships/notesMaster" Target="/ppt/notesMasters/notesMaster1.xml" Id="R8329890b46c541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aa5e9bed174991" /><Relationship Type="http://schemas.openxmlformats.org/officeDocument/2006/relationships/notesMaster" Target="/ppt/notesMasters/notesMaster1.xml" Id="R428cedec92474c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47c67d16804c87" /><Relationship Type="http://schemas.openxmlformats.org/officeDocument/2006/relationships/notesMaster" Target="/ppt/notesMasters/notesMaster1.xml" Id="R55bbc8f0451a4b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683333f7c74f57" /><Relationship Type="http://schemas.openxmlformats.org/officeDocument/2006/relationships/notesMaster" Target="/ppt/notesMasters/notesMaster1.xml" Id="Rcd3547861d994d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af40f031c04314" /><Relationship Type="http://schemas.openxmlformats.org/officeDocument/2006/relationships/notesMaster" Target="/ppt/notesMasters/notesMaster1.xml" Id="R8047577b481c45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question: a numerical answer is only useful when the system behind it is defensible.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most failures occur before or after arithmetic: meaning, stability and diagnostics can all break.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 semantic discipline. A matrix has meaning through its rows, columns, dimensions and permitted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that matrix multiplication is row-by-column composition. Emphasize that order generally changes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 x = b aloud: A contains relationships, x contains unknowns, and b contains observed totals or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allocation example and explain why pivot selection protects the computation.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x = 40 and y = 20 as a candidate solution, then reconstruct both original equations and inspect the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notebook cell. The assertion verifies that the computed vector satisfies A x = b within numerical tolerance.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Perturb the right-hand side and compare solutions. Conditioning translates small input changes into possible output instability.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verification from validation: correct code cannot prove that the equations describe the real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lesson to regression, covariance, PCA, neural networks, embeddings, attention and network-flow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questions before trusting any solve: semantics, dimensional conformity, rank and numerical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the control sequence with residuals, sensitivity and the consequences of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learners to the controlled notebook and exercises, progressing from operations to a defended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Synthesize the lesson: defensibility depends on the entire chain, not on the solver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opening question. The goal is a solution that can be interpreted, tested and defended.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PU-B01-C04 controlled lesson assets (local production candidate v0.1.0).</a:t>
            </a:r>
          </a:p>
          <a:p xmlns:a="http://schemas.openxmlformats.org/drawingml/2006/main">
            <a:r>
              <a:t>- Visual system inherited from the verified PU-B01-C01 YouTube lesson deck v1.2.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64f04591043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60e6cfd0034cad" /><Relationship Type="http://schemas.openxmlformats.org/officeDocument/2006/relationships/slideLayout" Target="/ppt/slideLayouts/slideLayout1.xml" Id="Rf746458dd76a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46458dd76a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8e90eab49406f" /><Relationship Type="http://schemas.openxmlformats.org/officeDocument/2006/relationships/notesSlide" Target="/ppt/notesSlides/notesSlide1.xml" Id="R2b53b8b7516a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20aeea30947b8" /><Relationship Type="http://schemas.openxmlformats.org/officeDocument/2006/relationships/notesSlide" Target="/ppt/notesSlides/notesSlide2.xml" Id="R68af3ba229e847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1766ea1154b9a" /><Relationship Type="http://schemas.openxmlformats.org/officeDocument/2006/relationships/notesSlide" Target="/ppt/notesSlides/notesSlide3.xml" Id="R41c9ebd8d81a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f76c058a14a04" /><Relationship Type="http://schemas.openxmlformats.org/officeDocument/2006/relationships/notesSlide" Target="/ppt/notesSlides/notesSlide4.xml" Id="R9063fcb84d2c49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909e82ec44efd" /><Relationship Type="http://schemas.openxmlformats.org/officeDocument/2006/relationships/notesSlide" Target="/ppt/notesSlides/notesSlide5.xml" Id="Rde4591a4bccc42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15c2d49bd4f31" /><Relationship Type="http://schemas.openxmlformats.org/officeDocument/2006/relationships/notesSlide" Target="/ppt/notesSlides/notesSlide6.xml" Id="Ra621c6d2bc7240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600d8d7014c34" /><Relationship Type="http://schemas.openxmlformats.org/officeDocument/2006/relationships/notesSlide" Target="/ppt/notesSlides/notesSlide7.xml" Id="Rad7e36c0691d4f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0fca52bbb479c" /><Relationship Type="http://schemas.openxmlformats.org/officeDocument/2006/relationships/notesSlide" Target="/ppt/notesSlides/notesSlide8.xml" Id="Rd94888ecfba24a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19ea925314102" /><Relationship Type="http://schemas.openxmlformats.org/officeDocument/2006/relationships/notesSlide" Target="/ppt/notesSlides/notesSlide9.xml" Id="R4a48a30493fc47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745a3d70346b6" /><Relationship Type="http://schemas.openxmlformats.org/officeDocument/2006/relationships/notesSlide" Target="/ppt/notesSlides/notesSlide10.xml" Id="R494ba03a4a9b49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6e1c892f74f8e" /><Relationship Type="http://schemas.openxmlformats.org/officeDocument/2006/relationships/notesSlide" Target="/ppt/notesSlides/notesSlide11.xml" Id="Rfd6fbddfa53b44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98415d35c4a14" /><Relationship Type="http://schemas.openxmlformats.org/officeDocument/2006/relationships/notesSlide" Target="/ppt/notesSlides/notesSlide12.xml" Id="Rc11a5079dd504c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84f09c6ae42fe" /><Relationship Type="http://schemas.openxmlformats.org/officeDocument/2006/relationships/notesSlide" Target="/ppt/notesSlides/notesSlide13.xml" Id="Rffbe4f8f500f42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6a2bcecfa4007" /><Relationship Type="http://schemas.openxmlformats.org/officeDocument/2006/relationships/notesSlide" Target="/ppt/notesSlides/notesSlide14.xml" Id="R5a4dca5047cf4e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3f5b1b6e4459a" /><Relationship Type="http://schemas.openxmlformats.org/officeDocument/2006/relationships/notesSlide" Target="/ppt/notesSlides/notesSlide15.xml" Id="R443cc56cd4eb4b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587752297483c" /><Relationship Type="http://schemas.openxmlformats.org/officeDocument/2006/relationships/notesSlide" Target="/ppt/notesSlides/notesSlide16.xml" Id="R73221d9529334a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2CD0A-9BDF-4EEB-8C53-13886345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61281-FD7C-4251-8EA2-F28AE99C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3DE0F-2CF8-4EA2-B636-F33513DA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LESSON 4 · MATRIX ALGEBRA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10731-C256-46CB-BCAC-4EF7F0A8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843E4-CC33-42CD-B5F2-BC480151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71D1C-94C3-4AD7-841A-C402D131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7F2E8"/>
                </a:solidFill>
              </a:defRPr>
            </a:pPr>
            <a:r>
              <a:rPr sz="4050" b="1">
                <a:solidFill>
                  <a:srgbClr val="F7F2E8"/>
                </a:solidFill>
              </a:rPr>
              <a:t>CAN YOU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80C9B-40BA-4C80-B55B-1F3B06A9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D9A441"/>
                </a:solidFill>
              </a:defRPr>
            </a:pPr>
            <a:r>
              <a:rPr sz="4050" b="1">
                <a:solidFill>
                  <a:srgbClr val="D9A441"/>
                </a:solidFill>
              </a:rPr>
              <a:t>THE SOLUTION?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C9D59-66B9-4757-BA3F-0CB5AF62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9D7CC"/>
                </a:solidFill>
              </a:defRPr>
            </a:pPr>
            <a:r>
              <a:rPr sz="1875" b="1">
                <a:solidFill>
                  <a:srgbClr val="79D7CC"/>
                </a:solidFill>
              </a:rPr>
              <a:t>Matrix Algebra and Linear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4DCEE-3421-4DF9-AB58-C0ABA6E3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47750"/>
            <a:ext cx="2952750" cy="33528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300A8-E439-47DC-A3FB-321F249B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381125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D9A441"/>
                </a:solidFill>
              </a:defRPr>
            </a:pPr>
            <a:r>
              <a:rPr sz="5400" b="1">
                <a:solidFill>
                  <a:srgbClr val="D9A441"/>
                </a:solidFill>
              </a:rPr>
              <a:t>Ax=b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091A0-6F2E-4AE7-AD7B-9DD5FE4F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3362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linked 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5A9E9-EFDF-4CC3-84A9-958D12C4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067050"/>
            <a:ext cx="2028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1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F9B03-9C85-4ADD-8A27-BCFD86BD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385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Computed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0BA45-3C53-4E54-B884-0EEC962D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195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07A73"/>
                </a:solidFill>
              </a:defRPr>
            </a:pPr>
            <a:r>
              <a:rPr sz="2250" b="1">
                <a:solidFill>
                  <a:srgbClr val="F07A73"/>
                </a:solidFill>
              </a:rPr>
              <a:t>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34110-C2C7-415A-A481-BADA2BA4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48125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2E8"/>
                </a:solidFill>
              </a:defRPr>
            </a:pPr>
            <a:r>
              <a:rPr sz="1350" b="1">
                <a:solidFill>
                  <a:srgbClr val="F7F2E8"/>
                </a:solidFill>
              </a:rPr>
              <a:t>Defensible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241DA-D264-4D75-B084-48339A3A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1CE"/>
                </a:solidFill>
              </a:defRPr>
            </a:pPr>
            <a:r>
              <a:rPr sz="1275" b="0">
                <a:solidFill>
                  <a:srgbClr val="AFC1CE"/>
                </a:solidFill>
              </a:rPr>
              <a:t>PU-B01-C04  •  Mbaye Kebe</a:t>
            </a:r>
          </a:p>
        </p:txBody>
      </p:sp>
    </p:spTree>
    <p:extLst>
      <p:ext uri="{BB962C8B-B14F-4D97-AF65-F5344CB8AC3E}">
        <p14:creationId xmlns:p14="http://schemas.microsoft.com/office/powerpoint/2010/main" val="461721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BA481-20AF-4B01-8AAD-43FCA7A1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DE4AD-3D5C-4081-81A5-DB6D918B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9237D-6A02-4BDC-B41F-011D245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OPENING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E149B-DA04-4107-9499-7EB9FA99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FDECE-BAAA-4C54-B6DE-54F675CF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CC9CA-5200-41C3-8CB6-5ACF210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A solution can be precise—and still be unsafe.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3E64E-8969-427E-869A-FE0F213B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Linear algebra becomes defensible only when structure, stability and meaning are checked.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CEF6C-D784-4368-98FA-F9913993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0E09F-E6DE-42DA-9480-F26561C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SHAPE IGNORED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AA24-CBE1-4889-B779-D9A868F4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2E8"/>
                </a:solidFill>
              </a:defRPr>
            </a:pPr>
            <a:r>
              <a:rPr sz="1650" b="0">
                <a:solidFill>
                  <a:srgbClr val="F7F2E8"/>
                </a:solidFill>
              </a:rPr>
              <a:t>Dimensions do not conform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2DD73-0164-4804-868C-CCC8493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D91DA-995F-40DA-9203-F7DD246C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PIVOT WEAK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F25AA-1DE4-4E88-A247-F24B2E74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2E8"/>
                </a:solidFill>
              </a:defRPr>
            </a:pPr>
            <a:r>
              <a:rPr sz="1650" b="0">
                <a:solidFill>
                  <a:srgbClr val="F7F2E8"/>
                </a:solidFill>
              </a:rPr>
              <a:t>Roundoff dominates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F40CB-9E79-4EE3-B598-3F949D83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80BCF-CA24-4771-B6AC-595D9013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RANK MISREAD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238E5-E9BD-4483-9443-CC8F7A76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2E8"/>
                </a:solidFill>
              </a:defRPr>
            </a:pPr>
            <a:r>
              <a:rPr sz="1650" b="0">
                <a:solidFill>
                  <a:srgbClr val="F7F2E8"/>
                </a:solidFill>
              </a:rPr>
              <a:t>Information is redundant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A75F7-75C4-40BF-A8FF-DD6937BA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F07A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94553-8E6B-400F-BBE7-DB3986D6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7A73"/>
                </a:solidFill>
              </a:defRPr>
            </a:pPr>
            <a:r>
              <a:rPr sz="1350" b="1">
                <a:solidFill>
                  <a:srgbClr val="F07A73"/>
                </a:solidFill>
              </a:rPr>
              <a:t>RESIDUAL OMITTED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29725-F753-458F-A000-C63B43BB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2E8"/>
                </a:solidFill>
              </a:defRPr>
            </a:pPr>
            <a:r>
              <a:rPr sz="1650" b="0">
                <a:solidFill>
                  <a:srgbClr val="F7F2E8"/>
                </a:solidFill>
              </a:rPr>
              <a:t>Fit was never checked</a:t>
            </a:r>
          </a:p>
        </p:txBody>
      </p:sp>
    </p:spTree>
    <p:extLst>
      <p:ext uri="{BB962C8B-B14F-4D97-AF65-F5344CB8AC3E}">
        <p14:creationId xmlns:p14="http://schemas.microsoft.com/office/powerpoint/2010/main" val="1859790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8CF9D-EAF0-4E68-80D7-08623B5C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A8687-D4FC-4B09-8266-841593AC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CA4D1-F4D4-472F-BE1A-2F5F64A7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MATRIX 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68242-1DAE-4DE0-B841-15FFABC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24B07-D792-4997-B9BE-D5297ADD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8FBEA-4137-4BEE-96E7-DD1A4C3C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Before calculating, establish four structural elements.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541D9-D241-4AF6-8605-D2CA73C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Rows, columns, dimensions and operations determine what a matrix expression means.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7EEDB-A176-4FC3-B473-6FB74C45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476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0B3445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B964F-E9E6-4E81-AB1D-6892A69C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71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30E1E-DC92-40F3-A709-DBDA83F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57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68744-31CA-4420-B604-002AE20D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2476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F6C66-E477-43E2-B9E0-EEFE9AB6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97025-D19D-48E8-849A-4C401B0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57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COLUMNS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C6382-0D46-4AD7-9878-99294A6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81250"/>
            <a:ext cx="2476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0B3445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01B82-E9C0-4312-8368-B2073184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71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0700D-DC96-420C-A75F-4E8706E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57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DIMENSIONS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DCA36-D8EC-4981-AA2A-E9574C7D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81250"/>
            <a:ext cx="2476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B44C0-280E-4636-96DF-2B3853EE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71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0CD9C-55F1-4FA8-B4A6-ACC507D5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57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35F0A-C1BE-4E3F-8346-FF0D6991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9D7CC"/>
                </a:solidFill>
              </a:defRPr>
            </a:pPr>
            <a:r>
              <a:rPr sz="2025" b="1">
                <a:solidFill>
                  <a:srgbClr val="79D7CC"/>
                </a:solidFill>
              </a:rPr>
              <a:t>MEANING connects the algebra to the system being represented.</a:t>
            </a:r>
          </a:p>
        </p:txBody>
      </p:sp>
    </p:spTree>
    <p:extLst>
      <p:ext uri="{BB962C8B-B14F-4D97-AF65-F5344CB8AC3E}">
        <p14:creationId xmlns:p14="http://schemas.microsoft.com/office/powerpoint/2010/main" val="1424642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AFE456-7AA3-4A9D-9004-939249C5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8E338-EF5F-44A5-88DE-52638F45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C2252-16F6-4F66-A3C0-B7EBD01D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MATRIX MULTIPLICATION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0CE8B-EB11-4CEF-AA29-E9D59669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51761-FBF4-4CFA-926E-F964E0C2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E240E-D9A2-4B9A-A2BD-2529C3A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Multiplication composes transformations—not entries.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F5412-4208-41F3-AFC1-7AD89C03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Each output combines one row of A with the weighted components of 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F5107-02F3-4412-B65C-52071336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F7BA0-7684-498B-B9B0-15DA66A6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824D2-C6BC-4EA6-BA10-35F4ADD4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8602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9A441"/>
                </a:solidFill>
              </a:defRPr>
            </a:pPr>
            <a:r>
              <a:rPr sz="1950" b="1">
                <a:solidFill>
                  <a:srgbClr val="D9A44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176EB-4232-419B-9692-EE6688AD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F03DC-8E56-464B-96F1-3F1DC7DF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DA7CC-2E18-422D-8F44-17AD70A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8602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9A441"/>
                </a:solidFill>
              </a:defRPr>
            </a:pPr>
            <a:r>
              <a:rPr sz="1950" b="1">
                <a:solidFill>
                  <a:srgbClr val="D9A441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1C6FC-EF59-4653-9296-3A8288DC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9A1E3-80B4-4563-AB24-60300301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4792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C43D6-68C5-4D1C-B9D9-7D3D2376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8602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9A441"/>
                </a:solidFill>
              </a:defRPr>
            </a:pPr>
            <a:r>
              <a:rPr sz="1950" b="1">
                <a:solidFill>
                  <a:srgbClr val="D9A441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6AA1B-EB98-435F-AA5A-5499B833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FAE3E-A38D-4515-93C7-3E09F80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4792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7AC2E-E4D4-4B29-B9E1-89DF3238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4D57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E0141-14FA-4894-9FFA-79CD6DB1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Columns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BCC41-C2BD-4B4C-908A-FCA6AAE2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147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9A441"/>
                </a:solidFill>
              </a:defRPr>
            </a:pPr>
            <a:r>
              <a:rPr sz="1950" b="1">
                <a:solidFill>
                  <a:srgbClr val="D9A44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1076C-4E75-4F81-94EF-F3CE8276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62375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A7849-0142-40B4-90E7-7A1A758A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766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Weights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A512D-1DF0-45F4-95A4-D5AEEB08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147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9A441"/>
                </a:solidFill>
              </a:defRPr>
            </a:pPr>
            <a:r>
              <a:rPr sz="1950" b="1">
                <a:solidFill>
                  <a:srgbClr val="D9A441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DCDFB6-A2BF-4895-AE95-26E9A49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62375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3C7C86-F6D9-44D0-8E1D-97BF2168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766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Row sums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A2F1B-7E2D-4C72-B45B-F7FA0C4A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147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9A441"/>
                </a:solidFill>
              </a:defRPr>
            </a:pPr>
            <a:r>
              <a:rPr sz="1950" b="1">
                <a:solidFill>
                  <a:srgbClr val="D9A441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F99DB6-9071-44FA-9471-407DB7A1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62375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AED29-A8F3-46A5-8F0C-DF342B17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766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Meaning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586133-C59C-497B-8D2B-A084446F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625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A441"/>
                </a:solidFill>
              </a:defRPr>
            </a:pPr>
            <a:r>
              <a:rPr sz="1875" b="1">
                <a:solidFill>
                  <a:srgbClr val="D9A441"/>
                </a:solidFill>
              </a:rPr>
              <a:t>Order matters: in general, AB ≠ BA.</a:t>
            </a:r>
          </a:p>
        </p:txBody>
      </p:sp>
    </p:spTree>
    <p:extLst>
      <p:ext uri="{BB962C8B-B14F-4D97-AF65-F5344CB8AC3E}">
        <p14:creationId xmlns:p14="http://schemas.microsoft.com/office/powerpoint/2010/main" val="4829502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EE0BB-73EE-46DE-A299-71E06B1C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9FEF9-6575-4667-89A4-FD946265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1F87F-4F76-4DC9-A745-2D95FC1C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LINEAR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6A8C8-F336-4478-8321-F2CBD116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95346-73B0-41A1-A0A9-8E6E5DAE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37A30-E55C-45D9-AD4C-9EE534D6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A linear system collects linked constraints.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D21CB-5BFD-4278-882A-2174D5BD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Read A x = b as a structured relationship before treating it as a computation.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ED8EC-7A17-4EE0-A299-C713DAB5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000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54D57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42EE9-47E3-4292-A0F3-0D432121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71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D9A441"/>
                </a:solidFill>
              </a:defRPr>
            </a:pPr>
            <a:r>
              <a:rPr sz="2550" b="1">
                <a:solidFill>
                  <a:srgbClr val="D9A441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93A45-6DD7-4665-B590-AD2F0A63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2E8"/>
                </a:solidFill>
              </a:defRPr>
            </a:pPr>
            <a:r>
              <a:rPr sz="1350" b="1">
                <a:solidFill>
                  <a:srgbClr val="F7F2E8"/>
                </a:solidFill>
              </a:rPr>
              <a:t>Relationships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25C01-F85A-4738-9F3F-1950F03B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2000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835A8-8A0F-40A2-A651-D330E313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71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79D7CC"/>
                </a:solidFill>
              </a:defRPr>
            </a:pPr>
            <a:r>
              <a:rPr sz="2550" b="1">
                <a:solidFill>
                  <a:srgbClr val="79D7CC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F2516-24DE-430E-889A-2CC521D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2E8"/>
                </a:solidFill>
              </a:defRPr>
            </a:pPr>
            <a:r>
              <a:rPr sz="1350" b="1">
                <a:solidFill>
                  <a:srgbClr val="F7F2E8"/>
                </a:solidFill>
              </a:rPr>
              <a:t>Unknowns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A7553-81C9-42C2-A171-83484BCA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2000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51314-7306-459A-9E9F-F356B805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571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79D7CC"/>
                </a:solidFill>
              </a:defRPr>
            </a:pPr>
            <a:r>
              <a:rPr sz="2550" b="1">
                <a:solidFill>
                  <a:srgbClr val="79D7CC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FC3F9-3BB4-4F21-BB23-1C4E82FF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813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2E8"/>
                </a:solidFill>
              </a:defRPr>
            </a:pPr>
            <a:r>
              <a:rPr sz="1350" b="1">
                <a:solidFill>
                  <a:srgbClr val="F7F2E8"/>
                </a:solidFill>
              </a:rPr>
              <a:t>Observed totals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BBFA4-56E4-419F-9F1F-79C4D9B6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000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8844B-2C73-486D-B7BC-FB3F5264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71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79D7CC"/>
                </a:solidFill>
              </a:defRPr>
            </a:pPr>
            <a:r>
              <a:rPr sz="2550" b="1">
                <a:solidFill>
                  <a:srgbClr val="79D7CC"/>
                </a:solidFill>
              </a:rPr>
              <a:t>RANK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6A5B4-BBB7-45E6-882B-020364F4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2E8"/>
                </a:solidFill>
              </a:defRPr>
            </a:pPr>
            <a:r>
              <a:rPr sz="1350" b="1">
                <a:solidFill>
                  <a:srgbClr val="F7F2E8"/>
                </a:solidFill>
              </a:rPr>
              <a:t>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FFF2D-3AF5-4304-840B-2CD2896C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2000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039F4-CA0F-4D5D-9BE1-13133764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571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79D7CC"/>
                </a:solidFill>
              </a:defRPr>
            </a:pPr>
            <a:r>
              <a:rPr sz="2550" b="1">
                <a:solidFill>
                  <a:srgbClr val="79D7CC"/>
                </a:solidFill>
              </a:rPr>
              <a:t>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B3FBB-6FC2-459C-95BA-F26DE900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813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2E8"/>
                </a:solidFill>
              </a:defRPr>
            </a:pPr>
            <a:r>
              <a:rPr sz="1350" b="1">
                <a:solidFill>
                  <a:srgbClr val="F7F2E8"/>
                </a:solidFill>
              </a:rPr>
              <a:t>Equation 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A92BB-F8A9-4D71-988D-7E12488E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2E8"/>
                </a:solidFill>
              </a:defRPr>
            </a:pPr>
            <a:r>
              <a:rPr sz="1725" b="1">
                <a:solidFill>
                  <a:srgbClr val="F7F2E8"/>
                </a:solidFill>
              </a:rPr>
              <a:t>A stable solve requires structure, diagnostics and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8723382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F762D-20C9-416A-B337-701314BC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205B5-B4FF-414F-953B-9E792EC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03D9E-8465-4E85-B4A8-7C0FA3ED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12B6E-3BCA-4F74-8D6A-545BA06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DD98E-61FA-435F-804F-D600B7C7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2BEA0-ADB1-4D1C-96D1-BF1FFA5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Solve a 2 × 2 allocation system with partial pivoting.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8A2DE-D31A-496B-8E47-A35F7672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The equations encode two linked resource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707D1-5975-4578-A9DD-13B9A068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810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ECA85-1FFB-47D9-A9F7-B2727679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02436"/>
                </a:solidFill>
              </a:defRPr>
            </a:pPr>
            <a:r>
              <a:rPr sz="3150" b="1">
                <a:solidFill>
                  <a:srgbClr val="102436"/>
                </a:solidFill>
              </a:rPr>
              <a:t>2x + y = 100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102436"/>
                </a:solidFill>
              </a:defRPr>
            </a:pPr>
            <a:r>
              <a:rPr sz="3150" b="1">
                <a:solidFill>
                  <a:srgbClr val="102436"/>
                </a:solidFill>
              </a:rPr>
              <a:t>x + 2y = 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61175-3BFD-4B5E-995C-A8F98362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436"/>
                </a:solidFill>
              </a:defRPr>
            </a:pPr>
            <a:r>
              <a:rPr sz="1650" b="1">
                <a:solidFill>
                  <a:srgbClr val="102436"/>
                </a:solidFill>
              </a:rPr>
              <a:t>A = [[2,1],[1,2]]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55AE2-596F-4D9F-B90E-257E8DE4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57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436"/>
                </a:solidFill>
              </a:defRPr>
            </a:pPr>
            <a:r>
              <a:rPr sz="1650" b="1">
                <a:solidFill>
                  <a:srgbClr val="102436"/>
                </a:solidFill>
              </a:rPr>
              <a:t>b = [100,80]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1B8B2-C521-484E-A3D0-4656A80B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5257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A71AD-54BB-425B-9D86-136DEC4A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9D7CC"/>
                </a:solidFill>
              </a:defRPr>
            </a:pPr>
            <a:r>
              <a:rPr sz="1650" b="1">
                <a:solidFill>
                  <a:srgbClr val="79D7CC"/>
                </a:solidFill>
              </a:rPr>
              <a:t>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A4252-00C5-4FBA-BD5C-830EC0A8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8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2E8"/>
                </a:solidFill>
              </a:defRPr>
            </a:pPr>
            <a:r>
              <a:rPr sz="1575" b="0">
                <a:solidFill>
                  <a:srgbClr val="F7F2E8"/>
                </a:solidFill>
              </a:rPr>
              <a:t>first allocation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DA145-AFDA-47A1-83D8-F692A612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9D7CC"/>
                </a:solidFill>
              </a:defRPr>
            </a:pPr>
            <a:r>
              <a:rPr sz="1650" b="1">
                <a:solidFill>
                  <a:srgbClr val="79D7CC"/>
                </a:solidFill>
              </a:rPr>
              <a:t>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7F0B8-384A-47C4-A39A-F9F60422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00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2E8"/>
                </a:solidFill>
              </a:defRPr>
            </a:pPr>
            <a:r>
              <a:rPr sz="1575" b="0">
                <a:solidFill>
                  <a:srgbClr val="F7F2E8"/>
                </a:solidFill>
              </a:rPr>
              <a:t>second allocation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CDEAE-3A19-452F-A522-B2DA08BC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9D7CC"/>
                </a:solidFill>
              </a:defRPr>
            </a:pPr>
            <a:r>
              <a:rPr sz="1650" b="1">
                <a:solidFill>
                  <a:srgbClr val="79D7CC"/>
                </a:solidFill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67011-BC6B-47B4-A51C-82042C3C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2E8"/>
                </a:solidFill>
              </a:defRPr>
            </a:pPr>
            <a:r>
              <a:rPr sz="1575" b="0">
                <a:solidFill>
                  <a:srgbClr val="F7F2E8"/>
                </a:solidFill>
              </a:rPr>
              <a:t>coefficient 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3EB31-2ACC-4D95-8069-014E57B8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9D7CC"/>
                </a:solidFill>
              </a:defRPr>
            </a:pPr>
            <a:r>
              <a:rPr sz="1650" b="1">
                <a:solidFill>
                  <a:srgbClr val="79D7CC"/>
                </a:solidFill>
              </a:rPr>
              <a:t>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739D2-C64F-494B-B256-F43A1A83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481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2E8"/>
                </a:solidFill>
              </a:defRPr>
            </a:pPr>
            <a:r>
              <a:rPr sz="1575" b="0">
                <a:solidFill>
                  <a:srgbClr val="F7F2E8"/>
                </a:solidFill>
              </a:rPr>
              <a:t>constraint totals</a:t>
            </a:r>
          </a:p>
        </p:txBody>
      </p:sp>
    </p:spTree>
    <p:extLst>
      <p:ext uri="{BB962C8B-B14F-4D97-AF65-F5344CB8AC3E}">
        <p14:creationId xmlns:p14="http://schemas.microsoft.com/office/powerpoint/2010/main" val="819938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F2817-725B-4938-8ABF-977F4F59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E7DF7-1392-4A3A-A6F6-0CA5CA6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12630-E53E-41D9-832A-5CCED8F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COMPUTED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73738-9B04-4313-88C4-4E97247F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8253D-6C96-4FB9-89ED-C2BBFAAE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41526-3697-4714-BC66-18CC0FFF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Elimination returns a unique candidate solution.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612E4-30D8-4781-A527-119141DE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Now check the variables, reconstructed totals and residual.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86A21-4027-44B2-BCBE-4F10E33F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F5192-BCB2-4A64-9B36-9FD5D637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9D7CC"/>
                </a:solidFill>
              </a:defRPr>
            </a:pPr>
            <a:r>
              <a:rPr sz="2025" b="1">
                <a:solidFill>
                  <a:srgbClr val="79D7CC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729DF-6C09-4EBF-AFFB-60777A41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D9A441"/>
                </a:solidFill>
              </a:defRPr>
            </a:pPr>
            <a:r>
              <a:rPr sz="3450" b="1">
                <a:solidFill>
                  <a:srgbClr val="D9A441"/>
                </a:solidFill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EBA52-C1AD-4178-A1CE-A8FA5560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909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7F2E8"/>
                </a:solidFill>
              </a:defRPr>
            </a:pPr>
            <a:r>
              <a:rPr sz="1275" b="0">
                <a:solidFill>
                  <a:srgbClr val="F7F2E8"/>
                </a:solidFill>
              </a:rPr>
              <a:t>allocation units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23502-DA06-45EA-8A5B-E82B221B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4D57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8B61B-13D5-4D6F-8D5E-B41DBB3A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9D7CC"/>
                </a:solidFill>
              </a:defRPr>
            </a:pPr>
            <a:r>
              <a:rPr sz="2025" b="1">
                <a:solidFill>
                  <a:srgbClr val="79D7CC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ECA60-9A18-44DA-9BAC-4C42FE59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D9A441"/>
                </a:solidFill>
              </a:defRPr>
            </a:pPr>
            <a:r>
              <a:rPr sz="3450" b="1">
                <a:solidFill>
                  <a:srgbClr val="D9A441"/>
                </a:solidFill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93A3E-1CB2-490B-9323-F13E48E6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7F2E8"/>
                </a:solidFill>
              </a:defRPr>
            </a:pPr>
            <a:r>
              <a:rPr sz="1275" b="0">
                <a:solidFill>
                  <a:srgbClr val="F7F2E8"/>
                </a:solidFill>
              </a:rPr>
              <a:t>allocation units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1E346-D82C-420C-AECD-7F16DDED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D4888-ABC9-46BF-AF11-53B0B1FD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9D7CC"/>
                </a:solidFill>
              </a:defRPr>
            </a:pPr>
            <a:r>
              <a:rPr sz="2025" b="1">
                <a:solidFill>
                  <a:srgbClr val="79D7CC"/>
                </a:solidFill>
              </a:rPr>
              <a:t>‖r‖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61CCF-3FD1-4A71-8A54-D6D9A0DC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D9A441"/>
                </a:solidFill>
              </a:defRPr>
            </a:pPr>
            <a:r>
              <a:rPr sz="3450" b="1">
                <a:solidFill>
                  <a:srgbClr val="D9A441"/>
                </a:solidFill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591C7-55FD-4AD5-968D-50A9EBF6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909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7F2E8"/>
                </a:solidFill>
              </a:defRPr>
            </a:pPr>
            <a:r>
              <a:rPr sz="1275" b="0">
                <a:solidFill>
                  <a:srgbClr val="F7F2E8"/>
                </a:solidFill>
              </a:rPr>
              <a:t>equation error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0C928-27F2-40AF-A6CC-4F2205FE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2E8"/>
                </a:solidFill>
              </a:defRPr>
            </a:pPr>
            <a:r>
              <a:rPr sz="1875" b="1">
                <a:solidFill>
                  <a:srgbClr val="F7F2E8"/>
                </a:solidFill>
              </a:rPr>
              <a:t>Solution: [40.0, 20.0]  •  residual norm: 0.0</a:t>
            </a:r>
          </a:p>
        </p:txBody>
      </p:sp>
    </p:spTree>
    <p:extLst>
      <p:ext uri="{BB962C8B-B14F-4D97-AF65-F5344CB8AC3E}">
        <p14:creationId xmlns:p14="http://schemas.microsoft.com/office/powerpoint/2010/main" val="1358859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52369-1D6C-4A76-BBED-547B24AD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F2382-A27C-493C-A982-DFD35BE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298C1-23CB-4DB4-89A1-84F6CF06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EXECUTABLE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1DCE9-ECA1-4362-8B4D-D9CFA25A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B4FDB-8E3D-405C-9706-372B0E9A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C46C3-76A3-401A-BA9B-79A08C6A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Test the solution—do not merely display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095A2-626A-4759-A576-FBE16041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An assertion turns A x = b into a reproducible numerical 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3E019-4A2C-4734-B611-DBA22D0F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6131F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60EAF-103C-47E8-A19B-88597E82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6286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F8F2"/>
                </a:solidFill>
              </a:defRPr>
            </a:pPr>
            <a:r>
              <a:rPr sz="1650" b="0">
                <a:solidFill>
                  <a:srgbClr val="D7F8F2"/>
                </a:solidFill>
              </a:rPr>
              <a:t>A = array([[2., 1.], [1., 2.]])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D7F8F2"/>
                </a:solidFill>
              </a:defRPr>
            </a:pPr>
            <a:r>
              <a:rPr sz="1650" b="0">
                <a:solidFill>
                  <a:srgbClr val="D7F8F2"/>
                </a:solidFill>
              </a:rPr>
              <a:t>b = array([100., 80.]); x = gaussian_elimination(A, 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D7F8F2"/>
                </a:solidFill>
              </a:defRPr>
            </a:pPr>
            <a:r>
              <a:rPr sz="1650" b="0">
                <a:solidFill>
                  <a:srgbClr val="D7F8F2"/>
                </a:solidFill>
              </a:rPr>
              <a:t>assert allclose(A @ x, b)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B8409-60C6-46F6-AF62-A58F358F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3A3F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70E22-A0C5-41C2-8835-BF7E161C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128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79D7CC"/>
                </a:solidFill>
              </a:defRPr>
            </a:pPr>
            <a:r>
              <a:rPr sz="4350" b="1">
                <a:solidFill>
                  <a:srgbClr val="79D7CC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C6D09-B9F1-4070-B017-B299C337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2495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2E8"/>
                </a:solidFill>
              </a:defRPr>
            </a:pPr>
            <a:r>
              <a:rPr sz="1875" b="1">
                <a:solidFill>
                  <a:srgbClr val="F7F2E8"/>
                </a:solidFill>
              </a:rPr>
              <a:t>Verification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7F2E8"/>
                </a:solidFill>
              </a:defRPr>
            </a:pPr>
            <a:r>
              <a:rPr sz="1875" b="1">
                <a:solidFill>
                  <a:srgbClr val="F7F2E8"/>
                </a:solidFill>
              </a:rPr>
              <a:t>passed</a:t>
            </a:r>
          </a:p>
        </p:txBody>
      </p:sp>
    </p:spTree>
    <p:extLst>
      <p:ext uri="{BB962C8B-B14F-4D97-AF65-F5344CB8AC3E}">
        <p14:creationId xmlns:p14="http://schemas.microsoft.com/office/powerpoint/2010/main" val="2099694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95847-EF49-4A93-BE0A-69348785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4DA85-AD42-4AF1-AAAE-AC7F7F14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FBE4A-0FC5-4A8F-A437-4B7CE70A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SENSITIVITY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CA0E6-572D-4A26-9F19-17AB22A2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6EF36-EAE9-4EAE-8F50-60F62C8A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01C8C-B1CC-4C32-A46C-1479BB46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A small input change reveals solution fragility.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ED000-1CC1-4650-B021-3E3E3EA3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Perturb b deliberately and measure how strongly the computed solution responds.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F12B4-7984-4C00-B72D-8F984C5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7F2E8"/>
                </a:solidFill>
              </a:defRPr>
            </a:pPr>
            <a:r>
              <a:rPr sz="2625" b="1">
                <a:solidFill>
                  <a:srgbClr val="F7F2E8"/>
                </a:solidFill>
              </a:rPr>
              <a:t>‖x′−x‖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B6E9B-C3B2-4C6D-9BF8-BA2343DF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33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D9A441"/>
                </a:solidFill>
              </a:defRPr>
            </a:pPr>
            <a:r>
              <a:rPr sz="3150" b="1">
                <a:solidFill>
                  <a:srgbClr val="D9A441"/>
                </a:solidFill>
              </a:rPr>
              <a:t>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1A095-621F-4B0F-800E-F1F57819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D9A441"/>
                </a:solidFill>
              </a:defRPr>
            </a:pPr>
            <a:r>
              <a:rPr sz="4500" b="1">
                <a:solidFill>
                  <a:srgbClr val="D9A441"/>
                </a:solidFill>
              </a:rPr>
              <a:t>κ(A)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A8BBC-EE1A-463D-9C46-00484015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2B8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0EAB2-28E5-4B1E-8A42-8A96B98F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95F9A-F080-4B40-810A-3325FCEF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2E8"/>
                </a:solidFill>
              </a:defRPr>
            </a:pPr>
            <a:r>
              <a:rPr sz="1650" b="1">
                <a:solidFill>
                  <a:srgbClr val="F7F2E8"/>
                </a:solidFill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25AF4-CA69-4E6D-BE61-815C7026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B8A7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60F94-C667-4027-89F9-53776112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1A2C"/>
                </a:solidFill>
              </a:defRPr>
            </a:pPr>
            <a:r>
              <a:rPr sz="1650" b="1">
                <a:solidFill>
                  <a:srgbClr val="071A2C"/>
                </a:solidFill>
              </a:rPr>
              <a:t>b′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29416-2A0F-4464-ADE9-7C9E20C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9D7CC"/>
                </a:solidFill>
              </a:defRPr>
            </a:pPr>
            <a:r>
              <a:rPr sz="2025" b="1">
                <a:solidFill>
                  <a:srgbClr val="79D7CC"/>
                </a:solidFill>
              </a:rPr>
              <a:t>Sensitivity test: controlled perturbation, measured consequence</a:t>
            </a:r>
          </a:p>
        </p:txBody>
      </p:sp>
    </p:spTree>
    <p:extLst>
      <p:ext uri="{BB962C8B-B14F-4D97-AF65-F5344CB8AC3E}">
        <p14:creationId xmlns:p14="http://schemas.microsoft.com/office/powerpoint/2010/main" val="12376122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D4F8A-B1E0-4597-9D42-FF14166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901E1-F5E8-4A40-BCFC-3B082E5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8A2E7-FE18-4204-90B3-0D7F7E03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VERIFICATION AND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0FAB1-CEAA-4C40-B33E-70CDB8FC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CD115-31E3-430E-A044-EF6FC0F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FFC67-716F-479E-B92B-C931D7AC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Correct algebra is not the same as a valid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9F7CB-EA64-4473-930E-4C8CEDBE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Both questions are essential—and they control different risks.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5058C-8AAD-48E4-B4A4-C3B413C2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1FF99-BE4A-440B-A49F-0DEDC1DA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9D7CC"/>
                </a:solidFill>
              </a:defRPr>
            </a:pPr>
            <a:r>
              <a:rPr sz="1650" b="1">
                <a:solidFill>
                  <a:srgbClr val="79D7CC"/>
                </a:solidFill>
              </a:rPr>
              <a:t>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3E3AF-82D5-4363-A06E-62C81490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2E8"/>
                </a:solidFill>
              </a:defRPr>
            </a:pPr>
            <a:r>
              <a:rPr sz="2250" b="1">
                <a:solidFill>
                  <a:srgbClr val="F7F2E8"/>
                </a:solidFill>
              </a:rPr>
              <a:t>Did we solve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F7F2E8"/>
                </a:solidFill>
              </a:defRPr>
            </a:pPr>
            <a:r>
              <a:rPr sz="2250" b="1">
                <a:solidFill>
                  <a:srgbClr val="F7F2E8"/>
                </a:solidFill>
              </a:rPr>
              <a:t>the equations correctly?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943B6-4B57-4847-999D-53780F9F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29100"/>
            <a:ext cx="33813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A2C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2F59E-E3A7-4E64-AC80-A3FCAFA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672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2E8"/>
                </a:solidFill>
              </a:defRPr>
            </a:pPr>
            <a:r>
              <a:rPr sz="1275" b="1">
                <a:solidFill>
                  <a:srgbClr val="F7F2E8"/>
                </a:solidFill>
              </a:rPr>
              <a:t>mathematics +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5E684-4DCF-431F-892D-F67BCF53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B2730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908DA-F6A6-4324-80D4-3DB4B12E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A441"/>
                </a:solidFill>
              </a:defRPr>
            </a:pPr>
            <a:r>
              <a:rPr sz="1650" b="1">
                <a:solidFill>
                  <a:srgbClr val="D9A441"/>
                </a:solidFill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1BBD8-1CAC-49E5-99A0-D0973CA6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2E8"/>
                </a:solidFill>
              </a:defRPr>
            </a:pPr>
            <a:r>
              <a:rPr sz="2250" b="1">
                <a:solidFill>
                  <a:srgbClr val="F7F2E8"/>
                </a:solidFill>
              </a:rPr>
              <a:t>Do these equations represent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F7F2E8"/>
                </a:solidFill>
              </a:defRPr>
            </a:pPr>
            <a:r>
              <a:rPr sz="2250" b="1">
                <a:solidFill>
                  <a:srgbClr val="F7F2E8"/>
                </a:solidFill>
              </a:rPr>
              <a:t>the real decision?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6D951-B56C-4048-A1A1-79A30337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29100"/>
            <a:ext cx="33813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131C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223B5-25F3-4282-8ACA-C36ABC26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672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2E8"/>
                </a:solidFill>
              </a:defRPr>
            </a:pPr>
            <a:r>
              <a:rPr sz="1275" b="1">
                <a:solidFill>
                  <a:srgbClr val="F7F2E8"/>
                </a:solidFill>
              </a:rPr>
              <a:t>evidence + purpose</a:t>
            </a:r>
          </a:p>
        </p:txBody>
      </p:sp>
    </p:spTree>
    <p:extLst>
      <p:ext uri="{BB962C8B-B14F-4D97-AF65-F5344CB8AC3E}">
        <p14:creationId xmlns:p14="http://schemas.microsoft.com/office/powerpoint/2010/main" val="18480155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9957E-5961-4923-A051-ABC1CFC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F189C-A7A6-49F3-9446-E28383F3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3034A-E956-45C6-A829-7E8CE517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STATISTICS AND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58B4A-06B5-4F0A-B2E7-114198AF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F7288-9A12-4FD0-A32D-B5CE1CF2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75D19-EEBE-4E63-96A2-27238AFC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The same matrix discipline underlies modern analytical systems.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45A08-E68A-4EC4-829F-A1506693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Matrix algebra is infrastructure for models—not an isolated classroom technique.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C1446-6A31-40F5-9E14-2147FC85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3DEC8-6A52-4AD9-821E-71F118C7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C05F0-5250-4183-8276-41BF9B39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8EAFC-46CF-4E58-8A5B-25E4D948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Covariance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09156-A671-428E-AB76-6D567BC1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71D36-DFEA-437A-8948-91C3BF1E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PCA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11E72-CDCE-49E4-93A7-FD932101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86B9A-49B4-484C-B17F-2EB2F930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Neural networks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2C119-8439-4AC1-8B46-F18EC3DC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FFAD4-9DA5-4046-8A2A-77155835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Embeddings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304CE-1F0E-4B8C-9B1F-47A2AF2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89941-EC6A-4E25-8E8A-33A10CB7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Attention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5A3AE-CEAC-4AC0-8C96-4C33F9CD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C2730"/>
          </a:solidFill>
          <a:ln xmlns:a="http://schemas.openxmlformats.org/drawingml/2006/main" w="9525">
            <a:solidFill>
              <a:srgbClr val="F07A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80C6F-B84D-49AE-8D2C-1249998B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Networks and flows</a:t>
            </a:r>
          </a:p>
        </p:txBody>
      </p:sp>
    </p:spTree>
    <p:extLst>
      <p:ext uri="{BB962C8B-B14F-4D97-AF65-F5344CB8AC3E}">
        <p14:creationId xmlns:p14="http://schemas.microsoft.com/office/powerpoint/2010/main" val="10155492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C518A-B717-4D66-9658-A15D4076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F75A2-9DD5-40D6-9533-FE4969A0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F727F-5FA5-49C0-A9F8-B3C5D5B3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DECISION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47B3E-1D2F-47BA-A513-05AE49A2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CDD9C-79A7-4894-9AF9-B10E2418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921D1-0F73-4846-B9C5-308E14F1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Before acting, ask four structural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1F114-31D1-4689-9E2C-91F7DC44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These controls reconnect the calculation to the system it represents.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F17D4-5987-4E71-88A4-A4B1735E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53F12-5A90-4098-8EFD-5FBFD05B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700F1-3502-4A9B-8D19-13A54AB0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1457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2E8"/>
                </a:solidFill>
              </a:defRPr>
            </a:pPr>
            <a:r>
              <a:rPr sz="1650" b="1">
                <a:solidFill>
                  <a:srgbClr val="F7F2E8"/>
                </a:solidFill>
              </a:rPr>
              <a:t>What do rows and columns represent?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1DF91-411E-43DD-AA77-A4452D91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43125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E4923-F595-430A-BB92-DADA8434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F86F6-2340-463F-B35F-789DCECA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1457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2E8"/>
                </a:solidFill>
              </a:defRPr>
            </a:pPr>
            <a:r>
              <a:rPr sz="1650" b="1">
                <a:solidFill>
                  <a:srgbClr val="F7F2E8"/>
                </a:solidFill>
              </a:rPr>
              <a:t>Do all dimensions conform?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E20E4-FEA3-4E6C-BC55-39528474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D1951-9F30-4E62-BE7D-12640E76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FEFE8-7DDC-47B0-B95B-2C1D0F79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4332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2E8"/>
                </a:solidFill>
              </a:defRPr>
            </a:pPr>
            <a:r>
              <a:rPr sz="1650" b="1">
                <a:solidFill>
                  <a:srgbClr val="F7F2E8"/>
                </a:solidFill>
              </a:rPr>
              <a:t>Is the system full rank?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163C9-AC87-41CA-BD29-22359B2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71875"/>
            <a:ext cx="5219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F76F3-35E0-47F1-B431-BFDEE6DE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93B72-B692-4128-A19E-17B9F17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4332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2E8"/>
                </a:solidFill>
              </a:defRPr>
            </a:pPr>
            <a:r>
              <a:rPr sz="1650" b="1">
                <a:solidFill>
                  <a:srgbClr val="F7F2E8"/>
                </a:solidFill>
              </a:rPr>
              <a:t>Was a stable method used?</a:t>
            </a:r>
          </a:p>
        </p:txBody>
      </p:sp>
    </p:spTree>
    <p:extLst>
      <p:ext uri="{BB962C8B-B14F-4D97-AF65-F5344CB8AC3E}">
        <p14:creationId xmlns:p14="http://schemas.microsoft.com/office/powerpoint/2010/main" val="11540989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827EF-9693-4902-A1C6-09A45425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498EE-5BD9-4F30-8F7F-C7996EDD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74C26-415B-441D-9BE1-51FA3304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DECISION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979D7-4A74-4764-B024-D79D439B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25DCC-B0CB-4D07-B500-258033AC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F6724-AA38-4CB0-BA9D-A2B34909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Then test fit, sensitivity and consequences.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9EE05-81BA-48FC-9EB5-EAF7A6C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A defensible solution requires more than successful elimination.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3EE58-22C5-4B0B-9B27-6FC0DCCE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D46EC-9609-42EA-9F1E-CC543081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47950"/>
            <a:ext cx="91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D9A441"/>
                </a:solidFill>
              </a:defRPr>
            </a:pPr>
            <a:r>
              <a:rPr sz="2625" b="1">
                <a:solidFill>
                  <a:srgbClr val="D9A441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3E277-3CAF-4F32-8B31-42C12458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813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2E8"/>
                </a:solidFill>
              </a:defRPr>
            </a:pPr>
            <a:r>
              <a:rPr sz="1725" b="1">
                <a:solidFill>
                  <a:srgbClr val="F7F2E8"/>
                </a:solidFill>
              </a:rPr>
              <a:t>Is the residual acceptably small?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C192A-8592-49DE-A9FE-1613FF35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2887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4F0F2-D38C-496C-99A7-5E56770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47950"/>
            <a:ext cx="91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D9A441"/>
                </a:solidFill>
              </a:defRPr>
            </a:pPr>
            <a:r>
              <a:rPr sz="2625" b="1">
                <a:solidFill>
                  <a:srgbClr val="D9A441"/>
                </a:solidFill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A1D65-3189-4F23-ABA0-8CC3F6F7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813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2E8"/>
                </a:solidFill>
              </a:defRPr>
            </a:pPr>
            <a:r>
              <a:rPr sz="1725" b="1">
                <a:solidFill>
                  <a:srgbClr val="F7F2E8"/>
                </a:solidFill>
              </a:rPr>
              <a:t>Is the conclusion stable to perturbations?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FB016-F42D-4970-B78D-BB7753CC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3C2730"/>
          </a:solidFill>
          <a:ln xmlns:a="http://schemas.openxmlformats.org/drawingml/2006/main" w="9525">
            <a:solidFill>
              <a:srgbClr val="F07A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98C49-5B63-4E07-B196-7FDA6690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47950"/>
            <a:ext cx="91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D9A441"/>
                </a:solidFill>
              </a:defRPr>
            </a:pPr>
            <a:r>
              <a:rPr sz="2625" b="1">
                <a:solidFill>
                  <a:srgbClr val="D9A441"/>
                </a:solidFill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13FB5-6219-4AC6-B238-EEB2252B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2E8"/>
                </a:solidFill>
              </a:defRPr>
            </a:pPr>
            <a:r>
              <a:rPr sz="1725" b="1">
                <a:solidFill>
                  <a:srgbClr val="F7F2E8"/>
                </a:solidFill>
              </a:rPr>
              <a:t>What are the costs of being wrong?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864B1-B9B0-46BB-8559-F413EF33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006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9D7CC"/>
                </a:solidFill>
              </a:defRPr>
            </a:pPr>
            <a:r>
              <a:rPr sz="1800" b="1">
                <a:solidFill>
                  <a:srgbClr val="79D7CC"/>
                </a:solidFill>
              </a:rPr>
              <a:t>Decision quality = structure + stability + evidence + judgment</a:t>
            </a:r>
          </a:p>
        </p:txBody>
      </p:sp>
    </p:spTree>
    <p:extLst>
      <p:ext uri="{BB962C8B-B14F-4D97-AF65-F5344CB8AC3E}">
        <p14:creationId xmlns:p14="http://schemas.microsoft.com/office/powerpoint/2010/main" val="18796183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7E4D3-E758-4E35-ACEF-392B525A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6A3D3-718F-4694-A610-B654E03E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8098C-8FFA-4F56-8A8D-B40C8A13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2C629-6F57-44E1-98C2-D3826438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376EA-7080-4C69-8ACA-CC7DCFAC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2E96C-4130-46CB-B7CB-13819114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Move from calculation to consequential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2185E-2ACE-44B1-AF28-066959F6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1CE"/>
                </a:solidFill>
              </a:defRPr>
            </a:pPr>
            <a:r>
              <a:rPr sz="1350" b="0">
                <a:solidFill>
                  <a:srgbClr val="AFC1CE"/>
                </a:solidFill>
              </a:rPr>
              <a:t>The notebook and exercises progress from mechanics to professional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017FF-10AC-49D1-92AE-D7F3F5F8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523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AB0C8-11E1-49F1-94E7-0857FD2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LEVEL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88381-614E-405B-8EC0-A439FAE0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2E8"/>
                </a:solidFill>
              </a:defRPr>
            </a:pPr>
            <a:r>
              <a:rPr sz="1575" b="0">
                <a:solidFill>
                  <a:srgbClr val="F7F2E8"/>
                </a:solidFill>
              </a:rPr>
              <a:t>Check dimensions; add, transpose and multiply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23DE4-C2F6-4114-ABAD-DD074150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523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09CE7-9C61-4DDA-A024-357E1312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LEVEL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63BAB-D933-426E-B22D-6FE97FC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2E8"/>
                </a:solidFill>
              </a:defRPr>
            </a:pPr>
            <a:r>
              <a:rPr sz="1575" b="0">
                <a:solidFill>
                  <a:srgbClr val="F7F2E8"/>
                </a:solidFill>
              </a:rPr>
              <a:t>Solve systems with partial pivoting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07878-1312-4850-885E-792D9690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523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7A318-CAC8-4D31-8F0F-70192F6E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LEVEL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FA51D-865D-4853-8A75-F966C2CA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2E8"/>
                </a:solidFill>
              </a:defRPr>
            </a:pPr>
            <a:r>
              <a:rPr sz="1575" b="0">
                <a:solidFill>
                  <a:srgbClr val="F7F2E8"/>
                </a:solidFill>
              </a:rPr>
              <a:t>Diagnose rank, residual and conditioning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DFE5C-06D3-4537-9109-CD358C0F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67125"/>
            <a:ext cx="523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4D57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1895B-F96E-4AFA-82E3-E390C255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CAPSTONE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C24E5-9423-426A-A54F-78106946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2E8"/>
                </a:solidFill>
              </a:defRPr>
            </a:pPr>
            <a:r>
              <a:rPr sz="1575" b="0">
                <a:solidFill>
                  <a:srgbClr val="F7F2E8"/>
                </a:solidFill>
              </a:rPr>
              <a:t>Defend a resource-allocation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6235368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E4E738-8B4D-4703-9056-E81A290B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02E64-1F0D-4D4A-B3FA-D211CAE5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5E094-699A-47B7-9BCD-C359B4EE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KEY 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48088-C758-4731-9959-D538CDB8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B21F5-6F0D-46D8-9E69-A74BDB4E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9B173-4CA3-40BF-951C-69C9A3B6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2E8"/>
                </a:solidFill>
              </a:defRPr>
            </a:pPr>
            <a:r>
              <a:rPr sz="2850" b="1">
                <a:solidFill>
                  <a:srgbClr val="F7F2E8"/>
                </a:solidFill>
              </a:rPr>
              <a:t>Trust requires the whole linear system to remain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BA804-9BFC-4743-AFD0-29B6AFC8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33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6114F-E53E-4126-94D5-101C1758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2E8"/>
                </a:solidFill>
              </a:defRPr>
            </a:pPr>
            <a:r>
              <a:rPr sz="1200" b="1">
                <a:solidFill>
                  <a:srgbClr val="F7F2E8"/>
                </a:solidFill>
              </a:rPr>
              <a:t>DIMENSIONS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29791-1F96-455F-B756-ADF63312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D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DD232-F301-425B-8E02-7AA5F83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09" y="223837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25952-DCD7-4689-957C-001E2C1E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259" y="23336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2E8"/>
                </a:solidFill>
              </a:defRPr>
            </a:pPr>
            <a:r>
              <a:rPr sz="1200" b="1">
                <a:solidFill>
                  <a:srgbClr val="F7F2E8"/>
                </a:solidFill>
              </a:rPr>
              <a:t>MATHEMATICS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EB987-F43F-4E07-A832-455E5935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722134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D2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3D2F5-61AB-4F6E-900E-321DFD8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09" y="404812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81DB9-0596-42C7-91A2-67220427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259" y="4143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2E8"/>
                </a:solidFill>
              </a:defRPr>
            </a:pPr>
            <a:r>
              <a:rPr sz="1200" b="1">
                <a:solidFill>
                  <a:srgbClr val="F7F2E8"/>
                </a:solidFill>
              </a:rPr>
              <a:t>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DC1D1-2FDB-4745-9433-9185574B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2722134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D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8F673-D7FB-4035-B9C1-0683BB89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DA93D-DC70-4A70-9696-29E8B988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48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2E8"/>
                </a:solidFill>
              </a:defRPr>
            </a:pPr>
            <a:r>
              <a:rPr sz="1200" b="1">
                <a:solidFill>
                  <a:srgbClr val="F7F2E8"/>
                </a:solidFill>
              </a:rPr>
              <a:t>RESIDUALS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FFE05-66F6-4491-8095-1173E426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D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61E23-2F0D-4619-B8F5-0393F98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41" y="404812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F92EE-21DE-4817-BF4A-404C8D0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991" y="4143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2E8"/>
                </a:solidFill>
              </a:defRPr>
            </a:pPr>
            <a:r>
              <a:rPr sz="1200" b="1">
                <a:solidFill>
                  <a:srgbClr val="F7F2E8"/>
                </a:solidFill>
              </a:rPr>
              <a:t>CONDITIONING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3F439-BEDF-4539-B24E-D465FB20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866" y="3476625"/>
            <a:ext cx="2722134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D2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A4C6C-770F-49F7-940E-9F34FBBF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41" y="223837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75974-FCDA-47D9-8689-7565BEAB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991" y="23336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2E8"/>
                </a:solidFill>
              </a:defRPr>
            </a:pPr>
            <a:r>
              <a:rPr sz="1200" b="1">
                <a:solidFill>
                  <a:srgbClr val="F7F2E8"/>
                </a:solidFill>
              </a:rPr>
              <a:t>CONSEQUENCES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433B5-2A61-411B-98E6-C0C4B9AC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866" y="2571750"/>
            <a:ext cx="2722134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D2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2E7EF-54AF-425D-9A3B-61B2232C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54D57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C3405-EDE7-4E69-974F-49D9B1E7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9A441"/>
                </a:solidFill>
              </a:defRPr>
            </a:pPr>
            <a:r>
              <a:rPr sz="1800" b="1">
                <a:solidFill>
                  <a:srgbClr val="D9A441"/>
                </a:solidFill>
              </a:rPr>
              <a:t>DEFENSIBLE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D9A441"/>
                </a:solidFill>
              </a:defRPr>
            </a:pPr>
            <a:r>
              <a:rPr sz="1800" b="1">
                <a:solidFill>
                  <a:srgbClr val="D9A441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490399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305A1-A353-4B03-BAC2-3E754547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DB360-4A89-419D-BE19-2EB5ED89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ED5E7-2D26-471F-A42F-2EA5DD63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45392-D416-414D-ADCC-6D5CA78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1CE"/>
                </a:solidFill>
              </a:defRPr>
            </a:pPr>
            <a:r>
              <a:rPr sz="975" b="1">
                <a:solidFill>
                  <a:srgbClr val="AFC1CE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DFEE8-75DB-4143-BDE7-D88B465F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5994E-8594-4728-B105-53AFE781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8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A computed solution is not enough.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8A178-BCE9-4A58-801C-030F8664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AFC1CE"/>
                </a:solidFill>
              </a:defRPr>
            </a:pPr>
            <a:r>
              <a:rPr sz="2250" b="0">
                <a:solidFill>
                  <a:srgbClr val="AFC1CE"/>
                </a:solidFill>
              </a:rPr>
              <a:t>Build linear-system results that can 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E0539-6CA6-42DE-B5D8-B5172B9B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D9A441"/>
                </a:solidFill>
              </a:defRPr>
            </a:pPr>
            <a:r>
              <a:rPr sz="2700" b="1">
                <a:solidFill>
                  <a:srgbClr val="D9A441"/>
                </a:solidFill>
              </a:rPr>
              <a:t>interpreted  •  tested  •  defended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C4214-83AA-4AE0-8A5E-F2660266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B8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7F201-E120-4C27-8B81-D904466C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79D7CC"/>
                </a:solidFill>
              </a:defRPr>
            </a:pPr>
            <a:r>
              <a:rPr sz="22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C1C76-7976-4D69-A3CA-C56468EA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F7F2E8"/>
                </a:solidFill>
              </a:defRPr>
            </a:pPr>
            <a:r>
              <a:rPr sz="1650" b="0">
                <a:solidFill>
                  <a:srgbClr val="F7F2E8"/>
                </a:solidFill>
              </a:rPr>
              <a:t>From statistical reasoning to responsible artificial intelligence.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53D77-0401-43EE-9A2B-B0414CE2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FC1CE"/>
                </a:solidFill>
              </a:defRPr>
            </a:pPr>
            <a:r>
              <a:rPr sz="1200" b="0">
                <a:solidFill>
                  <a:srgbClr val="AFC1CE"/>
                </a:solidFill>
              </a:rPr>
              <a:t>@SRAIStatisticsReasoningandAI</a:t>
            </a:r>
          </a:p>
        </p:txBody>
      </p:sp>
    </p:spTree>
    <p:extLst>
      <p:ext uri="{BB962C8B-B14F-4D97-AF65-F5344CB8AC3E}">
        <p14:creationId xmlns:p14="http://schemas.microsoft.com/office/powerpoint/2010/main" val="2035873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2026-08-31T13:25:01.8710000Z</dcterms:created>
  <dcterms:modified xsi:type="dcterms:W3CDTF">2026-08-31T13:25:01.8710000Z</dcterms:modified>
</coreProperties>
</file>