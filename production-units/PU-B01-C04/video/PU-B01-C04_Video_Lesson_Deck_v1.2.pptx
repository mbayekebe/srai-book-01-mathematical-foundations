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19e86e070e44848" /><Relationship Type="http://schemas.openxmlformats.org/officeDocument/2006/relationships/extended-properties" Target="/docProps/app.xml" Id="Re001e163b08f4226" /><Relationship Type="http://schemas.openxmlformats.org/officeDocument/2006/relationships/officeDocument" Target="/ppt/presentation.xml" Id="R27df261f94ed45fa" /></Relationships>
</file>

<file path=ppt/presentation.xml><?xml version="1.0" encoding="utf-8"?>
<p:presentation xmlns:p="http://schemas.openxmlformats.org/presentationml/2006/main">
  <p:sldMasterIdLst>
    <p:sldMasterId xmlns:r="http://schemas.openxmlformats.org/officeDocument/2006/relationships" id="2147483648" r:id="R8c26ef3f48654c41"/>
  </p:sldMasterIdLst>
  <p:notesMasterIdLst>
    <p:notesMasterId xmlns:r="http://schemas.openxmlformats.org/officeDocument/2006/relationships" r:id="R5a92a5eba0a14441"/>
  </p:notesMasterIdLst>
  <p:sldIdLst>
    <p:sldId xmlns:r="http://schemas.openxmlformats.org/officeDocument/2006/relationships" id="256" r:id="Rc604883594474dea"/>
    <p:sldId xmlns:r="http://schemas.openxmlformats.org/officeDocument/2006/relationships" id="257" r:id="Rc203a53eb8a941f3"/>
    <p:sldId xmlns:r="http://schemas.openxmlformats.org/officeDocument/2006/relationships" id="258" r:id="Rc273dde928aa4ba3"/>
    <p:sldId xmlns:r="http://schemas.openxmlformats.org/officeDocument/2006/relationships" id="259" r:id="Rc2ad587649d4492c"/>
    <p:sldId xmlns:r="http://schemas.openxmlformats.org/officeDocument/2006/relationships" id="260" r:id="R73ed25ea30b44ebd"/>
    <p:sldId xmlns:r="http://schemas.openxmlformats.org/officeDocument/2006/relationships" id="261" r:id="R74ee1df36c374420"/>
    <p:sldId xmlns:r="http://schemas.openxmlformats.org/officeDocument/2006/relationships" id="262" r:id="R407c2b0381674864"/>
    <p:sldId xmlns:r="http://schemas.openxmlformats.org/officeDocument/2006/relationships" id="263" r:id="R61d6f10c630f47e7"/>
    <p:sldId xmlns:r="http://schemas.openxmlformats.org/officeDocument/2006/relationships" id="264" r:id="R0e763d363b664216"/>
    <p:sldId xmlns:r="http://schemas.openxmlformats.org/officeDocument/2006/relationships" id="265" r:id="R6d054eb5a815405c"/>
    <p:sldId xmlns:r="http://schemas.openxmlformats.org/officeDocument/2006/relationships" id="266" r:id="Re24dcc83d5fd479f"/>
    <p:sldId xmlns:r="http://schemas.openxmlformats.org/officeDocument/2006/relationships" id="267" r:id="Rba7158a523384c57"/>
    <p:sldId xmlns:r="http://schemas.openxmlformats.org/officeDocument/2006/relationships" id="268" r:id="Ra45c7c08953e44e9"/>
    <p:sldId xmlns:r="http://schemas.openxmlformats.org/officeDocument/2006/relationships" id="269" r:id="Rf461acd746e64e54"/>
    <p:sldId xmlns:r="http://schemas.openxmlformats.org/officeDocument/2006/relationships" id="270" r:id="R62287327bd4747ab"/>
    <p:sldId xmlns:r="http://schemas.openxmlformats.org/officeDocument/2006/relationships" id="271" r:id="R561a6bff1e6549f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94c5afdefb444b5" /><Relationship Type="http://schemas.openxmlformats.org/officeDocument/2006/relationships/slideMaster" Target="/ppt/slideMasters/slideMaster1.xml" Id="R8c26ef3f48654c41" /><Relationship Type="http://schemas.openxmlformats.org/officeDocument/2006/relationships/notesMaster" Target="/ppt/notesMasters/notesMaster1.xml" Id="R5a92a5eba0a14441" /><Relationship Type="http://schemas.openxmlformats.org/officeDocument/2006/relationships/presProps" Target="/ppt/presProps.xml" Id="R945ce7ca8fa64439" /><Relationship Type="http://schemas.openxmlformats.org/officeDocument/2006/relationships/tableStyles" Target="/ppt/tableStyles.xml" Id="R6719ce4f86db44ba" /><Relationship Type="http://schemas.openxmlformats.org/officeDocument/2006/relationships/slide" Target="/ppt/slides/slide1.xml" Id="Rc604883594474dea" /><Relationship Type="http://schemas.openxmlformats.org/officeDocument/2006/relationships/slide" Target="/ppt/slides/slide2.xml" Id="Rc203a53eb8a941f3" /><Relationship Type="http://schemas.openxmlformats.org/officeDocument/2006/relationships/slide" Target="/ppt/slides/slide3.xml" Id="Rc273dde928aa4ba3" /><Relationship Type="http://schemas.openxmlformats.org/officeDocument/2006/relationships/slide" Target="/ppt/slides/slide4.xml" Id="Rc2ad587649d4492c" /><Relationship Type="http://schemas.openxmlformats.org/officeDocument/2006/relationships/slide" Target="/ppt/slides/slide5.xml" Id="R73ed25ea30b44ebd" /><Relationship Type="http://schemas.openxmlformats.org/officeDocument/2006/relationships/slide" Target="/ppt/slides/slide6.xml" Id="R74ee1df36c374420" /><Relationship Type="http://schemas.openxmlformats.org/officeDocument/2006/relationships/slide" Target="/ppt/slides/slide7.xml" Id="R407c2b0381674864" /><Relationship Type="http://schemas.openxmlformats.org/officeDocument/2006/relationships/slide" Target="/ppt/slides/slide8.xml" Id="R61d6f10c630f47e7" /><Relationship Type="http://schemas.openxmlformats.org/officeDocument/2006/relationships/slide" Target="/ppt/slides/slide9.xml" Id="R0e763d363b664216" /><Relationship Type="http://schemas.openxmlformats.org/officeDocument/2006/relationships/slide" Target="/ppt/slides/slide10.xml" Id="R6d054eb5a815405c" /><Relationship Type="http://schemas.openxmlformats.org/officeDocument/2006/relationships/slide" Target="/ppt/slides/slide11.xml" Id="Re24dcc83d5fd479f" /><Relationship Type="http://schemas.openxmlformats.org/officeDocument/2006/relationships/slide" Target="/ppt/slides/slide12.xml" Id="Rba7158a523384c57" /><Relationship Type="http://schemas.openxmlformats.org/officeDocument/2006/relationships/slide" Target="/ppt/slides/slide13.xml" Id="Ra45c7c08953e44e9" /><Relationship Type="http://schemas.openxmlformats.org/officeDocument/2006/relationships/slide" Target="/ppt/slides/slide14.xml" Id="Rf461acd746e64e54" /><Relationship Type="http://schemas.openxmlformats.org/officeDocument/2006/relationships/slide" Target="/ppt/slides/slide15.xml" Id="R62287327bd4747ab" /><Relationship Type="http://schemas.openxmlformats.org/officeDocument/2006/relationships/slide" Target="/ppt/slides/slide16.xml" Id="R561a6bff1e6549f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333a601d03642c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ee5b6c244954699" /><Relationship Type="http://schemas.openxmlformats.org/officeDocument/2006/relationships/notesMaster" Target="/ppt/notesMasters/notesMaster1.xml" Id="R41ac2cae8c8d43a7" /></Relationships>
</file>

<file path=ppt/notesSlides/_rels/notesSlide2.xml.rels>&#65279;<?xml version="1.0" encoding="utf-8"?><Relationships xmlns="http://schemas.openxmlformats.org/package/2006/relationships"><Relationship Type="http://schemas.openxmlformats.org/officeDocument/2006/relationships/slide" Target="/ppt/slides/slide2.xml" Id="Rb514da67be77442c" /><Relationship Type="http://schemas.openxmlformats.org/officeDocument/2006/relationships/notesMaster" Target="/ppt/notesMasters/notesMaster1.xml" Id="Rfa24154147c64cf4" /></Relationships>
</file>

<file path=ppt/notesSlides/_rels/notesSlide3.xml.rels>&#65279;<?xml version="1.0" encoding="utf-8"?><Relationships xmlns="http://schemas.openxmlformats.org/package/2006/relationships"><Relationship Type="http://schemas.openxmlformats.org/officeDocument/2006/relationships/slide" Target="/ppt/slides/slide3.xml" Id="Rff84d77b3a98424a" /><Relationship Type="http://schemas.openxmlformats.org/officeDocument/2006/relationships/notesMaster" Target="/ppt/notesMasters/notesMaster1.xml" Id="Rb2052c6f04844765" /></Relationships>
</file>

<file path=ppt/notesSlides/_rels/notesSlide4.xml.rels>&#65279;<?xml version="1.0" encoding="utf-8"?><Relationships xmlns="http://schemas.openxmlformats.org/package/2006/relationships"><Relationship Type="http://schemas.openxmlformats.org/officeDocument/2006/relationships/slide" Target="/ppt/slides/slide4.xml" Id="Re3557cfa160145a1" /><Relationship Type="http://schemas.openxmlformats.org/officeDocument/2006/relationships/notesMaster" Target="/ppt/notesMasters/notesMaster1.xml" Id="Rb296610477fd4d86" /></Relationships>
</file>

<file path=ppt/notesSlides/_rels/notesSlide5.xml.rels>&#65279;<?xml version="1.0" encoding="utf-8"?><Relationships xmlns="http://schemas.openxmlformats.org/package/2006/relationships"><Relationship Type="http://schemas.openxmlformats.org/officeDocument/2006/relationships/slide" Target="/ppt/slides/slide5.xml" Id="R40ffba9dbac84bc7" /><Relationship Type="http://schemas.openxmlformats.org/officeDocument/2006/relationships/notesMaster" Target="/ppt/notesMasters/notesMaster1.xml" Id="R503150b22903437f" /></Relationships>
</file>

<file path=ppt/notesSlides/_rels/notesSlide6.xml.rels>&#65279;<?xml version="1.0" encoding="utf-8"?><Relationships xmlns="http://schemas.openxmlformats.org/package/2006/relationships"><Relationship Type="http://schemas.openxmlformats.org/officeDocument/2006/relationships/slide" Target="/ppt/slides/slide6.xml" Id="Rbd84bad3278141ca" /><Relationship Type="http://schemas.openxmlformats.org/officeDocument/2006/relationships/notesMaster" Target="/ppt/notesMasters/notesMaster1.xml" Id="R528c72a319a04db2" /></Relationships>
</file>

<file path=ppt/notesSlides/_rels/notesSlide7.xml.rels>&#65279;<?xml version="1.0" encoding="utf-8"?><Relationships xmlns="http://schemas.openxmlformats.org/package/2006/relationships"><Relationship Type="http://schemas.openxmlformats.org/officeDocument/2006/relationships/slide" Target="/ppt/slides/slide7.xml" Id="R9a38ac12e4414ca7" /><Relationship Type="http://schemas.openxmlformats.org/officeDocument/2006/relationships/notesMaster" Target="/ppt/notesMasters/notesMaster1.xml" Id="R57f0da8430cd4ea5" /></Relationships>
</file>

<file path=ppt/notesSlides/_rels/notesSlide8.xml.rels>&#65279;<?xml version="1.0" encoding="utf-8"?><Relationships xmlns="http://schemas.openxmlformats.org/package/2006/relationships"><Relationship Type="http://schemas.openxmlformats.org/officeDocument/2006/relationships/slide" Target="/ppt/slides/slide8.xml" Id="R295269586437425f" /><Relationship Type="http://schemas.openxmlformats.org/officeDocument/2006/relationships/notesMaster" Target="/ppt/notesMasters/notesMaster1.xml" Id="Rf5524cf3f87e4098" /></Relationships>
</file>

<file path=ppt/notesSlides/_rels/notesSlide9.xml.rels>&#65279;<?xml version="1.0" encoding="utf-8"?><Relationships xmlns="http://schemas.openxmlformats.org/package/2006/relationships"><Relationship Type="http://schemas.openxmlformats.org/officeDocument/2006/relationships/slide" Target="/ppt/slides/slide9.xml" Id="Rf13132f700c749ed" /><Relationship Type="http://schemas.openxmlformats.org/officeDocument/2006/relationships/notesMaster" Target="/ppt/notesMasters/notesMaster1.xml" Id="R6a83a62e1e774d1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8d0c92a561b420a" /><Relationship Type="http://schemas.openxmlformats.org/officeDocument/2006/relationships/notesMaster" Target="/ppt/notesMasters/notesMaster1.xml" Id="R5d1aed19c51f41d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0139827927742b9" /><Relationship Type="http://schemas.openxmlformats.org/officeDocument/2006/relationships/notesMaster" Target="/ppt/notesMasters/notesMaster1.xml" Id="R5837065b5ebb4c1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2b74729c8124032" /><Relationship Type="http://schemas.openxmlformats.org/officeDocument/2006/relationships/notesMaster" Target="/ppt/notesMasters/notesMaster1.xml" Id="R9e730ab3e5b1463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56c12271cfb4001" /><Relationship Type="http://schemas.openxmlformats.org/officeDocument/2006/relationships/notesMaster" Target="/ppt/notesMasters/notesMaster1.xml" Id="Ra50bec76e929434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59d8e5ff8e34e20" /><Relationship Type="http://schemas.openxmlformats.org/officeDocument/2006/relationships/notesMaster" Target="/ppt/notesMasters/notesMaster1.xml" Id="Rfbf3e890a25d4a1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6aad361cc734899" /><Relationship Type="http://schemas.openxmlformats.org/officeDocument/2006/relationships/notesMaster" Target="/ppt/notesMasters/notesMaster1.xml" Id="Rac1cffa5f2014be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ddce2390f5f479a" /><Relationship Type="http://schemas.openxmlformats.org/officeDocument/2006/relationships/notesMaster" Target="/ppt/notesMasters/notesMaster1.xml" Id="Rc6404ad649c4439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Lesson 4 of SRAI Book 1: Matrix Algebra and Linear Systems. In this lesson, we will learn how matrices organize connected quantities and how linear systems turn those relationships into solvable models. But our purpose is not simply to obtain a numerical answer. We also want to know whether that answer can be trusted. A computed solution may satisfy an equation and still fail as a basis for action if the model is poorly specified, numerically unstable, or disconnected from reality. Throughout the lesson, we will therefore combine mathematical operations with verification, diagnostics, interpretation, and professional judgment. By the end, you should be able to solve a linear system and explain clearly why the resulting solution is—or is not—defensible.</a:t>
            </a:r>
          </a:p>
          <a:p xmlns:a="http://schemas.openxmlformats.org/drawingml/2006/main">
            <a:r>
              <a:t/>
            </a:r>
          </a:p>
          <a:p xmlns:a="http://schemas.openxmlformats.org/drawingml/2006/main">
            <a:r>
              <a:t>[Sources]</a:t>
            </a:r>
          </a:p>
          <a:p xmlns:a="http://schemas.openxmlformats.org/drawingml/2006/main">
            <a:r>
              <a:t>- Approved PU-B01-C04 controlled lesson assets (production candidate v0.1.1).</a:t>
            </a:r>
          </a:p>
          <a:p xmlns:a="http://schemas.openxmlformats.org/drawingml/2006/main">
            <a:r>
              <a:t>- Visual system inherited from the verified PU-B01-C01 YouTube lesson deck v1.2.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linear-system result can look precise while hiding serious weaknesses. The dimensions may be incompatible, making an operation mathematically invalid. A weak pivot may amplify rounding errors during elimination. The system may contain redundant information, so its rank is lower than expected. Or the solution may be reported without checking the residual, leaving us uncertain whether it actually satisfies the equations. These are not minor technical details. Any one of them can undermine the conclusion. Reliable matrix work therefore begins before the calculation and continues after it. We must understand what the matrix represents, choose a stable computational method, and test the output before using it in a decision.</a:t>
            </a:r>
          </a:p>
          <a:p xmlns:a="http://schemas.openxmlformats.org/drawingml/2006/main">
            <a:r>
              <a:t/>
            </a:r>
          </a:p>
          <a:p xmlns:a="http://schemas.openxmlformats.org/drawingml/2006/main">
            <a:r>
              <a:t>[Sources]</a:t>
            </a:r>
          </a:p>
          <a:p xmlns:a="http://schemas.openxmlformats.org/drawingml/2006/main">
            <a:r>
              <a:t>- Approved PU-B01-C04 controlled lesson assets (production candidate v0.1.1).</a:t>
            </a:r>
          </a:p>
          <a:p xmlns:a="http://schemas.openxmlformats.org/drawingml/2006/main">
            <a:r>
              <a:t>- Visual system inherited from the verified PU-B01-C01 YouTube lesson deck v1.2.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matrix should be read as a structured representation, not merely as a rectangular collection of numbers. The rows must have a clear meaning. They may represent observations, equations, locations, or constraints. The columns must also have a clear meaning, such as variables, activities, or parameters. Dimensions tell us which operations are permitted. For example, two matrices can be added only when they have the same dimensions, and matrix multiplication requires the inner dimensions to agree. Finally, each operation must correspond to a meaningful transformation or combination. When rows, columns, dimensions, and operations are explicit, the algebra remains connected to the system we are trying to understand.</a:t>
            </a:r>
          </a:p>
          <a:p xmlns:a="http://schemas.openxmlformats.org/drawingml/2006/main">
            <a:r>
              <a:t/>
            </a:r>
          </a:p>
          <a:p xmlns:a="http://schemas.openxmlformats.org/drawingml/2006/main">
            <a:r>
              <a:t>[Sources]</a:t>
            </a:r>
          </a:p>
          <a:p xmlns:a="http://schemas.openxmlformats.org/drawingml/2006/main">
            <a:r>
              <a:t>- Approved PU-B01-C04 controlled lesson assets (production candidate v0.1.1).</a:t>
            </a:r>
          </a:p>
          <a:p xmlns:a="http://schemas.openxmlformats.org/drawingml/2006/main">
            <a:r>
              <a:t>- Visual system inherited from the verified PU-B01-C01 YouTube lesson deck v1.2.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Matrix multiplication is fundamentally different from multiplying corresponding entries. When we compute A times x, each component of the output is formed by combining one row of A with the weighted components of x. The columns of A identify how the input components contribute, while the row sums produce the transformed output. This is why matrix multiplication represents composition: it combines relationships in a defined order. That order matters. In general, A times B is not equal to B times A. The two products may have different meanings, different dimensions, or entirely different values. A useful habit is therefore to check dimensions first and then describe, in words, what the multiplication is doing.</a:t>
            </a:r>
          </a:p>
          <a:p xmlns:a="http://schemas.openxmlformats.org/drawingml/2006/main">
            <a:r>
              <a:t/>
            </a:r>
          </a:p>
          <a:p xmlns:a="http://schemas.openxmlformats.org/drawingml/2006/main">
            <a:r>
              <a:t>[Sources]</a:t>
            </a:r>
          </a:p>
          <a:p xmlns:a="http://schemas.openxmlformats.org/drawingml/2006/main">
            <a:r>
              <a:t>- Approved PU-B01-C04 controlled lesson assets (production candidate v0.1.1).</a:t>
            </a:r>
          </a:p>
          <a:p xmlns:a="http://schemas.openxmlformats.org/drawingml/2006/main">
            <a:r>
              <a:t>- Visual system inherited from the verified PU-B01-C01 YouTube lesson deck v1.2.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linear system is commonly written as A x equals b. The matrix A contains the coefficients that describe the relationships or constraints. The vector x contains the unknown quantities we want to determine. The vector b contains the observed totals, requirements, or outcomes that the system must reproduce. Solving the system means finding a vector x that makes these relationships hold. But a stable solve requires more than applying an algorithm. We also need to examine the rank of A, which tells us how much independent information the system contains, and the residual, which measures how closely the computed solution satisfies the equations. These elements together support a defensible interpretation.</a:t>
            </a:r>
          </a:p>
          <a:p xmlns:a="http://schemas.openxmlformats.org/drawingml/2006/main">
            <a:r>
              <a:t/>
            </a:r>
          </a:p>
          <a:p xmlns:a="http://schemas.openxmlformats.org/drawingml/2006/main">
            <a:r>
              <a:t>[Sources]</a:t>
            </a:r>
          </a:p>
          <a:p xmlns:a="http://schemas.openxmlformats.org/drawingml/2006/main">
            <a:r>
              <a:t>- Approved PU-B01-C04 controlled lesson assets (production candidate v0.1.1).</a:t>
            </a:r>
          </a:p>
          <a:p xmlns:a="http://schemas.openxmlformats.org/drawingml/2006/main">
            <a:r>
              <a:t>- Visual system inherited from the verified PU-B01-C01 YouTube lesson deck v1.2.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simple allocation system. Two x plus y equals one hundred, and x plus two y equals eighty. The unknowns x and y may represent two categories of resources, while the equations represent two linked constraints. In matrix form, A contains the coefficients two, one, one, and two; b contains one hundred and eighty. We solve the system using Gaussian elimination with partial pivoting. Partial pivoting compares available pivot values and swaps rows when necessary. This reduces avoidable numerical amplification when a pivot is zero or very small. It improves computational stability, although it cannot repair a model that is intrinsically ill-conditioned or conceptually wrong.</a:t>
            </a:r>
          </a:p>
          <a:p xmlns:a="http://schemas.openxmlformats.org/drawingml/2006/main">
            <a:r>
              <a:t/>
            </a:r>
          </a:p>
          <a:p xmlns:a="http://schemas.openxmlformats.org/drawingml/2006/main">
            <a:r>
              <a:t>[Sources]</a:t>
            </a:r>
          </a:p>
          <a:p xmlns:a="http://schemas.openxmlformats.org/drawingml/2006/main">
            <a:r>
              <a:t>- Approved PU-B01-C04 controlled lesson assets (production candidate v0.1.1).</a:t>
            </a:r>
          </a:p>
          <a:p xmlns:a="http://schemas.openxmlformats.org/drawingml/2006/main">
            <a:r>
              <a:t>- Visual system inherited from the verified PU-B01-C01 YouTube lesson deck v1.2.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elimination produces the candidate solution x equals forty and y equals twenty. We should not stop at those two numbers. We substitute them back into the original equations. Two times forty plus twenty equals one hundred, so the first constraint is satisfied. Forty plus two times twenty equals eighty, so the second constraint is also satisfied. The residual vector is b minus A times x. Here its norm is zero, apart from any negligible floating-point effect, which confirms that the computed vector satisfies the stated system. This is a strong verification result. It tells us that the equations were solved correctly; it does not yet prove that the equations themselves are the right representation of reality.</a:t>
            </a:r>
          </a:p>
          <a:p xmlns:a="http://schemas.openxmlformats.org/drawingml/2006/main">
            <a:r>
              <a:t/>
            </a:r>
          </a:p>
          <a:p xmlns:a="http://schemas.openxmlformats.org/drawingml/2006/main">
            <a:r>
              <a:t>[Sources]</a:t>
            </a:r>
          </a:p>
          <a:p xmlns:a="http://schemas.openxmlformats.org/drawingml/2006/main">
            <a:r>
              <a:t>- Approved PU-B01-C04 controlled lesson assets (production candidate v0.1.1).</a:t>
            </a:r>
          </a:p>
          <a:p xmlns:a="http://schemas.openxmlformats.org/drawingml/2006/main">
            <a:r>
              <a:t>- Visual system inherited from the verified PU-B01-C01 YouTube lesson deck v1.2.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verification can be made executable. We define the coefficient matrix A and the vector b, solve the system with the approved Gaussian-elimination function, and then use an assertion to compare A times x with b. The function allclose allows for the tiny rounding differences that can occur in floating-point arithmetic. If the two vectors agree within the specified numerical tolerance, the assertion passes. If they do not, execution stops and exposes the failure. This is more reliable than looking at printed output and deciding that it appears correct. An executable assertion preserves the expected mathematical relationship as a repeatable test that another person can run independently.</a:t>
            </a:r>
          </a:p>
          <a:p xmlns:a="http://schemas.openxmlformats.org/drawingml/2006/main">
            <a:r>
              <a:t/>
            </a:r>
          </a:p>
          <a:p xmlns:a="http://schemas.openxmlformats.org/drawingml/2006/main">
            <a:r>
              <a:t>[Sources]</a:t>
            </a:r>
          </a:p>
          <a:p xmlns:a="http://schemas.openxmlformats.org/drawingml/2006/main">
            <a:r>
              <a:t>- Approved PU-B01-C04 controlled lesson assets (production candidate v0.1.1).</a:t>
            </a:r>
          </a:p>
          <a:p xmlns:a="http://schemas.openxmlformats.org/drawingml/2006/main">
            <a:r>
              <a:t>- Visual system inherited from the verified PU-B01-C01 YouTube lesson deck v1.2.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small change in the input can sometimes produce a large change in the solution. To examine this risk, we replace b with a slightly perturbed vector b prime, solve the modified system, and compare the new solution x prime with the original solution x. The condition number of A helps us understand how strongly relative input errors may be amplified in the output. A modest condition number suggests that the solution is reasonably stable. A very large condition number warns that small measurement or rounding errors may substantially change the conclusion. Sensitivity testing is therefore a decision control. It shows whether the recommendation remains credible when the inputs vary within plausible limits.</a:t>
            </a:r>
          </a:p>
          <a:p xmlns:a="http://schemas.openxmlformats.org/drawingml/2006/main">
            <a:r>
              <a:t/>
            </a:r>
          </a:p>
          <a:p xmlns:a="http://schemas.openxmlformats.org/drawingml/2006/main">
            <a:r>
              <a:t>[Sources]</a:t>
            </a:r>
          </a:p>
          <a:p xmlns:a="http://schemas.openxmlformats.org/drawingml/2006/main">
            <a:r>
              <a:t>- Approved PU-B01-C04 controlled lesson assets (production candidate v0.1.1).</a:t>
            </a:r>
          </a:p>
          <a:p xmlns:a="http://schemas.openxmlformats.org/drawingml/2006/main">
            <a:r>
              <a:t>- Visual system inherited from the verified PU-B01-C01 YouTube lesson deck v1.2.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Verification and validation answer two different questions. Verification asks whether we solved the equations correctly. We check the mathematics, the implementation, the tests, and the residual. Validation asks whether these are the right equations for the real decision. That requires evidence about the variables, coefficients, assumptions, units, constraints, and intended use. A program may solve A x equals b perfectly while the model omits an important constraint or uses inappropriate data. Conversely, a well-conceived model can still fail through incorrect code. Trust requires both verification and validation. Neither one can substitute for the other.</a:t>
            </a:r>
          </a:p>
          <a:p xmlns:a="http://schemas.openxmlformats.org/drawingml/2006/main">
            <a:r>
              <a:t/>
            </a:r>
          </a:p>
          <a:p xmlns:a="http://schemas.openxmlformats.org/drawingml/2006/main">
            <a:r>
              <a:t>[Sources]</a:t>
            </a:r>
          </a:p>
          <a:p xmlns:a="http://schemas.openxmlformats.org/drawingml/2006/main">
            <a:r>
              <a:t>- Approved PU-B01-C04 controlled lesson assets (production candidate v0.1.1).</a:t>
            </a:r>
          </a:p>
          <a:p xmlns:a="http://schemas.openxmlformats.org/drawingml/2006/main">
            <a:r>
              <a:t>- Visual system inherited from the verified PU-B01-C01 YouTube lesson deck v1.2.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Matrix algebra supports a large part of modern statistics and artificial intelligence. Regression uses matrices to represent observations and predictors. Covariance matrices describe joint variation among variables. Principal component analysis uses eigenvectors and eigenvalues to identify dominant directions of variation. Neural networks rely on repeated matrix transformations. Embeddings represent objects as vectors, and attention mechanisms compare and combine those representations. Networks and flow models also use matrix structures to encode connections and constraints. The applications differ, but the underlying discipline remains the same: define dimensions, preserve meaning, compute with stable methods, and verify the resulting behavior.</a:t>
            </a:r>
          </a:p>
          <a:p xmlns:a="http://schemas.openxmlformats.org/drawingml/2006/main">
            <a:r>
              <a:t/>
            </a:r>
          </a:p>
          <a:p xmlns:a="http://schemas.openxmlformats.org/drawingml/2006/main">
            <a:r>
              <a:t>[Sources]</a:t>
            </a:r>
          </a:p>
          <a:p xmlns:a="http://schemas.openxmlformats.org/drawingml/2006/main">
            <a:r>
              <a:t>- Approved PU-B01-C04 controlled lesson assets (production candidate v0.1.1).</a:t>
            </a:r>
          </a:p>
          <a:p xmlns:a="http://schemas.openxmlformats.org/drawingml/2006/main">
            <a:r>
              <a:t>- Visual system inherited from the verified PU-B01-C01 YouTube lesson deck v1.2.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acting on a linear-system result, we can ask four structural questions. First, what do the rows and columns represent? If that cannot be explained clearly, the model is not ready for use. Second, do all dimensions conform? This protects us from invalid operations and accidental reshaping. Third, is the system full rank, or does it contain redundant or insufficient information? Rank affects uniqueness and identifiability. Fourth, was a numerically stable solution method used? Explicitly computing a matrix inverse is usually less reliable than using factorization or elimination designed for solving systems. These questions provide a compact pre-decision check of the model and its implementation.</a:t>
            </a:r>
          </a:p>
          <a:p xmlns:a="http://schemas.openxmlformats.org/drawingml/2006/main">
            <a:r>
              <a:t/>
            </a:r>
          </a:p>
          <a:p xmlns:a="http://schemas.openxmlformats.org/drawingml/2006/main">
            <a:r>
              <a:t>[Sources]</a:t>
            </a:r>
          </a:p>
          <a:p xmlns:a="http://schemas.openxmlformats.org/drawingml/2006/main">
            <a:r>
              <a:t>- Approved PU-B01-C04 controlled lesson assets (production candidate v0.1.1).</a:t>
            </a:r>
          </a:p>
          <a:p xmlns:a="http://schemas.openxmlformats.org/drawingml/2006/main">
            <a:r>
              <a:t>- Visual system inherited from the verified PU-B01-C01 YouTube lesson deck v1.2.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further questions complete the control sequence. Is the residual acceptably small? A large residual indicates that the computed solution does not fit the stated equations closely enough. Is the conclusion stable to plausible perturbations? If small input changes reverse the recommendation, uncertainty must be reported and managed. Finally, what are the consequences of being wrong? The acceptable level of numerical and model risk depends on the decision. An error in a classroom example is not equivalent to an error in resource allocation, engineering, medicine, or public policy. Decision quality therefore combines structure, stability, evidence, judgment, and accountability.</a:t>
            </a:r>
          </a:p>
          <a:p xmlns:a="http://schemas.openxmlformats.org/drawingml/2006/main">
            <a:r>
              <a:t/>
            </a:r>
          </a:p>
          <a:p xmlns:a="http://schemas.openxmlformats.org/drawingml/2006/main">
            <a:r>
              <a:t>[Sources]</a:t>
            </a:r>
          </a:p>
          <a:p xmlns:a="http://schemas.openxmlformats.org/drawingml/2006/main">
            <a:r>
              <a:t>- Approved PU-B01-C04 controlled lesson assets (production candidate v0.1.1).</a:t>
            </a:r>
          </a:p>
          <a:p xmlns:a="http://schemas.openxmlformats.org/drawingml/2006/main">
            <a:r>
              <a:t>- Visual system inherited from the verified PU-B01-C01 YouTube lesson deck v1.2.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practical work for this lesson progresses through four levels. At Level A, you check dimensions and perform matrix addition, transposition, and multiplication correctly. At Level B, you solve linear systems using Gaussian elimination with partial pivoting. At Level C, you diagnose rank, residuals, and conditioning rather than reporting a solution alone. The capstone exercise brings these skills together in a resource-allocation problem. You must compute a recommendation, verify it, examine its sensitivity, and defend its meaning. The controlled notebook provides executable examples, while the exercises and solutions allow you to practise each step independently and compare your reasoning with a complete reference solution.</a:t>
            </a:r>
          </a:p>
          <a:p xmlns:a="http://schemas.openxmlformats.org/drawingml/2006/main">
            <a:r>
              <a:t/>
            </a:r>
          </a:p>
          <a:p xmlns:a="http://schemas.openxmlformats.org/drawingml/2006/main">
            <a:r>
              <a:t>[Sources]</a:t>
            </a:r>
          </a:p>
          <a:p xmlns:a="http://schemas.openxmlformats.org/drawingml/2006/main">
            <a:r>
              <a:t>- Approved PU-B01-C04 controlled lesson assets (production candidate v0.1.1).</a:t>
            </a:r>
          </a:p>
          <a:p xmlns:a="http://schemas.openxmlformats.org/drawingml/2006/main">
            <a:r>
              <a:t>- Visual system inherited from the verified PU-B01-C01 YouTube lesson deck v1.2.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key message is that a defensible solution depends on the whole linear-system chain. Dimensions protect mathematical validity. The equations and operations provide the mathematics. The implementation turns that mathematics into an executable procedure. Residuals test how well the solution satisfies the equations. Conditioning reveals fragility. Consequences determine how much uncertainty and error can be tolerated. None of these elements is sufficient by itself. A trustworthy result emerges only when they remain visible and coherent together. This is the standard we should carry into statistical models, artificial-intelligence systems, and any professional decision supported by computation.</a:t>
            </a:r>
          </a:p>
          <a:p xmlns:a="http://schemas.openxmlformats.org/drawingml/2006/main">
            <a:r>
              <a:t/>
            </a:r>
          </a:p>
          <a:p xmlns:a="http://schemas.openxmlformats.org/drawingml/2006/main">
            <a:r>
              <a:t>[Sources]</a:t>
            </a:r>
          </a:p>
          <a:p xmlns:a="http://schemas.openxmlformats.org/drawingml/2006/main">
            <a:r>
              <a:t>- Approved PU-B01-C04 controlled lesson assets (production candidate v0.1.1).</a:t>
            </a:r>
          </a:p>
          <a:p xmlns:a="http://schemas.openxmlformats.org/drawingml/2006/main">
            <a:r>
              <a:t>- Visual system inherited from the verified PU-B01-C01 YouTube lesson deck v1.2.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computed solution is not enough. We need a result that can be interpreted, tested, and defended. In this lesson, we moved from the meaning of rows, columns, and dimensions to matrix multiplication, linear systems, partial pivoting, residual verification, and sensitivity analysis. We also separated correct implementation from valid modelling and connected these controls to statistics and artificial intelligence. The next time you encounter A x equals b, do not ask only whether the system can be solved. Ask what it represents, whether the computation is stable, how the solution was verified, and whether the conclusion remains credible for the real decision. That is how matrix algebra becomes part of responsible analytical practice.</a:t>
            </a:r>
          </a:p>
          <a:p xmlns:a="http://schemas.openxmlformats.org/drawingml/2006/main">
            <a:r>
              <a:t/>
            </a:r>
          </a:p>
          <a:p xmlns:a="http://schemas.openxmlformats.org/drawingml/2006/main">
            <a:r>
              <a:t>[Sources]</a:t>
            </a:r>
          </a:p>
          <a:p xmlns:a="http://schemas.openxmlformats.org/drawingml/2006/main">
            <a:r>
              <a:t>- Approved PU-B01-C04 controlled lesson assets (production candidate v0.1.1).</a:t>
            </a:r>
          </a:p>
          <a:p xmlns:a="http://schemas.openxmlformats.org/drawingml/2006/main">
            <a:r>
              <a:t>- Visual system inherited from the verified PU-B01-C01 YouTube lesson deck v1.2.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9a6869605434a1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29f58d397a441d7" /><Relationship Type="http://schemas.openxmlformats.org/officeDocument/2006/relationships/slideLayout" Target="/ppt/slideLayouts/slideLayout1.xml" Id="Ra9d55a6dcea3482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9d55a6dcea3482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c4967040cdf4cf3" /><Relationship Type="http://schemas.openxmlformats.org/officeDocument/2006/relationships/notesSlide" Target="/ppt/notesSlides/notesSlide1.xml" Id="R7c089389ba99477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a3153b0bf8741f9" /><Relationship Type="http://schemas.openxmlformats.org/officeDocument/2006/relationships/notesSlide" Target="/ppt/notesSlides/notesSlide2.xml" Id="R80e3e80784734a4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23782b279d24b99" /><Relationship Type="http://schemas.openxmlformats.org/officeDocument/2006/relationships/notesSlide" Target="/ppt/notesSlides/notesSlide3.xml" Id="Rdc7102b8326544a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3460fd7f38f4937" /><Relationship Type="http://schemas.openxmlformats.org/officeDocument/2006/relationships/notesSlide" Target="/ppt/notesSlides/notesSlide4.xml" Id="R0c3ef104f6d94cb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78aa26a07544698" /><Relationship Type="http://schemas.openxmlformats.org/officeDocument/2006/relationships/notesSlide" Target="/ppt/notesSlides/notesSlide5.xml" Id="R13652439f6ca4d6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41160c1429640f1" /><Relationship Type="http://schemas.openxmlformats.org/officeDocument/2006/relationships/notesSlide" Target="/ppt/notesSlides/notesSlide6.xml" Id="R3243dfc430c14ca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7baf67bd3614fed" /><Relationship Type="http://schemas.openxmlformats.org/officeDocument/2006/relationships/notesSlide" Target="/ppt/notesSlides/notesSlide7.xml" Id="Rcb1ce605bda0461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4f301b62e2c48e9" /><Relationship Type="http://schemas.openxmlformats.org/officeDocument/2006/relationships/notesSlide" Target="/ppt/notesSlides/notesSlide8.xml" Id="R11ed655e1aa44a9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d8ef86adc1548e0" /><Relationship Type="http://schemas.openxmlformats.org/officeDocument/2006/relationships/notesSlide" Target="/ppt/notesSlides/notesSlide9.xml" Id="R8aafe1ca9e334e0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5bf1a1b440b45a2" /><Relationship Type="http://schemas.openxmlformats.org/officeDocument/2006/relationships/notesSlide" Target="/ppt/notesSlides/notesSlide10.xml" Id="R2be3545d0ba74b6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cc83a91ac874f3b" /><Relationship Type="http://schemas.openxmlformats.org/officeDocument/2006/relationships/notesSlide" Target="/ppt/notesSlides/notesSlide11.xml" Id="Ra83c19e155cd455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d39c80fe12e43c3" /><Relationship Type="http://schemas.openxmlformats.org/officeDocument/2006/relationships/notesSlide" Target="/ppt/notesSlides/notesSlide12.xml" Id="Re1a4149aabf74e0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bc934455f994be5" /><Relationship Type="http://schemas.openxmlformats.org/officeDocument/2006/relationships/notesSlide" Target="/ppt/notesSlides/notesSlide13.xml" Id="Re52c884f4118451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87edc3c030e46f5" /><Relationship Type="http://schemas.openxmlformats.org/officeDocument/2006/relationships/notesSlide" Target="/ppt/notesSlides/notesSlide14.xml" Id="R66aad1db94f940a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36a26155abc4585" /><Relationship Type="http://schemas.openxmlformats.org/officeDocument/2006/relationships/notesSlide" Target="/ppt/notesSlides/notesSlide15.xml" Id="R16c3d4e01c294ce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b88993879f3451e" /><Relationship Type="http://schemas.openxmlformats.org/officeDocument/2006/relationships/notesSlide" Target="/ppt/notesSlides/notesSlide16.xml" Id="R0034e3b1a7bd43b4" /></Relationships>
</file>

<file path=ppt/slides/slide1.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DB2CD0A-9BDF-4EEB-8C53-1388634535B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E161281-FD7C-4251-8EA2-F28AE99CB4EF}"/>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C513DE0F-2CF8-4EA2-B636-F33513DA13F6}"/>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LESSON 4 · MATRIX ALGEBRA</a:t>
            </a:r>
          </a:p>
        </p:txBody>
      </p:sp>
      <p:sp>
        <p:nvSpPr>
          <p:cNvPr id="4" name="">
            <a:extLst xmlns:a="http://schemas.openxmlformats.org/drawingml/2006/main">
              <a:ext uri="{FF2B5EF4-FFF2-40B4-BE49-F238E27FC236}">
                <a16:creationId xmlns:a16="http://schemas.microsoft.com/office/drawing/2014/main" id="{1F110731-C256-46CB-BCAC-4EF7F0A834D2}"/>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01</a:t>
            </a:r>
          </a:p>
        </p:txBody>
      </p:sp>
      <p:sp>
        <p:nvSpPr>
          <p:cNvPr id="5" name="">
            <a:extLst xmlns:a="http://schemas.openxmlformats.org/drawingml/2006/main">
              <a:ext uri="{FF2B5EF4-FFF2-40B4-BE49-F238E27FC236}">
                <a16:creationId xmlns:a16="http://schemas.microsoft.com/office/drawing/2014/main" id="{055843E4-CC33-42CD-B5F2-BC4801513B48}"/>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45171D1C-94C3-4AD7-841A-C402D13177D9}"/>
              </a:ext>
            </a:extLst>
          </p:cNvPr>
          <p:cNvSpPr>
            <a:spLocks xmlns:a="http://schemas.openxmlformats.org/drawingml/2006/main" noGrp="1"/>
          </p:cNvSpPr>
          <p:nvPr/>
        </p:nvSpPr>
        <p:spPr>
          <a:xfrm xmlns:a="http://schemas.openxmlformats.org/drawingml/2006/main">
            <a:off x="552450" y="1123950"/>
            <a:ext cx="723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4050" b="1">
                <a:solidFill>
                  <a:srgbClr val="F7F2E8"/>
                </a:solidFill>
              </a:defRPr>
            </a:pPr>
            <a:r>
              <a:rPr sz="4050" b="1">
                <a:solidFill>
                  <a:srgbClr val="F7F2E8"/>
                </a:solidFill>
              </a:rPr>
              <a:t>CAN YOU TRUST</a:t>
            </a:r>
          </a:p>
        </p:txBody>
      </p:sp>
      <p:sp>
        <p:nvSpPr>
          <p:cNvPr id="7" name="">
            <a:extLst xmlns:a="http://schemas.openxmlformats.org/drawingml/2006/main">
              <a:ext uri="{FF2B5EF4-FFF2-40B4-BE49-F238E27FC236}">
                <a16:creationId xmlns:a16="http://schemas.microsoft.com/office/drawing/2014/main" id="{8B180C9B-40BA-4C80-B55B-1F3B06A93824}"/>
              </a:ext>
            </a:extLst>
          </p:cNvPr>
          <p:cNvSpPr>
            <a:spLocks xmlns:a="http://schemas.openxmlformats.org/drawingml/2006/main" noGrp="1"/>
          </p:cNvSpPr>
          <p:nvPr/>
        </p:nvSpPr>
        <p:spPr>
          <a:xfrm xmlns:a="http://schemas.openxmlformats.org/drawingml/2006/main">
            <a:off x="552450" y="1828800"/>
            <a:ext cx="723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4050" b="1">
                <a:solidFill>
                  <a:srgbClr val="D9A441"/>
                </a:solidFill>
              </a:defRPr>
            </a:pPr>
            <a:r>
              <a:rPr sz="4050" b="1">
                <a:solidFill>
                  <a:srgbClr val="D9A441"/>
                </a:solidFill>
              </a:rPr>
              <a:t>THE SOLUTION?</a:t>
            </a:r>
          </a:p>
        </p:txBody>
      </p:sp>
      <p:sp>
        <p:nvSpPr>
          <p:cNvPr id="8" name="">
            <a:extLst xmlns:a="http://schemas.openxmlformats.org/drawingml/2006/main">
              <a:ext uri="{FF2B5EF4-FFF2-40B4-BE49-F238E27FC236}">
                <a16:creationId xmlns:a16="http://schemas.microsoft.com/office/drawing/2014/main" id="{178C9D59-66B9-4757-BA3F-0CB5AF620428}"/>
              </a:ext>
            </a:extLst>
          </p:cNvPr>
          <p:cNvSpPr>
            <a:spLocks xmlns:a="http://schemas.openxmlformats.org/drawingml/2006/main" noGrp="1"/>
          </p:cNvSpPr>
          <p:nvPr/>
        </p:nvSpPr>
        <p:spPr>
          <a:xfrm xmlns:a="http://schemas.openxmlformats.org/drawingml/2006/main">
            <a:off x="581025" y="2781300"/>
            <a:ext cx="685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a:solidFill>
                  <a:srgbClr val="79D7CC"/>
                </a:solidFill>
              </a:defRPr>
            </a:pPr>
            <a:r>
              <a:rPr sz="1875" b="1">
                <a:solidFill>
                  <a:srgbClr val="79D7CC"/>
                </a:solidFill>
              </a:rPr>
              <a:t>Matrix Algebra and Linear Systems</a:t>
            </a:r>
          </a:p>
        </p:txBody>
      </p:sp>
      <p:sp>
        <p:nvSpPr>
          <p:cNvPr id="9" name="">
            <a:extLst xmlns:a="http://schemas.openxmlformats.org/drawingml/2006/main">
              <a:ext uri="{FF2B5EF4-FFF2-40B4-BE49-F238E27FC236}">
                <a16:creationId xmlns:a16="http://schemas.microsoft.com/office/drawing/2014/main" id="{1E84DCEE-3421-4DF9-AB58-C0ABA6E31084}"/>
              </a:ext>
            </a:extLst>
          </p:cNvPr>
          <p:cNvSpPr>
            <a:spLocks xmlns:a="http://schemas.openxmlformats.org/drawingml/2006/main" noGrp="1"/>
          </p:cNvSpPr>
          <p:nvPr/>
        </p:nvSpPr>
        <p:spPr>
          <a:xfrm xmlns:a="http://schemas.openxmlformats.org/drawingml/2006/main">
            <a:off x="8153400" y="1047750"/>
            <a:ext cx="2952750" cy="3352800"/>
          </a:xfrm>
          <a:prstGeom xmlns:a="http://schemas.openxmlformats.org/drawingml/2006/main" prst="roundRect">
            <a:avLst>
              <a:gd name="adj" fmla="val 2581"/>
            </a:avLst>
          </a:prstGeom>
          <a:solidFill xmlns:a="http://schemas.openxmlformats.org/drawingml/2006/main">
            <a:srgbClr val="0D2A43"/>
          </a:solidFill>
          <a:ln xmlns:a="http://schemas.openxmlformats.org/drawingml/2006/main" w="9525">
            <a:solidFill>
              <a:srgbClr val="22B8A7"/>
            </a:solidFill>
            <a:prstDash val="solid"/>
          </a:ln>
        </p:spPr>
      </p:sp>
      <p:sp>
        <p:nvSpPr>
          <p:cNvPr id="10" name="">
            <a:extLst xmlns:a="http://schemas.openxmlformats.org/drawingml/2006/main">
              <a:ext uri="{FF2B5EF4-FFF2-40B4-BE49-F238E27FC236}">
                <a16:creationId xmlns:a16="http://schemas.microsoft.com/office/drawing/2014/main" id="{6A1300A8-E439-47DC-A3FB-321F249B8F95}"/>
              </a:ext>
            </a:extLst>
          </p:cNvPr>
          <p:cNvSpPr>
            <a:spLocks xmlns:a="http://schemas.openxmlformats.org/drawingml/2006/main" noGrp="1"/>
          </p:cNvSpPr>
          <p:nvPr/>
        </p:nvSpPr>
        <p:spPr>
          <a:xfrm xmlns:a="http://schemas.openxmlformats.org/drawingml/2006/main">
            <a:off x="8448675" y="1381125"/>
            <a:ext cx="23622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5400" b="1">
                <a:solidFill>
                  <a:srgbClr val="D9A441"/>
                </a:solidFill>
              </a:defRPr>
            </a:pPr>
            <a:r>
              <a:rPr sz="5400" b="1">
                <a:solidFill>
                  <a:srgbClr val="D9A441"/>
                </a:solidFill>
              </a:rPr>
              <a:t>Ax=b</a:t>
            </a:r>
          </a:p>
        </p:txBody>
      </p:sp>
      <p:sp>
        <p:nvSpPr>
          <p:cNvPr id="11" name="">
            <a:extLst xmlns:a="http://schemas.openxmlformats.org/drawingml/2006/main">
              <a:ext uri="{FF2B5EF4-FFF2-40B4-BE49-F238E27FC236}">
                <a16:creationId xmlns:a16="http://schemas.microsoft.com/office/drawing/2014/main" id="{B8C091A0-6F2E-4AE7-AD7B-9DD5FE4FF8B6}"/>
              </a:ext>
            </a:extLst>
          </p:cNvPr>
          <p:cNvSpPr>
            <a:spLocks xmlns:a="http://schemas.openxmlformats.org/drawingml/2006/main" noGrp="1"/>
          </p:cNvSpPr>
          <p:nvPr/>
        </p:nvSpPr>
        <p:spPr>
          <a:xfrm xmlns:a="http://schemas.openxmlformats.org/drawingml/2006/main">
            <a:off x="8448675" y="2333625"/>
            <a:ext cx="2362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linked constraints</a:t>
            </a:r>
          </a:p>
        </p:txBody>
      </p:sp>
      <p:sp>
        <p:nvSpPr>
          <p:cNvPr id="12" name="">
            <a:extLst xmlns:a="http://schemas.openxmlformats.org/drawingml/2006/main">
              <a:ext uri="{FF2B5EF4-FFF2-40B4-BE49-F238E27FC236}">
                <a16:creationId xmlns:a16="http://schemas.microsoft.com/office/drawing/2014/main" id="{C865A9E9-EFDF-4CC3-84A9-958D12C43414}"/>
              </a:ext>
            </a:extLst>
          </p:cNvPr>
          <p:cNvSpPr>
            <a:spLocks xmlns:a="http://schemas.openxmlformats.org/drawingml/2006/main" noGrp="1"/>
          </p:cNvSpPr>
          <p:nvPr/>
        </p:nvSpPr>
        <p:spPr>
          <a:xfrm xmlns:a="http://schemas.openxmlformats.org/drawingml/2006/main">
            <a:off x="8639175" y="3067050"/>
            <a:ext cx="2028825" cy="0"/>
          </a:xfrm>
          <a:prstGeom xmlns:a="http://schemas.openxmlformats.org/drawingml/2006/main" prst="line">
            <a:avLst/>
          </a:prstGeom>
          <a:noFill xmlns:a="http://schemas.openxmlformats.org/drawingml/2006/main"/>
          <a:ln xmlns:a="http://schemas.openxmlformats.org/drawingml/2006/main" w="19050">
            <a:solidFill>
              <a:srgbClr val="AFC1CE"/>
            </a:solidFill>
            <a:prstDash val="solid"/>
          </a:ln>
        </p:spPr>
      </p:sp>
      <p:sp>
        <p:nvSpPr>
          <p:cNvPr id="13" name="">
            <a:extLst xmlns:a="http://schemas.openxmlformats.org/drawingml/2006/main">
              <a:ext uri="{FF2B5EF4-FFF2-40B4-BE49-F238E27FC236}">
                <a16:creationId xmlns:a16="http://schemas.microsoft.com/office/drawing/2014/main" id="{435F9B03-9C85-4ADD-8A27-BCFD86BD6EE4}"/>
              </a:ext>
            </a:extLst>
          </p:cNvPr>
          <p:cNvSpPr>
            <a:spLocks xmlns:a="http://schemas.openxmlformats.org/drawingml/2006/main" noGrp="1"/>
          </p:cNvSpPr>
          <p:nvPr/>
        </p:nvSpPr>
        <p:spPr>
          <a:xfrm xmlns:a="http://schemas.openxmlformats.org/drawingml/2006/main">
            <a:off x="8448675" y="3238500"/>
            <a:ext cx="2362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AFC1CE"/>
                </a:solidFill>
              </a:defRPr>
            </a:pPr>
            <a:r>
              <a:rPr sz="1350" b="0">
                <a:solidFill>
                  <a:srgbClr val="AFC1CE"/>
                </a:solidFill>
              </a:rPr>
              <a:t>Computed answer</a:t>
            </a:r>
          </a:p>
        </p:txBody>
      </p:sp>
      <p:sp>
        <p:nvSpPr>
          <p:cNvPr id="14" name="">
            <a:extLst xmlns:a="http://schemas.openxmlformats.org/drawingml/2006/main">
              <a:ext uri="{FF2B5EF4-FFF2-40B4-BE49-F238E27FC236}">
                <a16:creationId xmlns:a16="http://schemas.microsoft.com/office/drawing/2014/main" id="{1190BA45-3C53-4E54-B884-0EEC962D643B}"/>
              </a:ext>
            </a:extLst>
          </p:cNvPr>
          <p:cNvSpPr>
            <a:spLocks xmlns:a="http://schemas.openxmlformats.org/drawingml/2006/main" noGrp="1"/>
          </p:cNvSpPr>
          <p:nvPr/>
        </p:nvSpPr>
        <p:spPr>
          <a:xfrm xmlns:a="http://schemas.openxmlformats.org/drawingml/2006/main">
            <a:off x="8448675" y="3619500"/>
            <a:ext cx="2362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F07A73"/>
                </a:solidFill>
              </a:defRPr>
            </a:pPr>
            <a:r>
              <a:rPr sz="2250" b="1">
                <a:solidFill>
                  <a:srgbClr val="F07A73"/>
                </a:solidFill>
              </a:rPr>
              <a:t>≠</a:t>
            </a:r>
          </a:p>
        </p:txBody>
      </p:sp>
      <p:sp>
        <p:nvSpPr>
          <p:cNvPr id="15" name="">
            <a:extLst xmlns:a="http://schemas.openxmlformats.org/drawingml/2006/main">
              <a:ext uri="{FF2B5EF4-FFF2-40B4-BE49-F238E27FC236}">
                <a16:creationId xmlns:a16="http://schemas.microsoft.com/office/drawing/2014/main" id="{C0634110-C2C7-415A-A481-BADA2BA423BB}"/>
              </a:ext>
            </a:extLst>
          </p:cNvPr>
          <p:cNvSpPr>
            <a:spLocks xmlns:a="http://schemas.openxmlformats.org/drawingml/2006/main" noGrp="1"/>
          </p:cNvSpPr>
          <p:nvPr/>
        </p:nvSpPr>
        <p:spPr>
          <a:xfrm xmlns:a="http://schemas.openxmlformats.org/drawingml/2006/main">
            <a:off x="8448675" y="4048125"/>
            <a:ext cx="2362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F7F2E8"/>
                </a:solidFill>
              </a:defRPr>
            </a:pPr>
            <a:r>
              <a:rPr sz="1350" b="1">
                <a:solidFill>
                  <a:srgbClr val="F7F2E8"/>
                </a:solidFill>
              </a:rPr>
              <a:t>Defensible model</a:t>
            </a:r>
          </a:p>
        </p:txBody>
      </p:sp>
      <p:sp>
        <p:nvSpPr>
          <p:cNvPr id="16" name="">
            <a:extLst xmlns:a="http://schemas.openxmlformats.org/drawingml/2006/main">
              <a:ext uri="{FF2B5EF4-FFF2-40B4-BE49-F238E27FC236}">
                <a16:creationId xmlns:a16="http://schemas.microsoft.com/office/drawing/2014/main" id="{97A241DA-D264-4D75-B084-48339A3AA966}"/>
              </a:ext>
            </a:extLst>
          </p:cNvPr>
          <p:cNvSpPr>
            <a:spLocks xmlns:a="http://schemas.openxmlformats.org/drawingml/2006/main" noGrp="1"/>
          </p:cNvSpPr>
          <p:nvPr/>
        </p:nvSpPr>
        <p:spPr>
          <a:xfrm xmlns:a="http://schemas.openxmlformats.org/drawingml/2006/main">
            <a:off x="581025" y="5953125"/>
            <a:ext cx="571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0">
                <a:solidFill>
                  <a:srgbClr val="AFC1CE"/>
                </a:solidFill>
              </a:defRPr>
            </a:pPr>
            <a:r>
              <a:rPr sz="1275" b="0">
                <a:solidFill>
                  <a:srgbClr val="AFC1CE"/>
                </a:solidFill>
              </a:rPr>
              <a:t>PU-B01-C04  •  Mbaye Kebe</a:t>
            </a:r>
          </a:p>
        </p:txBody>
      </p:sp>
    </p:spTree>
    <p:extLst>
      <p:ext uri="{BB962C8B-B14F-4D97-AF65-F5344CB8AC3E}">
        <p14:creationId xmlns:p14="http://schemas.microsoft.com/office/powerpoint/2010/main" val="461721385"/>
      </p:ext>
    </p:extLst>
  </p:cSld>
</p:sld>
</file>

<file path=ppt/slides/slide2.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6EBA481-20AF-4B01-8AAD-43FCA7A1CFDC}"/>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1ADE4AD-3D5C-4081-81A5-DB6D918B4554}"/>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6A69237D-6A02-4BDC-B41F-011D24508654}"/>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OPENING PROBLEM</a:t>
            </a:r>
          </a:p>
        </p:txBody>
      </p:sp>
      <p:sp>
        <p:nvSpPr>
          <p:cNvPr id="4" name="">
            <a:extLst xmlns:a="http://schemas.openxmlformats.org/drawingml/2006/main">
              <a:ext uri="{FF2B5EF4-FFF2-40B4-BE49-F238E27FC236}">
                <a16:creationId xmlns:a16="http://schemas.microsoft.com/office/drawing/2014/main" id="{3ADE149B-DA04-4107-9499-7EB9FA99AC02}"/>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02</a:t>
            </a:r>
          </a:p>
        </p:txBody>
      </p:sp>
      <p:sp>
        <p:nvSpPr>
          <p:cNvPr id="5" name="">
            <a:extLst xmlns:a="http://schemas.openxmlformats.org/drawingml/2006/main">
              <a:ext uri="{FF2B5EF4-FFF2-40B4-BE49-F238E27FC236}">
                <a16:creationId xmlns:a16="http://schemas.microsoft.com/office/drawing/2014/main" id="{724FDECE-BAAA-4C54-B6DE-54F675CF0AFA}"/>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D6DCC9CA-5200-41C3-8CB6-5ACF210ABD03}"/>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A solution can be precise—and still be unsafe.</a:t>
            </a:r>
          </a:p>
        </p:txBody>
      </p:sp>
      <p:sp>
        <p:nvSpPr>
          <p:cNvPr id="7" name="">
            <a:extLst xmlns:a="http://schemas.openxmlformats.org/drawingml/2006/main">
              <a:ext uri="{FF2B5EF4-FFF2-40B4-BE49-F238E27FC236}">
                <a16:creationId xmlns:a16="http://schemas.microsoft.com/office/drawing/2014/main" id="{4A53E64E-8969-427E-869A-FE0F213B3706}"/>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Linear algebra becomes defensible only when structure, stability and meaning are checked.</a:t>
            </a:r>
          </a:p>
        </p:txBody>
      </p:sp>
      <p:sp>
        <p:nvSpPr>
          <p:cNvPr id="8" name="">
            <a:extLst xmlns:a="http://schemas.openxmlformats.org/drawingml/2006/main">
              <a:ext uri="{FF2B5EF4-FFF2-40B4-BE49-F238E27FC236}">
                <a16:creationId xmlns:a16="http://schemas.microsoft.com/office/drawing/2014/main" id="{1CFCEF6C-D784-4368-98FA-F9913993522E}"/>
              </a:ext>
            </a:extLst>
          </p:cNvPr>
          <p:cNvSpPr>
            <a:spLocks xmlns:a="http://schemas.openxmlformats.org/drawingml/2006/main" noGrp="1"/>
          </p:cNvSpPr>
          <p:nvPr/>
        </p:nvSpPr>
        <p:spPr>
          <a:xfrm xmlns:a="http://schemas.openxmlformats.org/drawingml/2006/main">
            <a:off x="552450" y="2266950"/>
            <a:ext cx="5238750" cy="1200150"/>
          </a:xfrm>
          <a:prstGeom xmlns:a="http://schemas.openxmlformats.org/drawingml/2006/main" prst="roundRect">
            <a:avLst>
              <a:gd name="adj" fmla="val 6349"/>
            </a:avLst>
          </a:prstGeom>
          <a:solidFill xmlns:a="http://schemas.openxmlformats.org/drawingml/2006/main">
            <a:srgbClr val="0D2A43"/>
          </a:solidFill>
          <a:ln xmlns:a="http://schemas.openxmlformats.org/drawingml/2006/main" w="9525">
            <a:solidFill>
              <a:srgbClr val="22B8A7"/>
            </a:solidFill>
            <a:prstDash val="solid"/>
          </a:ln>
        </p:spPr>
      </p:sp>
      <p:sp>
        <p:nvSpPr>
          <p:cNvPr id="9" name="">
            <a:extLst xmlns:a="http://schemas.openxmlformats.org/drawingml/2006/main">
              <a:ext uri="{FF2B5EF4-FFF2-40B4-BE49-F238E27FC236}">
                <a16:creationId xmlns:a16="http://schemas.microsoft.com/office/drawing/2014/main" id="{5C70E09F-E6DE-42DA-9480-F26561C1DF24}"/>
              </a:ext>
            </a:extLst>
          </p:cNvPr>
          <p:cNvSpPr>
            <a:spLocks xmlns:a="http://schemas.openxmlformats.org/drawingml/2006/main" noGrp="1"/>
          </p:cNvSpPr>
          <p:nvPr/>
        </p:nvSpPr>
        <p:spPr>
          <a:xfrm xmlns:a="http://schemas.openxmlformats.org/drawingml/2006/main">
            <a:off x="781050" y="24193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SHAPE IGNORED</a:t>
            </a:r>
          </a:p>
        </p:txBody>
      </p:sp>
      <p:sp>
        <p:nvSpPr>
          <p:cNvPr id="10" name="">
            <a:extLst xmlns:a="http://schemas.openxmlformats.org/drawingml/2006/main">
              <a:ext uri="{FF2B5EF4-FFF2-40B4-BE49-F238E27FC236}">
                <a16:creationId xmlns:a16="http://schemas.microsoft.com/office/drawing/2014/main" id="{5B3AAA24-CBE1-4889-B779-D9A868F42A62}"/>
              </a:ext>
            </a:extLst>
          </p:cNvPr>
          <p:cNvSpPr>
            <a:spLocks xmlns:a="http://schemas.openxmlformats.org/drawingml/2006/main" noGrp="1"/>
          </p:cNvSpPr>
          <p:nvPr/>
        </p:nvSpPr>
        <p:spPr>
          <a:xfrm xmlns:a="http://schemas.openxmlformats.org/drawingml/2006/main">
            <a:off x="781050" y="27813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F7F2E8"/>
                </a:solidFill>
              </a:defRPr>
            </a:pPr>
            <a:r>
              <a:rPr sz="1650" b="0">
                <a:solidFill>
                  <a:srgbClr val="F7F2E8"/>
                </a:solidFill>
              </a:rPr>
              <a:t>Dimensions do not conform</a:t>
            </a:r>
          </a:p>
        </p:txBody>
      </p:sp>
      <p:sp>
        <p:nvSpPr>
          <p:cNvPr id="11" name="">
            <a:extLst xmlns:a="http://schemas.openxmlformats.org/drawingml/2006/main">
              <a:ext uri="{FF2B5EF4-FFF2-40B4-BE49-F238E27FC236}">
                <a16:creationId xmlns:a16="http://schemas.microsoft.com/office/drawing/2014/main" id="{2062DD73-0164-4804-868C-CCC8493AF097}"/>
              </a:ext>
            </a:extLst>
          </p:cNvPr>
          <p:cNvSpPr>
            <a:spLocks xmlns:a="http://schemas.openxmlformats.org/drawingml/2006/main" noGrp="1"/>
          </p:cNvSpPr>
          <p:nvPr/>
        </p:nvSpPr>
        <p:spPr>
          <a:xfrm xmlns:a="http://schemas.openxmlformats.org/drawingml/2006/main">
            <a:off x="6172200" y="2266950"/>
            <a:ext cx="5238750" cy="1200150"/>
          </a:xfrm>
          <a:prstGeom xmlns:a="http://schemas.openxmlformats.org/drawingml/2006/main" prst="roundRect">
            <a:avLst>
              <a:gd name="adj" fmla="val 6349"/>
            </a:avLst>
          </a:prstGeom>
          <a:solidFill xmlns:a="http://schemas.openxmlformats.org/drawingml/2006/main">
            <a:srgbClr val="0D2A43"/>
          </a:solidFill>
          <a:ln xmlns:a="http://schemas.openxmlformats.org/drawingml/2006/main" w="9525">
            <a:solidFill>
              <a:srgbClr val="22B8A7"/>
            </a:solidFill>
            <a:prstDash val="solid"/>
          </a:ln>
        </p:spPr>
      </p:sp>
      <p:sp>
        <p:nvSpPr>
          <p:cNvPr id="12" name="">
            <a:extLst xmlns:a="http://schemas.openxmlformats.org/drawingml/2006/main">
              <a:ext uri="{FF2B5EF4-FFF2-40B4-BE49-F238E27FC236}">
                <a16:creationId xmlns:a16="http://schemas.microsoft.com/office/drawing/2014/main" id="{CDFD91DA-995F-40DA-9203-F7DD246C6D3B}"/>
              </a:ext>
            </a:extLst>
          </p:cNvPr>
          <p:cNvSpPr>
            <a:spLocks xmlns:a="http://schemas.openxmlformats.org/drawingml/2006/main" noGrp="1"/>
          </p:cNvSpPr>
          <p:nvPr/>
        </p:nvSpPr>
        <p:spPr>
          <a:xfrm xmlns:a="http://schemas.openxmlformats.org/drawingml/2006/main">
            <a:off x="6400800" y="24193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PIVOT WEAK</a:t>
            </a:r>
          </a:p>
        </p:txBody>
      </p:sp>
      <p:sp>
        <p:nvSpPr>
          <p:cNvPr id="13" name="">
            <a:extLst xmlns:a="http://schemas.openxmlformats.org/drawingml/2006/main">
              <a:ext uri="{FF2B5EF4-FFF2-40B4-BE49-F238E27FC236}">
                <a16:creationId xmlns:a16="http://schemas.microsoft.com/office/drawing/2014/main" id="{00EF25AA-1DE4-4E88-A247-F24B2E7462DD}"/>
              </a:ext>
            </a:extLst>
          </p:cNvPr>
          <p:cNvSpPr>
            <a:spLocks xmlns:a="http://schemas.openxmlformats.org/drawingml/2006/main" noGrp="1"/>
          </p:cNvSpPr>
          <p:nvPr/>
        </p:nvSpPr>
        <p:spPr>
          <a:xfrm xmlns:a="http://schemas.openxmlformats.org/drawingml/2006/main">
            <a:off x="6400800" y="27813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F7F2E8"/>
                </a:solidFill>
              </a:defRPr>
            </a:pPr>
            <a:r>
              <a:rPr sz="1650" b="0">
                <a:solidFill>
                  <a:srgbClr val="F7F2E8"/>
                </a:solidFill>
              </a:rPr>
              <a:t>Roundoff dominates</a:t>
            </a:r>
          </a:p>
        </p:txBody>
      </p:sp>
      <p:sp>
        <p:nvSpPr>
          <p:cNvPr id="14" name="">
            <a:extLst xmlns:a="http://schemas.openxmlformats.org/drawingml/2006/main">
              <a:ext uri="{FF2B5EF4-FFF2-40B4-BE49-F238E27FC236}">
                <a16:creationId xmlns:a16="http://schemas.microsoft.com/office/drawing/2014/main" id="{752F40CB-9E79-4EE3-B598-3F949D838A9D}"/>
              </a:ext>
            </a:extLst>
          </p:cNvPr>
          <p:cNvSpPr>
            <a:spLocks xmlns:a="http://schemas.openxmlformats.org/drawingml/2006/main" noGrp="1"/>
          </p:cNvSpPr>
          <p:nvPr/>
        </p:nvSpPr>
        <p:spPr>
          <a:xfrm xmlns:a="http://schemas.openxmlformats.org/drawingml/2006/main">
            <a:off x="552450" y="3790950"/>
            <a:ext cx="5238750" cy="1200150"/>
          </a:xfrm>
          <a:prstGeom xmlns:a="http://schemas.openxmlformats.org/drawingml/2006/main" prst="roundRect">
            <a:avLst>
              <a:gd name="adj" fmla="val 6349"/>
            </a:avLst>
          </a:prstGeom>
          <a:solidFill xmlns:a="http://schemas.openxmlformats.org/drawingml/2006/main">
            <a:srgbClr val="0D2A43"/>
          </a:solidFill>
          <a:ln xmlns:a="http://schemas.openxmlformats.org/drawingml/2006/main" w="9525">
            <a:solidFill>
              <a:srgbClr val="22B8A7"/>
            </a:solidFill>
            <a:prstDash val="solid"/>
          </a:ln>
        </p:spPr>
      </p:sp>
      <p:sp>
        <p:nvSpPr>
          <p:cNvPr id="15" name="">
            <a:extLst xmlns:a="http://schemas.openxmlformats.org/drawingml/2006/main">
              <a:ext uri="{FF2B5EF4-FFF2-40B4-BE49-F238E27FC236}">
                <a16:creationId xmlns:a16="http://schemas.microsoft.com/office/drawing/2014/main" id="{CBC80BCF-CA24-4771-B6AC-595D9013E84B}"/>
              </a:ext>
            </a:extLst>
          </p:cNvPr>
          <p:cNvSpPr>
            <a:spLocks xmlns:a="http://schemas.openxmlformats.org/drawingml/2006/main" noGrp="1"/>
          </p:cNvSpPr>
          <p:nvPr/>
        </p:nvSpPr>
        <p:spPr>
          <a:xfrm xmlns:a="http://schemas.openxmlformats.org/drawingml/2006/main">
            <a:off x="781050" y="39433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RANK MISREAD</a:t>
            </a:r>
          </a:p>
        </p:txBody>
      </p:sp>
      <p:sp>
        <p:nvSpPr>
          <p:cNvPr id="16" name="">
            <a:extLst xmlns:a="http://schemas.openxmlformats.org/drawingml/2006/main">
              <a:ext uri="{FF2B5EF4-FFF2-40B4-BE49-F238E27FC236}">
                <a16:creationId xmlns:a16="http://schemas.microsoft.com/office/drawing/2014/main" id="{BF4238E5-E9BD-4483-9443-CC8F7A76AE74}"/>
              </a:ext>
            </a:extLst>
          </p:cNvPr>
          <p:cNvSpPr>
            <a:spLocks xmlns:a="http://schemas.openxmlformats.org/drawingml/2006/main" noGrp="1"/>
          </p:cNvSpPr>
          <p:nvPr/>
        </p:nvSpPr>
        <p:spPr>
          <a:xfrm xmlns:a="http://schemas.openxmlformats.org/drawingml/2006/main">
            <a:off x="781050" y="43053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F7F2E8"/>
                </a:solidFill>
              </a:defRPr>
            </a:pPr>
            <a:r>
              <a:rPr sz="1650" b="0">
                <a:solidFill>
                  <a:srgbClr val="F7F2E8"/>
                </a:solidFill>
              </a:rPr>
              <a:t>Information is redundant</a:t>
            </a:r>
          </a:p>
        </p:txBody>
      </p:sp>
      <p:sp>
        <p:nvSpPr>
          <p:cNvPr id="17" name="">
            <a:extLst xmlns:a="http://schemas.openxmlformats.org/drawingml/2006/main">
              <a:ext uri="{FF2B5EF4-FFF2-40B4-BE49-F238E27FC236}">
                <a16:creationId xmlns:a16="http://schemas.microsoft.com/office/drawing/2014/main" id="{815A75F7-75C4-40BF-A8FF-DD6937BA8BB9}"/>
              </a:ext>
            </a:extLst>
          </p:cNvPr>
          <p:cNvSpPr>
            <a:spLocks xmlns:a="http://schemas.openxmlformats.org/drawingml/2006/main" noGrp="1"/>
          </p:cNvSpPr>
          <p:nvPr/>
        </p:nvSpPr>
        <p:spPr>
          <a:xfrm xmlns:a="http://schemas.openxmlformats.org/drawingml/2006/main">
            <a:off x="6172200" y="3790950"/>
            <a:ext cx="5238750" cy="1200150"/>
          </a:xfrm>
          <a:prstGeom xmlns:a="http://schemas.openxmlformats.org/drawingml/2006/main" prst="roundRect">
            <a:avLst>
              <a:gd name="adj" fmla="val 6349"/>
            </a:avLst>
          </a:prstGeom>
          <a:solidFill xmlns:a="http://schemas.openxmlformats.org/drawingml/2006/main">
            <a:srgbClr val="0D2A43"/>
          </a:solidFill>
          <a:ln xmlns:a="http://schemas.openxmlformats.org/drawingml/2006/main" w="9525">
            <a:solidFill>
              <a:srgbClr val="F07A73"/>
            </a:solidFill>
            <a:prstDash val="solid"/>
          </a:ln>
        </p:spPr>
      </p:sp>
      <p:sp>
        <p:nvSpPr>
          <p:cNvPr id="18" name="">
            <a:extLst xmlns:a="http://schemas.openxmlformats.org/drawingml/2006/main">
              <a:ext uri="{FF2B5EF4-FFF2-40B4-BE49-F238E27FC236}">
                <a16:creationId xmlns:a16="http://schemas.microsoft.com/office/drawing/2014/main" id="{3BA94553-8E6B-400F-BBE7-DB3986D6D104}"/>
              </a:ext>
            </a:extLst>
          </p:cNvPr>
          <p:cNvSpPr>
            <a:spLocks xmlns:a="http://schemas.openxmlformats.org/drawingml/2006/main" noGrp="1"/>
          </p:cNvSpPr>
          <p:nvPr/>
        </p:nvSpPr>
        <p:spPr>
          <a:xfrm xmlns:a="http://schemas.openxmlformats.org/drawingml/2006/main">
            <a:off x="6400800" y="39433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07A73"/>
                </a:solidFill>
              </a:defRPr>
            </a:pPr>
            <a:r>
              <a:rPr sz="1350" b="1">
                <a:solidFill>
                  <a:srgbClr val="F07A73"/>
                </a:solidFill>
              </a:rPr>
              <a:t>RESIDUAL OMITTED</a:t>
            </a:r>
          </a:p>
        </p:txBody>
      </p:sp>
      <p:sp>
        <p:nvSpPr>
          <p:cNvPr id="19" name="">
            <a:extLst xmlns:a="http://schemas.openxmlformats.org/drawingml/2006/main">
              <a:ext uri="{FF2B5EF4-FFF2-40B4-BE49-F238E27FC236}">
                <a16:creationId xmlns:a16="http://schemas.microsoft.com/office/drawing/2014/main" id="{1C429725-F753-458F-A000-C63B43BBDA16}"/>
              </a:ext>
            </a:extLst>
          </p:cNvPr>
          <p:cNvSpPr>
            <a:spLocks xmlns:a="http://schemas.openxmlformats.org/drawingml/2006/main" noGrp="1"/>
          </p:cNvSpPr>
          <p:nvPr/>
        </p:nvSpPr>
        <p:spPr>
          <a:xfrm xmlns:a="http://schemas.openxmlformats.org/drawingml/2006/main">
            <a:off x="6400800" y="43053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F7F2E8"/>
                </a:solidFill>
              </a:defRPr>
            </a:pPr>
            <a:r>
              <a:rPr sz="1650" b="0">
                <a:solidFill>
                  <a:srgbClr val="F7F2E8"/>
                </a:solidFill>
              </a:rPr>
              <a:t>Fit was never checked</a:t>
            </a:r>
          </a:p>
        </p:txBody>
      </p:sp>
    </p:spTree>
    <p:extLst>
      <p:ext uri="{BB962C8B-B14F-4D97-AF65-F5344CB8AC3E}">
        <p14:creationId xmlns:p14="http://schemas.microsoft.com/office/powerpoint/2010/main" val="1859790207"/>
      </p:ext>
    </p:extLst>
  </p:cSld>
</p:sld>
</file>

<file path=ppt/slides/slide3.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C58CF9D-EAF0-4E68-80D7-08623B5C5F8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2DA8687-D4FC-4B09-8266-841593AC6E50}"/>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AAACA4D1-F4D4-472F-BE1A-2F5F64A7E7F2}"/>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MATRIX FOUNDATIONS</a:t>
            </a:r>
          </a:p>
        </p:txBody>
      </p:sp>
      <p:sp>
        <p:nvSpPr>
          <p:cNvPr id="4" name="">
            <a:extLst xmlns:a="http://schemas.openxmlformats.org/drawingml/2006/main">
              <a:ext uri="{FF2B5EF4-FFF2-40B4-BE49-F238E27FC236}">
                <a16:creationId xmlns:a16="http://schemas.microsoft.com/office/drawing/2014/main" id="{4A468242-1DAE-4DE0-B841-15FFABCC24B6}"/>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03</a:t>
            </a:r>
          </a:p>
        </p:txBody>
      </p:sp>
      <p:sp>
        <p:nvSpPr>
          <p:cNvPr id="5" name="">
            <a:extLst xmlns:a="http://schemas.openxmlformats.org/drawingml/2006/main">
              <a:ext uri="{FF2B5EF4-FFF2-40B4-BE49-F238E27FC236}">
                <a16:creationId xmlns:a16="http://schemas.microsoft.com/office/drawing/2014/main" id="{C6B24B07-D792-4997-B9BE-D5297ADD8BF8}"/>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7618FBEA-4137-4BEE-96E7-DD1A4C3CEF6D}"/>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Before calculating, establish four structural elements.</a:t>
            </a:r>
          </a:p>
        </p:txBody>
      </p:sp>
      <p:sp>
        <p:nvSpPr>
          <p:cNvPr id="7" name="">
            <a:extLst xmlns:a="http://schemas.openxmlformats.org/drawingml/2006/main">
              <a:ext uri="{FF2B5EF4-FFF2-40B4-BE49-F238E27FC236}">
                <a16:creationId xmlns:a16="http://schemas.microsoft.com/office/drawing/2014/main" id="{BFD541D9-D241-4AF6-8605-D2CA73C198B3}"/>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Rows, columns, dimensions and operations determine what a matrix expression means.</a:t>
            </a:r>
          </a:p>
        </p:txBody>
      </p:sp>
      <p:sp>
        <p:nvSpPr>
          <p:cNvPr id="8" name="">
            <a:extLst xmlns:a="http://schemas.openxmlformats.org/drawingml/2006/main">
              <a:ext uri="{FF2B5EF4-FFF2-40B4-BE49-F238E27FC236}">
                <a16:creationId xmlns:a16="http://schemas.microsoft.com/office/drawing/2014/main" id="{F557EEDB-A176-4FC3-B473-6FB74C45C73C}"/>
              </a:ext>
            </a:extLst>
          </p:cNvPr>
          <p:cNvSpPr>
            <a:spLocks xmlns:a="http://schemas.openxmlformats.org/drawingml/2006/main" noGrp="1"/>
          </p:cNvSpPr>
          <p:nvPr/>
        </p:nvSpPr>
        <p:spPr>
          <a:xfrm xmlns:a="http://schemas.openxmlformats.org/drawingml/2006/main">
            <a:off x="619125" y="2381250"/>
            <a:ext cx="2476500" cy="1885950"/>
          </a:xfrm>
          <a:prstGeom xmlns:a="http://schemas.openxmlformats.org/drawingml/2006/main" prst="roundRect">
            <a:avLst>
              <a:gd name="adj" fmla="val 4040"/>
            </a:avLst>
          </a:prstGeom>
          <a:solidFill xmlns:a="http://schemas.openxmlformats.org/drawingml/2006/main">
            <a:srgbClr val="0B3445"/>
          </a:solidFill>
          <a:ln xmlns:a="http://schemas.openxmlformats.org/drawingml/2006/main" w="9525">
            <a:solidFill>
              <a:srgbClr val="22B8A7"/>
            </a:solidFill>
            <a:prstDash val="solid"/>
          </a:ln>
        </p:spPr>
      </p:sp>
      <p:sp>
        <p:nvSpPr>
          <p:cNvPr id="9" name="">
            <a:extLst xmlns:a="http://schemas.openxmlformats.org/drawingml/2006/main">
              <a:ext uri="{FF2B5EF4-FFF2-40B4-BE49-F238E27FC236}">
                <a16:creationId xmlns:a16="http://schemas.microsoft.com/office/drawing/2014/main" id="{309B964F-E9E6-4E81-AB1D-6892A69C38E3}"/>
              </a:ext>
            </a:extLst>
          </p:cNvPr>
          <p:cNvSpPr>
            <a:spLocks xmlns:a="http://schemas.openxmlformats.org/drawingml/2006/main" noGrp="1"/>
          </p:cNvSpPr>
          <p:nvPr/>
        </p:nvSpPr>
        <p:spPr>
          <a:xfrm xmlns:a="http://schemas.openxmlformats.org/drawingml/2006/main">
            <a:off x="828675" y="257175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D9A441"/>
                </a:solidFill>
              </a:defRPr>
            </a:pPr>
            <a:r>
              <a:rPr sz="2250" b="1">
                <a:solidFill>
                  <a:srgbClr val="D9A441"/>
                </a:solidFill>
              </a:rPr>
              <a:t>1</a:t>
            </a:r>
          </a:p>
        </p:txBody>
      </p:sp>
      <p:sp>
        <p:nvSpPr>
          <p:cNvPr id="10" name="">
            <a:extLst xmlns:a="http://schemas.openxmlformats.org/drawingml/2006/main">
              <a:ext uri="{FF2B5EF4-FFF2-40B4-BE49-F238E27FC236}">
                <a16:creationId xmlns:a16="http://schemas.microsoft.com/office/drawing/2014/main" id="{5CD30E1E-DC92-40F3-A709-DBDA83FA0F8B}"/>
              </a:ext>
            </a:extLst>
          </p:cNvPr>
          <p:cNvSpPr>
            <a:spLocks xmlns:a="http://schemas.openxmlformats.org/drawingml/2006/main" noGrp="1"/>
          </p:cNvSpPr>
          <p:nvPr/>
        </p:nvSpPr>
        <p:spPr>
          <a:xfrm xmlns:a="http://schemas.openxmlformats.org/drawingml/2006/main">
            <a:off x="809625" y="325755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ROWS</a:t>
            </a:r>
          </a:p>
        </p:txBody>
      </p:sp>
      <p:sp>
        <p:nvSpPr>
          <p:cNvPr id="11" name="">
            <a:extLst xmlns:a="http://schemas.openxmlformats.org/drawingml/2006/main">
              <a:ext uri="{FF2B5EF4-FFF2-40B4-BE49-F238E27FC236}">
                <a16:creationId xmlns:a16="http://schemas.microsoft.com/office/drawing/2014/main" id="{0A768744-31CA-4420-B604-002AE20DC208}"/>
              </a:ext>
            </a:extLst>
          </p:cNvPr>
          <p:cNvSpPr>
            <a:spLocks xmlns:a="http://schemas.openxmlformats.org/drawingml/2006/main" noGrp="1"/>
          </p:cNvSpPr>
          <p:nvPr/>
        </p:nvSpPr>
        <p:spPr>
          <a:xfrm xmlns:a="http://schemas.openxmlformats.org/drawingml/2006/main">
            <a:off x="3457575" y="2381250"/>
            <a:ext cx="2476500" cy="1885950"/>
          </a:xfrm>
          <a:prstGeom xmlns:a="http://schemas.openxmlformats.org/drawingml/2006/main" prst="roundRect">
            <a:avLst>
              <a:gd name="adj" fmla="val 4040"/>
            </a:avLst>
          </a:prstGeom>
          <a:solidFill xmlns:a="http://schemas.openxmlformats.org/drawingml/2006/main">
            <a:srgbClr val="0D2A43"/>
          </a:solidFill>
          <a:ln xmlns:a="http://schemas.openxmlformats.org/drawingml/2006/main" w="9525">
            <a:solidFill>
              <a:srgbClr val="22B8A7"/>
            </a:solidFill>
            <a:prstDash val="solid"/>
          </a:ln>
        </p:spPr>
      </p:sp>
      <p:sp>
        <p:nvSpPr>
          <p:cNvPr id="12" name="">
            <a:extLst xmlns:a="http://schemas.openxmlformats.org/drawingml/2006/main">
              <a:ext uri="{FF2B5EF4-FFF2-40B4-BE49-F238E27FC236}">
                <a16:creationId xmlns:a16="http://schemas.microsoft.com/office/drawing/2014/main" id="{EEEF6C66-E477-43E2-B9E0-EEFE9AB6D5DF}"/>
              </a:ext>
            </a:extLst>
          </p:cNvPr>
          <p:cNvSpPr>
            <a:spLocks xmlns:a="http://schemas.openxmlformats.org/drawingml/2006/main" noGrp="1"/>
          </p:cNvSpPr>
          <p:nvPr/>
        </p:nvSpPr>
        <p:spPr>
          <a:xfrm xmlns:a="http://schemas.openxmlformats.org/drawingml/2006/main">
            <a:off x="3667125" y="257175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D9A441"/>
                </a:solidFill>
              </a:defRPr>
            </a:pPr>
            <a:r>
              <a:rPr sz="2250" b="1">
                <a:solidFill>
                  <a:srgbClr val="D9A441"/>
                </a:solidFill>
              </a:rPr>
              <a:t>2</a:t>
            </a:r>
          </a:p>
        </p:txBody>
      </p:sp>
      <p:sp>
        <p:nvSpPr>
          <p:cNvPr id="13" name="">
            <a:extLst xmlns:a="http://schemas.openxmlformats.org/drawingml/2006/main">
              <a:ext uri="{FF2B5EF4-FFF2-40B4-BE49-F238E27FC236}">
                <a16:creationId xmlns:a16="http://schemas.microsoft.com/office/drawing/2014/main" id="{9F697025-D19D-48E8-849A-4C401B0CA9C6}"/>
              </a:ext>
            </a:extLst>
          </p:cNvPr>
          <p:cNvSpPr>
            <a:spLocks xmlns:a="http://schemas.openxmlformats.org/drawingml/2006/main" noGrp="1"/>
          </p:cNvSpPr>
          <p:nvPr/>
        </p:nvSpPr>
        <p:spPr>
          <a:xfrm xmlns:a="http://schemas.openxmlformats.org/drawingml/2006/main">
            <a:off x="3648075" y="325755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COLUMNS</a:t>
            </a:r>
          </a:p>
        </p:txBody>
      </p:sp>
      <p:sp>
        <p:nvSpPr>
          <p:cNvPr id="14" name="">
            <a:extLst xmlns:a="http://schemas.openxmlformats.org/drawingml/2006/main">
              <a:ext uri="{FF2B5EF4-FFF2-40B4-BE49-F238E27FC236}">
                <a16:creationId xmlns:a16="http://schemas.microsoft.com/office/drawing/2014/main" id="{3CFC6382-0D46-4AD7-9878-99294A6115D3}"/>
              </a:ext>
            </a:extLst>
          </p:cNvPr>
          <p:cNvSpPr>
            <a:spLocks xmlns:a="http://schemas.openxmlformats.org/drawingml/2006/main" noGrp="1"/>
          </p:cNvSpPr>
          <p:nvPr/>
        </p:nvSpPr>
        <p:spPr>
          <a:xfrm xmlns:a="http://schemas.openxmlformats.org/drawingml/2006/main">
            <a:off x="6296025" y="2381250"/>
            <a:ext cx="2476500" cy="1885950"/>
          </a:xfrm>
          <a:prstGeom xmlns:a="http://schemas.openxmlformats.org/drawingml/2006/main" prst="roundRect">
            <a:avLst>
              <a:gd name="adj" fmla="val 4040"/>
            </a:avLst>
          </a:prstGeom>
          <a:solidFill xmlns:a="http://schemas.openxmlformats.org/drawingml/2006/main">
            <a:srgbClr val="0B3445"/>
          </a:solidFill>
          <a:ln xmlns:a="http://schemas.openxmlformats.org/drawingml/2006/main" w="9525">
            <a:solidFill>
              <a:srgbClr val="22B8A7"/>
            </a:solidFill>
            <a:prstDash val="solid"/>
          </a:ln>
        </p:spPr>
      </p:sp>
      <p:sp>
        <p:nvSpPr>
          <p:cNvPr id="15" name="">
            <a:extLst xmlns:a="http://schemas.openxmlformats.org/drawingml/2006/main">
              <a:ext uri="{FF2B5EF4-FFF2-40B4-BE49-F238E27FC236}">
                <a16:creationId xmlns:a16="http://schemas.microsoft.com/office/drawing/2014/main" id="{AEC01B82-E9C0-4312-8368-B2073184795F}"/>
              </a:ext>
            </a:extLst>
          </p:cNvPr>
          <p:cNvSpPr>
            <a:spLocks xmlns:a="http://schemas.openxmlformats.org/drawingml/2006/main" noGrp="1"/>
          </p:cNvSpPr>
          <p:nvPr/>
        </p:nvSpPr>
        <p:spPr>
          <a:xfrm xmlns:a="http://schemas.openxmlformats.org/drawingml/2006/main">
            <a:off x="6505575" y="257175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D9A441"/>
                </a:solidFill>
              </a:defRPr>
            </a:pPr>
            <a:r>
              <a:rPr sz="2250" b="1">
                <a:solidFill>
                  <a:srgbClr val="D9A441"/>
                </a:solidFill>
              </a:rPr>
              <a:t>3</a:t>
            </a:r>
          </a:p>
        </p:txBody>
      </p:sp>
      <p:sp>
        <p:nvSpPr>
          <p:cNvPr id="16" name="">
            <a:extLst xmlns:a="http://schemas.openxmlformats.org/drawingml/2006/main">
              <a:ext uri="{FF2B5EF4-FFF2-40B4-BE49-F238E27FC236}">
                <a16:creationId xmlns:a16="http://schemas.microsoft.com/office/drawing/2014/main" id="{9410700D-DC96-420C-A75F-4E8706ED66F8}"/>
              </a:ext>
            </a:extLst>
          </p:cNvPr>
          <p:cNvSpPr>
            <a:spLocks xmlns:a="http://schemas.openxmlformats.org/drawingml/2006/main" noGrp="1"/>
          </p:cNvSpPr>
          <p:nvPr/>
        </p:nvSpPr>
        <p:spPr>
          <a:xfrm xmlns:a="http://schemas.openxmlformats.org/drawingml/2006/main">
            <a:off x="6486525" y="325755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DIMENSIONS</a:t>
            </a:r>
          </a:p>
        </p:txBody>
      </p:sp>
      <p:sp>
        <p:nvSpPr>
          <p:cNvPr id="17" name="">
            <a:extLst xmlns:a="http://schemas.openxmlformats.org/drawingml/2006/main">
              <a:ext uri="{FF2B5EF4-FFF2-40B4-BE49-F238E27FC236}">
                <a16:creationId xmlns:a16="http://schemas.microsoft.com/office/drawing/2014/main" id="{37BDCA36-D8EC-4981-AA2A-E9574C7DCD15}"/>
              </a:ext>
            </a:extLst>
          </p:cNvPr>
          <p:cNvSpPr>
            <a:spLocks xmlns:a="http://schemas.openxmlformats.org/drawingml/2006/main" noGrp="1"/>
          </p:cNvSpPr>
          <p:nvPr/>
        </p:nvSpPr>
        <p:spPr>
          <a:xfrm xmlns:a="http://schemas.openxmlformats.org/drawingml/2006/main">
            <a:off x="9134475" y="2381250"/>
            <a:ext cx="2476500" cy="1885950"/>
          </a:xfrm>
          <a:prstGeom xmlns:a="http://schemas.openxmlformats.org/drawingml/2006/main" prst="roundRect">
            <a:avLst>
              <a:gd name="adj" fmla="val 4040"/>
            </a:avLst>
          </a:prstGeom>
          <a:solidFill xmlns:a="http://schemas.openxmlformats.org/drawingml/2006/main">
            <a:srgbClr val="0D2A43"/>
          </a:solidFill>
          <a:ln xmlns:a="http://schemas.openxmlformats.org/drawingml/2006/main" w="9525">
            <a:solidFill>
              <a:srgbClr val="22B8A7"/>
            </a:solidFill>
            <a:prstDash val="solid"/>
          </a:ln>
        </p:spPr>
      </p:sp>
      <p:sp>
        <p:nvSpPr>
          <p:cNvPr id="18" name="">
            <a:extLst xmlns:a="http://schemas.openxmlformats.org/drawingml/2006/main">
              <a:ext uri="{FF2B5EF4-FFF2-40B4-BE49-F238E27FC236}">
                <a16:creationId xmlns:a16="http://schemas.microsoft.com/office/drawing/2014/main" id="{37AB44C0-280E-4636-96DF-2B3853EE3D8B}"/>
              </a:ext>
            </a:extLst>
          </p:cNvPr>
          <p:cNvSpPr>
            <a:spLocks xmlns:a="http://schemas.openxmlformats.org/drawingml/2006/main" noGrp="1"/>
          </p:cNvSpPr>
          <p:nvPr/>
        </p:nvSpPr>
        <p:spPr>
          <a:xfrm xmlns:a="http://schemas.openxmlformats.org/drawingml/2006/main">
            <a:off x="9344025" y="257175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D9A441"/>
                </a:solidFill>
              </a:defRPr>
            </a:pPr>
            <a:r>
              <a:rPr sz="2250" b="1">
                <a:solidFill>
                  <a:srgbClr val="D9A441"/>
                </a:solidFill>
              </a:rPr>
              <a:t>4</a:t>
            </a:r>
          </a:p>
        </p:txBody>
      </p:sp>
      <p:sp>
        <p:nvSpPr>
          <p:cNvPr id="19" name="">
            <a:extLst xmlns:a="http://schemas.openxmlformats.org/drawingml/2006/main">
              <a:ext uri="{FF2B5EF4-FFF2-40B4-BE49-F238E27FC236}">
                <a16:creationId xmlns:a16="http://schemas.microsoft.com/office/drawing/2014/main" id="{2250CD9C-55F1-4FA8-B4A6-ACC507D5BF7E}"/>
              </a:ext>
            </a:extLst>
          </p:cNvPr>
          <p:cNvSpPr>
            <a:spLocks xmlns:a="http://schemas.openxmlformats.org/drawingml/2006/main" noGrp="1"/>
          </p:cNvSpPr>
          <p:nvPr/>
        </p:nvSpPr>
        <p:spPr>
          <a:xfrm xmlns:a="http://schemas.openxmlformats.org/drawingml/2006/main">
            <a:off x="9324975" y="325755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OPERATIONS</a:t>
            </a:r>
          </a:p>
        </p:txBody>
      </p:sp>
      <p:sp>
        <p:nvSpPr>
          <p:cNvPr id="20" name="">
            <a:extLst xmlns:a="http://schemas.openxmlformats.org/drawingml/2006/main">
              <a:ext uri="{FF2B5EF4-FFF2-40B4-BE49-F238E27FC236}">
                <a16:creationId xmlns:a16="http://schemas.microsoft.com/office/drawing/2014/main" id="{88D35F0A-C1BE-4E3F-8346-FF0D69914C7A}"/>
              </a:ext>
            </a:extLst>
          </p:cNvPr>
          <p:cNvSpPr>
            <a:spLocks xmlns:a="http://schemas.openxmlformats.org/drawingml/2006/main" noGrp="1"/>
          </p:cNvSpPr>
          <p:nvPr/>
        </p:nvSpPr>
        <p:spPr>
          <a:xfrm xmlns:a="http://schemas.openxmlformats.org/drawingml/2006/main">
            <a:off x="857250" y="499110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79D7CC"/>
                </a:solidFill>
              </a:defRPr>
            </a:pPr>
            <a:r>
              <a:rPr sz="2025" b="1">
                <a:solidFill>
                  <a:srgbClr val="79D7CC"/>
                </a:solidFill>
              </a:rPr>
              <a:t>MEANING connects the algebra to the system being represented.</a:t>
            </a:r>
          </a:p>
        </p:txBody>
      </p:sp>
    </p:spTree>
    <p:extLst>
      <p:ext uri="{BB962C8B-B14F-4D97-AF65-F5344CB8AC3E}">
        <p14:creationId xmlns:p14="http://schemas.microsoft.com/office/powerpoint/2010/main" val="1424642114"/>
      </p:ext>
    </p:extLst>
  </p:cSld>
</p:sld>
</file>

<file path=ppt/slides/slide4.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D5AFE456-7AA3-4A9D-9004-939249C54FC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E38E338-EF5F-44A5-88DE-52638F456D9A}"/>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0A7C2252-16F6-4F66-A3C0-B7EBD01DDF6F}"/>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MATRIX MULTIPLICATION</a:t>
            </a:r>
          </a:p>
        </p:txBody>
      </p:sp>
      <p:sp>
        <p:nvSpPr>
          <p:cNvPr id="4" name="">
            <a:extLst xmlns:a="http://schemas.openxmlformats.org/drawingml/2006/main">
              <a:ext uri="{FF2B5EF4-FFF2-40B4-BE49-F238E27FC236}">
                <a16:creationId xmlns:a16="http://schemas.microsoft.com/office/drawing/2014/main" id="{9B10CE8B-EB11-4CEF-AA29-E9D59669AD32}"/>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04</a:t>
            </a:r>
          </a:p>
        </p:txBody>
      </p:sp>
      <p:sp>
        <p:nvSpPr>
          <p:cNvPr id="5" name="">
            <a:extLst xmlns:a="http://schemas.openxmlformats.org/drawingml/2006/main">
              <a:ext uri="{FF2B5EF4-FFF2-40B4-BE49-F238E27FC236}">
                <a16:creationId xmlns:a16="http://schemas.microsoft.com/office/drawing/2014/main" id="{80D51761-FBF4-4CFA-926E-F964E0C256C4}"/>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252E240E-D9A2-4B9A-A2BD-2529C3A0EF8F}"/>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Multiplication composes transformations—not entries.</a:t>
            </a:r>
          </a:p>
        </p:txBody>
      </p:sp>
      <p:sp>
        <p:nvSpPr>
          <p:cNvPr id="7" name="">
            <a:extLst xmlns:a="http://schemas.openxmlformats.org/drawingml/2006/main">
              <a:ext uri="{FF2B5EF4-FFF2-40B4-BE49-F238E27FC236}">
                <a16:creationId xmlns:a16="http://schemas.microsoft.com/office/drawing/2014/main" id="{112F5412-4208-41F3-AFC1-7AD89C032222}"/>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Each output combines one row of A with the weighted components of x.</a:t>
            </a:r>
          </a:p>
        </p:txBody>
      </p:sp>
      <p:sp>
        <p:nvSpPr>
          <p:cNvPr id="8" name="">
            <a:extLst xmlns:a="http://schemas.openxmlformats.org/drawingml/2006/main">
              <a:ext uri="{FF2B5EF4-FFF2-40B4-BE49-F238E27FC236}">
                <a16:creationId xmlns:a16="http://schemas.microsoft.com/office/drawing/2014/main" id="{A52F5107-02F3-4412-B65C-52071336F53F}"/>
              </a:ext>
            </a:extLst>
          </p:cNvPr>
          <p:cNvSpPr>
            <a:spLocks xmlns:a="http://schemas.openxmlformats.org/drawingml/2006/main" noGrp="1"/>
          </p:cNvSpPr>
          <p:nvPr/>
        </p:nvSpPr>
        <p:spPr>
          <a:xfrm xmlns:a="http://schemas.openxmlformats.org/drawingml/2006/main">
            <a:off x="666750" y="2333625"/>
            <a:ext cx="2266950" cy="742950"/>
          </a:xfrm>
          <a:prstGeom xmlns:a="http://schemas.openxmlformats.org/drawingml/2006/main" prst="roundRect">
            <a:avLst>
              <a:gd name="adj" fmla="val 10256"/>
            </a:avLst>
          </a:prstGeom>
          <a:solidFill xmlns:a="http://schemas.openxmlformats.org/drawingml/2006/main">
            <a:srgbClr val="0D2A43"/>
          </a:solidFill>
          <a:ln xmlns:a="http://schemas.openxmlformats.org/drawingml/2006/main" w="9525">
            <a:solidFill>
              <a:srgbClr val="22B8A7"/>
            </a:solidFill>
            <a:prstDash val="solid"/>
          </a:ln>
        </p:spPr>
      </p:sp>
      <p:sp>
        <p:nvSpPr>
          <p:cNvPr id="9" name="">
            <a:extLst xmlns:a="http://schemas.openxmlformats.org/drawingml/2006/main">
              <a:ext uri="{FF2B5EF4-FFF2-40B4-BE49-F238E27FC236}">
                <a16:creationId xmlns:a16="http://schemas.microsoft.com/office/drawing/2014/main" id="{C74F7BA0-7684-498B-B9B0-15DA66A64F06}"/>
              </a:ext>
            </a:extLst>
          </p:cNvPr>
          <p:cNvSpPr>
            <a:spLocks xmlns:a="http://schemas.openxmlformats.org/drawingml/2006/main" noGrp="1"/>
          </p:cNvSpPr>
          <p:nvPr/>
        </p:nvSpPr>
        <p:spPr>
          <a:xfrm xmlns:a="http://schemas.openxmlformats.org/drawingml/2006/main">
            <a:off x="742950" y="2447925"/>
            <a:ext cx="2114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Input</a:t>
            </a:r>
          </a:p>
        </p:txBody>
      </p:sp>
      <p:sp>
        <p:nvSpPr>
          <p:cNvPr id="10" name="">
            <a:extLst xmlns:a="http://schemas.openxmlformats.org/drawingml/2006/main">
              <a:ext uri="{FF2B5EF4-FFF2-40B4-BE49-F238E27FC236}">
                <a16:creationId xmlns:a16="http://schemas.microsoft.com/office/drawing/2014/main" id="{7DD824D2-C6BC-4EA6-BA10-35F4ADD417AD}"/>
              </a:ext>
            </a:extLst>
          </p:cNvPr>
          <p:cNvSpPr>
            <a:spLocks xmlns:a="http://schemas.openxmlformats.org/drawingml/2006/main" noGrp="1"/>
          </p:cNvSpPr>
          <p:nvPr/>
        </p:nvSpPr>
        <p:spPr>
          <a:xfrm xmlns:a="http://schemas.openxmlformats.org/drawingml/2006/main">
            <a:off x="2990850" y="2486025"/>
            <a:ext cx="400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950" b="1">
                <a:solidFill>
                  <a:srgbClr val="D9A441"/>
                </a:solidFill>
              </a:defRPr>
            </a:pPr>
            <a:r>
              <a:rPr sz="1950" b="1">
                <a:solidFill>
                  <a:srgbClr val="D9A441"/>
                </a:solidFill>
              </a:rPr>
              <a:t>→</a:t>
            </a:r>
          </a:p>
        </p:txBody>
      </p:sp>
      <p:sp>
        <p:nvSpPr>
          <p:cNvPr id="11" name="">
            <a:extLst xmlns:a="http://schemas.openxmlformats.org/drawingml/2006/main">
              <a:ext uri="{FF2B5EF4-FFF2-40B4-BE49-F238E27FC236}">
                <a16:creationId xmlns:a16="http://schemas.microsoft.com/office/drawing/2014/main" id="{662176EB-4232-419B-9692-EE6688ADF19F}"/>
              </a:ext>
            </a:extLst>
          </p:cNvPr>
          <p:cNvSpPr>
            <a:spLocks xmlns:a="http://schemas.openxmlformats.org/drawingml/2006/main" noGrp="1"/>
          </p:cNvSpPr>
          <p:nvPr/>
        </p:nvSpPr>
        <p:spPr>
          <a:xfrm xmlns:a="http://schemas.openxmlformats.org/drawingml/2006/main">
            <a:off x="3448050" y="2333625"/>
            <a:ext cx="2266950" cy="742950"/>
          </a:xfrm>
          <a:prstGeom xmlns:a="http://schemas.openxmlformats.org/drawingml/2006/main" prst="roundRect">
            <a:avLst>
              <a:gd name="adj" fmla="val 10256"/>
            </a:avLst>
          </a:prstGeom>
          <a:solidFill xmlns:a="http://schemas.openxmlformats.org/drawingml/2006/main">
            <a:srgbClr val="0D2A43"/>
          </a:solidFill>
          <a:ln xmlns:a="http://schemas.openxmlformats.org/drawingml/2006/main" w="9525">
            <a:solidFill>
              <a:srgbClr val="22B8A7"/>
            </a:solidFill>
            <a:prstDash val="solid"/>
          </a:ln>
        </p:spPr>
      </p:sp>
      <p:sp>
        <p:nvSpPr>
          <p:cNvPr id="12" name="">
            <a:extLst xmlns:a="http://schemas.openxmlformats.org/drawingml/2006/main">
              <a:ext uri="{FF2B5EF4-FFF2-40B4-BE49-F238E27FC236}">
                <a16:creationId xmlns:a16="http://schemas.microsoft.com/office/drawing/2014/main" id="{AD4F03DC-8E56-464B-96F1-3F1DC7DF89EB}"/>
              </a:ext>
            </a:extLst>
          </p:cNvPr>
          <p:cNvSpPr>
            <a:spLocks xmlns:a="http://schemas.openxmlformats.org/drawingml/2006/main" noGrp="1"/>
          </p:cNvSpPr>
          <p:nvPr/>
        </p:nvSpPr>
        <p:spPr>
          <a:xfrm xmlns:a="http://schemas.openxmlformats.org/drawingml/2006/main">
            <a:off x="3524250" y="2447925"/>
            <a:ext cx="2114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A</a:t>
            </a:r>
          </a:p>
        </p:txBody>
      </p:sp>
      <p:sp>
        <p:nvSpPr>
          <p:cNvPr id="13" name="">
            <a:extLst xmlns:a="http://schemas.openxmlformats.org/drawingml/2006/main">
              <a:ext uri="{FF2B5EF4-FFF2-40B4-BE49-F238E27FC236}">
                <a16:creationId xmlns:a16="http://schemas.microsoft.com/office/drawing/2014/main" id="{60CDA7CC-2E18-422D-8F44-17AD70AD076F}"/>
              </a:ext>
            </a:extLst>
          </p:cNvPr>
          <p:cNvSpPr>
            <a:spLocks xmlns:a="http://schemas.openxmlformats.org/drawingml/2006/main" noGrp="1"/>
          </p:cNvSpPr>
          <p:nvPr/>
        </p:nvSpPr>
        <p:spPr>
          <a:xfrm xmlns:a="http://schemas.openxmlformats.org/drawingml/2006/main">
            <a:off x="5772150" y="2486025"/>
            <a:ext cx="400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950" b="1">
                <a:solidFill>
                  <a:srgbClr val="D9A441"/>
                </a:solidFill>
              </a:defRPr>
            </a:pPr>
            <a:r>
              <a:rPr sz="1950" b="1">
                <a:solidFill>
                  <a:srgbClr val="D9A441"/>
                </a:solidFill>
              </a:rPr>
              <a:t>→</a:t>
            </a:r>
          </a:p>
        </p:txBody>
      </p:sp>
      <p:sp>
        <p:nvSpPr>
          <p:cNvPr id="14" name="">
            <a:extLst xmlns:a="http://schemas.openxmlformats.org/drawingml/2006/main">
              <a:ext uri="{FF2B5EF4-FFF2-40B4-BE49-F238E27FC236}">
                <a16:creationId xmlns:a16="http://schemas.microsoft.com/office/drawing/2014/main" id="{4971C6FC-EF59-4653-9296-3A8288DC34B4}"/>
              </a:ext>
            </a:extLst>
          </p:cNvPr>
          <p:cNvSpPr>
            <a:spLocks xmlns:a="http://schemas.openxmlformats.org/drawingml/2006/main" noGrp="1"/>
          </p:cNvSpPr>
          <p:nvPr/>
        </p:nvSpPr>
        <p:spPr>
          <a:xfrm xmlns:a="http://schemas.openxmlformats.org/drawingml/2006/main">
            <a:off x="6229350" y="2333625"/>
            <a:ext cx="2266950" cy="742950"/>
          </a:xfrm>
          <a:prstGeom xmlns:a="http://schemas.openxmlformats.org/drawingml/2006/main" prst="roundRect">
            <a:avLst>
              <a:gd name="adj" fmla="val 10256"/>
            </a:avLst>
          </a:prstGeom>
          <a:solidFill xmlns:a="http://schemas.openxmlformats.org/drawingml/2006/main">
            <a:srgbClr val="0D2A43"/>
          </a:solidFill>
          <a:ln xmlns:a="http://schemas.openxmlformats.org/drawingml/2006/main" w="9525">
            <a:solidFill>
              <a:srgbClr val="22B8A7"/>
            </a:solidFill>
            <a:prstDash val="solid"/>
          </a:ln>
        </p:spPr>
      </p:sp>
      <p:sp>
        <p:nvSpPr>
          <p:cNvPr id="15" name="">
            <a:extLst xmlns:a="http://schemas.openxmlformats.org/drawingml/2006/main">
              <a:ext uri="{FF2B5EF4-FFF2-40B4-BE49-F238E27FC236}">
                <a16:creationId xmlns:a16="http://schemas.microsoft.com/office/drawing/2014/main" id="{1F59A1E3-80B4-4563-AB24-60300301E1CA}"/>
              </a:ext>
            </a:extLst>
          </p:cNvPr>
          <p:cNvSpPr>
            <a:spLocks xmlns:a="http://schemas.openxmlformats.org/drawingml/2006/main" noGrp="1"/>
          </p:cNvSpPr>
          <p:nvPr/>
        </p:nvSpPr>
        <p:spPr>
          <a:xfrm xmlns:a="http://schemas.openxmlformats.org/drawingml/2006/main">
            <a:off x="6305550" y="2447925"/>
            <a:ext cx="2114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Ax</a:t>
            </a:r>
          </a:p>
        </p:txBody>
      </p:sp>
      <p:sp>
        <p:nvSpPr>
          <p:cNvPr id="16" name="">
            <a:extLst xmlns:a="http://schemas.openxmlformats.org/drawingml/2006/main">
              <a:ext uri="{FF2B5EF4-FFF2-40B4-BE49-F238E27FC236}">
                <a16:creationId xmlns:a16="http://schemas.microsoft.com/office/drawing/2014/main" id="{94FC43D6-68C5-4D1C-B9D9-7D3D237670B4}"/>
              </a:ext>
            </a:extLst>
          </p:cNvPr>
          <p:cNvSpPr>
            <a:spLocks xmlns:a="http://schemas.openxmlformats.org/drawingml/2006/main" noGrp="1"/>
          </p:cNvSpPr>
          <p:nvPr/>
        </p:nvSpPr>
        <p:spPr>
          <a:xfrm xmlns:a="http://schemas.openxmlformats.org/drawingml/2006/main">
            <a:off x="8553450" y="2486025"/>
            <a:ext cx="400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950" b="1">
                <a:solidFill>
                  <a:srgbClr val="D9A441"/>
                </a:solidFill>
              </a:defRPr>
            </a:pPr>
            <a:r>
              <a:rPr sz="1950" b="1">
                <a:solidFill>
                  <a:srgbClr val="D9A441"/>
                </a:solidFill>
              </a:rPr>
              <a:t>→</a:t>
            </a:r>
          </a:p>
        </p:txBody>
      </p:sp>
      <p:sp>
        <p:nvSpPr>
          <p:cNvPr id="17" name="">
            <a:extLst xmlns:a="http://schemas.openxmlformats.org/drawingml/2006/main">
              <a:ext uri="{FF2B5EF4-FFF2-40B4-BE49-F238E27FC236}">
                <a16:creationId xmlns:a16="http://schemas.microsoft.com/office/drawing/2014/main" id="{E876AA1B-EB98-435F-AA5A-5499B833BB91}"/>
              </a:ext>
            </a:extLst>
          </p:cNvPr>
          <p:cNvSpPr>
            <a:spLocks xmlns:a="http://schemas.openxmlformats.org/drawingml/2006/main" noGrp="1"/>
          </p:cNvSpPr>
          <p:nvPr/>
        </p:nvSpPr>
        <p:spPr>
          <a:xfrm xmlns:a="http://schemas.openxmlformats.org/drawingml/2006/main">
            <a:off x="9010650" y="2333625"/>
            <a:ext cx="2266950" cy="742950"/>
          </a:xfrm>
          <a:prstGeom xmlns:a="http://schemas.openxmlformats.org/drawingml/2006/main" prst="roundRect">
            <a:avLst>
              <a:gd name="adj" fmla="val 10256"/>
            </a:avLst>
          </a:prstGeom>
          <a:solidFill xmlns:a="http://schemas.openxmlformats.org/drawingml/2006/main">
            <a:srgbClr val="0D2A43"/>
          </a:solidFill>
          <a:ln xmlns:a="http://schemas.openxmlformats.org/drawingml/2006/main" w="9525">
            <a:solidFill>
              <a:srgbClr val="22B8A7"/>
            </a:solidFill>
            <a:prstDash val="solid"/>
          </a:ln>
        </p:spPr>
      </p:sp>
      <p:sp>
        <p:nvSpPr>
          <p:cNvPr id="18" name="">
            <a:extLst xmlns:a="http://schemas.openxmlformats.org/drawingml/2006/main">
              <a:ext uri="{FF2B5EF4-FFF2-40B4-BE49-F238E27FC236}">
                <a16:creationId xmlns:a16="http://schemas.microsoft.com/office/drawing/2014/main" id="{065FAE3E-A38D-4515-93C7-3E09F8032E04}"/>
              </a:ext>
            </a:extLst>
          </p:cNvPr>
          <p:cNvSpPr>
            <a:spLocks xmlns:a="http://schemas.openxmlformats.org/drawingml/2006/main" noGrp="1"/>
          </p:cNvSpPr>
          <p:nvPr/>
        </p:nvSpPr>
        <p:spPr>
          <a:xfrm xmlns:a="http://schemas.openxmlformats.org/drawingml/2006/main">
            <a:off x="9086850" y="2447925"/>
            <a:ext cx="2114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Output</a:t>
            </a:r>
          </a:p>
        </p:txBody>
      </p:sp>
      <p:sp>
        <p:nvSpPr>
          <p:cNvPr id="19" name="">
            <a:extLst xmlns:a="http://schemas.openxmlformats.org/drawingml/2006/main">
              <a:ext uri="{FF2B5EF4-FFF2-40B4-BE49-F238E27FC236}">
                <a16:creationId xmlns:a16="http://schemas.microsoft.com/office/drawing/2014/main" id="{4F17AC2E-E4D4-4B29-B9E1-89DF32389714}"/>
              </a:ext>
            </a:extLst>
          </p:cNvPr>
          <p:cNvSpPr>
            <a:spLocks xmlns:a="http://schemas.openxmlformats.org/drawingml/2006/main" noGrp="1"/>
          </p:cNvSpPr>
          <p:nvPr/>
        </p:nvSpPr>
        <p:spPr>
          <a:xfrm xmlns:a="http://schemas.openxmlformats.org/drawingml/2006/main">
            <a:off x="666750" y="3762375"/>
            <a:ext cx="2266950" cy="742950"/>
          </a:xfrm>
          <a:prstGeom xmlns:a="http://schemas.openxmlformats.org/drawingml/2006/main" prst="roundRect">
            <a:avLst>
              <a:gd name="adj" fmla="val 10256"/>
            </a:avLst>
          </a:prstGeom>
          <a:solidFill xmlns:a="http://schemas.openxmlformats.org/drawingml/2006/main">
            <a:srgbClr val="154D57"/>
          </a:solidFill>
          <a:ln xmlns:a="http://schemas.openxmlformats.org/drawingml/2006/main" w="9525">
            <a:solidFill>
              <a:srgbClr val="D9A441"/>
            </a:solidFill>
            <a:prstDash val="solid"/>
          </a:ln>
        </p:spPr>
      </p:sp>
      <p:sp>
        <p:nvSpPr>
          <p:cNvPr id="20" name="">
            <a:extLst xmlns:a="http://schemas.openxmlformats.org/drawingml/2006/main">
              <a:ext uri="{FF2B5EF4-FFF2-40B4-BE49-F238E27FC236}">
                <a16:creationId xmlns:a16="http://schemas.microsoft.com/office/drawing/2014/main" id="{1E1E0141-14FA-4894-9FFA-79CD6DB10E0D}"/>
              </a:ext>
            </a:extLst>
          </p:cNvPr>
          <p:cNvSpPr>
            <a:spLocks xmlns:a="http://schemas.openxmlformats.org/drawingml/2006/main" noGrp="1"/>
          </p:cNvSpPr>
          <p:nvPr/>
        </p:nvSpPr>
        <p:spPr>
          <a:xfrm xmlns:a="http://schemas.openxmlformats.org/drawingml/2006/main">
            <a:off x="742950" y="3876675"/>
            <a:ext cx="2114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Columns</a:t>
            </a:r>
          </a:p>
        </p:txBody>
      </p:sp>
      <p:sp>
        <p:nvSpPr>
          <p:cNvPr id="21" name="">
            <a:extLst xmlns:a="http://schemas.openxmlformats.org/drawingml/2006/main">
              <a:ext uri="{FF2B5EF4-FFF2-40B4-BE49-F238E27FC236}">
                <a16:creationId xmlns:a16="http://schemas.microsoft.com/office/drawing/2014/main" id="{8E7BCC41-C2BD-4B4C-908A-FCA6AAE2B700}"/>
              </a:ext>
            </a:extLst>
          </p:cNvPr>
          <p:cNvSpPr>
            <a:spLocks xmlns:a="http://schemas.openxmlformats.org/drawingml/2006/main" noGrp="1"/>
          </p:cNvSpPr>
          <p:nvPr/>
        </p:nvSpPr>
        <p:spPr>
          <a:xfrm xmlns:a="http://schemas.openxmlformats.org/drawingml/2006/main">
            <a:off x="2990850" y="3914775"/>
            <a:ext cx="400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950" b="1">
                <a:solidFill>
                  <a:srgbClr val="D9A441"/>
                </a:solidFill>
              </a:defRPr>
            </a:pPr>
            <a:r>
              <a:rPr sz="1950" b="1">
                <a:solidFill>
                  <a:srgbClr val="D9A441"/>
                </a:solidFill>
              </a:rPr>
              <a:t>→</a:t>
            </a:r>
          </a:p>
        </p:txBody>
      </p:sp>
      <p:sp>
        <p:nvSpPr>
          <p:cNvPr id="22" name="">
            <a:extLst xmlns:a="http://schemas.openxmlformats.org/drawingml/2006/main">
              <a:ext uri="{FF2B5EF4-FFF2-40B4-BE49-F238E27FC236}">
                <a16:creationId xmlns:a16="http://schemas.microsoft.com/office/drawing/2014/main" id="{A531076C-4E75-4F81-94EF-F3CE8276BFBA}"/>
              </a:ext>
            </a:extLst>
          </p:cNvPr>
          <p:cNvSpPr>
            <a:spLocks xmlns:a="http://schemas.openxmlformats.org/drawingml/2006/main" noGrp="1"/>
          </p:cNvSpPr>
          <p:nvPr/>
        </p:nvSpPr>
        <p:spPr>
          <a:xfrm xmlns:a="http://schemas.openxmlformats.org/drawingml/2006/main">
            <a:off x="3448050" y="3762375"/>
            <a:ext cx="2266950" cy="742950"/>
          </a:xfrm>
          <a:prstGeom xmlns:a="http://schemas.openxmlformats.org/drawingml/2006/main" prst="roundRect">
            <a:avLst>
              <a:gd name="adj" fmla="val 10256"/>
            </a:avLst>
          </a:prstGeom>
          <a:solidFill xmlns:a="http://schemas.openxmlformats.org/drawingml/2006/main">
            <a:srgbClr val="0D2A43"/>
          </a:solidFill>
          <a:ln xmlns:a="http://schemas.openxmlformats.org/drawingml/2006/main" w="9525">
            <a:solidFill>
              <a:srgbClr val="22B8A7"/>
            </a:solidFill>
            <a:prstDash val="solid"/>
          </a:ln>
        </p:spPr>
      </p:sp>
      <p:sp>
        <p:nvSpPr>
          <p:cNvPr id="23" name="">
            <a:extLst xmlns:a="http://schemas.openxmlformats.org/drawingml/2006/main">
              <a:ext uri="{FF2B5EF4-FFF2-40B4-BE49-F238E27FC236}">
                <a16:creationId xmlns:a16="http://schemas.microsoft.com/office/drawing/2014/main" id="{6F8A7849-0142-40B4-90E7-7A1A758A9269}"/>
              </a:ext>
            </a:extLst>
          </p:cNvPr>
          <p:cNvSpPr>
            <a:spLocks xmlns:a="http://schemas.openxmlformats.org/drawingml/2006/main" noGrp="1"/>
          </p:cNvSpPr>
          <p:nvPr/>
        </p:nvSpPr>
        <p:spPr>
          <a:xfrm xmlns:a="http://schemas.openxmlformats.org/drawingml/2006/main">
            <a:off x="3524250" y="3876675"/>
            <a:ext cx="2114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Weights</a:t>
            </a:r>
          </a:p>
        </p:txBody>
      </p:sp>
      <p:sp>
        <p:nvSpPr>
          <p:cNvPr id="24" name="">
            <a:extLst xmlns:a="http://schemas.openxmlformats.org/drawingml/2006/main">
              <a:ext uri="{FF2B5EF4-FFF2-40B4-BE49-F238E27FC236}">
                <a16:creationId xmlns:a16="http://schemas.microsoft.com/office/drawing/2014/main" id="{5E9A512D-1DF0-45F4-95A4-D5AEEB087CF0}"/>
              </a:ext>
            </a:extLst>
          </p:cNvPr>
          <p:cNvSpPr>
            <a:spLocks xmlns:a="http://schemas.openxmlformats.org/drawingml/2006/main" noGrp="1"/>
          </p:cNvSpPr>
          <p:nvPr/>
        </p:nvSpPr>
        <p:spPr>
          <a:xfrm xmlns:a="http://schemas.openxmlformats.org/drawingml/2006/main">
            <a:off x="5772150" y="3914775"/>
            <a:ext cx="400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950" b="1">
                <a:solidFill>
                  <a:srgbClr val="D9A441"/>
                </a:solidFill>
              </a:defRPr>
            </a:pPr>
            <a:r>
              <a:rPr sz="1950" b="1">
                <a:solidFill>
                  <a:srgbClr val="D9A441"/>
                </a:solidFill>
              </a:rPr>
              <a:t>→</a:t>
            </a:r>
          </a:p>
        </p:txBody>
      </p:sp>
      <p:sp>
        <p:nvSpPr>
          <p:cNvPr id="25" name="">
            <a:extLst xmlns:a="http://schemas.openxmlformats.org/drawingml/2006/main">
              <a:ext uri="{FF2B5EF4-FFF2-40B4-BE49-F238E27FC236}">
                <a16:creationId xmlns:a16="http://schemas.microsoft.com/office/drawing/2014/main" id="{2ADCDFB6-A2BF-4895-AE95-26E9A4920D07}"/>
              </a:ext>
            </a:extLst>
          </p:cNvPr>
          <p:cNvSpPr>
            <a:spLocks xmlns:a="http://schemas.openxmlformats.org/drawingml/2006/main" noGrp="1"/>
          </p:cNvSpPr>
          <p:nvPr/>
        </p:nvSpPr>
        <p:spPr>
          <a:xfrm xmlns:a="http://schemas.openxmlformats.org/drawingml/2006/main">
            <a:off x="6229350" y="3762375"/>
            <a:ext cx="2266950" cy="742950"/>
          </a:xfrm>
          <a:prstGeom xmlns:a="http://schemas.openxmlformats.org/drawingml/2006/main" prst="roundRect">
            <a:avLst>
              <a:gd name="adj" fmla="val 10256"/>
            </a:avLst>
          </a:prstGeom>
          <a:solidFill xmlns:a="http://schemas.openxmlformats.org/drawingml/2006/main">
            <a:srgbClr val="0D2A43"/>
          </a:solidFill>
          <a:ln xmlns:a="http://schemas.openxmlformats.org/drawingml/2006/main" w="9525">
            <a:solidFill>
              <a:srgbClr val="22B8A7"/>
            </a:solidFill>
            <a:prstDash val="solid"/>
          </a:ln>
        </p:spPr>
      </p:sp>
      <p:sp>
        <p:nvSpPr>
          <p:cNvPr id="26" name="">
            <a:extLst xmlns:a="http://schemas.openxmlformats.org/drawingml/2006/main">
              <a:ext uri="{FF2B5EF4-FFF2-40B4-BE49-F238E27FC236}">
                <a16:creationId xmlns:a16="http://schemas.microsoft.com/office/drawing/2014/main" id="{033C7C86-F6D9-44D0-8E1D-97BF21683B9A}"/>
              </a:ext>
            </a:extLst>
          </p:cNvPr>
          <p:cNvSpPr>
            <a:spLocks xmlns:a="http://schemas.openxmlformats.org/drawingml/2006/main" noGrp="1"/>
          </p:cNvSpPr>
          <p:nvPr/>
        </p:nvSpPr>
        <p:spPr>
          <a:xfrm xmlns:a="http://schemas.openxmlformats.org/drawingml/2006/main">
            <a:off x="6305550" y="3876675"/>
            <a:ext cx="2114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Row sums</a:t>
            </a:r>
          </a:p>
        </p:txBody>
      </p:sp>
      <p:sp>
        <p:nvSpPr>
          <p:cNvPr id="27" name="">
            <a:extLst xmlns:a="http://schemas.openxmlformats.org/drawingml/2006/main">
              <a:ext uri="{FF2B5EF4-FFF2-40B4-BE49-F238E27FC236}">
                <a16:creationId xmlns:a16="http://schemas.microsoft.com/office/drawing/2014/main" id="{CEBA2F1B-7E2D-4C72-B45B-F7FA0C4AB3E3}"/>
              </a:ext>
            </a:extLst>
          </p:cNvPr>
          <p:cNvSpPr>
            <a:spLocks xmlns:a="http://schemas.openxmlformats.org/drawingml/2006/main" noGrp="1"/>
          </p:cNvSpPr>
          <p:nvPr/>
        </p:nvSpPr>
        <p:spPr>
          <a:xfrm xmlns:a="http://schemas.openxmlformats.org/drawingml/2006/main">
            <a:off x="8553450" y="3914775"/>
            <a:ext cx="400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950" b="1">
                <a:solidFill>
                  <a:srgbClr val="D9A441"/>
                </a:solidFill>
              </a:defRPr>
            </a:pPr>
            <a:r>
              <a:rPr sz="1950" b="1">
                <a:solidFill>
                  <a:srgbClr val="D9A441"/>
                </a:solidFill>
              </a:rPr>
              <a:t>→</a:t>
            </a:r>
          </a:p>
        </p:txBody>
      </p:sp>
      <p:sp>
        <p:nvSpPr>
          <p:cNvPr id="28" name="">
            <a:extLst xmlns:a="http://schemas.openxmlformats.org/drawingml/2006/main">
              <a:ext uri="{FF2B5EF4-FFF2-40B4-BE49-F238E27FC236}">
                <a16:creationId xmlns:a16="http://schemas.microsoft.com/office/drawing/2014/main" id="{89F99DB6-9071-44FA-9471-407DB7A1B63F}"/>
              </a:ext>
            </a:extLst>
          </p:cNvPr>
          <p:cNvSpPr>
            <a:spLocks xmlns:a="http://schemas.openxmlformats.org/drawingml/2006/main" noGrp="1"/>
          </p:cNvSpPr>
          <p:nvPr/>
        </p:nvSpPr>
        <p:spPr>
          <a:xfrm xmlns:a="http://schemas.openxmlformats.org/drawingml/2006/main">
            <a:off x="9010650" y="3762375"/>
            <a:ext cx="2266950" cy="742950"/>
          </a:xfrm>
          <a:prstGeom xmlns:a="http://schemas.openxmlformats.org/drawingml/2006/main" prst="roundRect">
            <a:avLst>
              <a:gd name="adj" fmla="val 10256"/>
            </a:avLst>
          </a:prstGeom>
          <a:solidFill xmlns:a="http://schemas.openxmlformats.org/drawingml/2006/main">
            <a:srgbClr val="0D2A43"/>
          </a:solidFill>
          <a:ln xmlns:a="http://schemas.openxmlformats.org/drawingml/2006/main" w="9525">
            <a:solidFill>
              <a:srgbClr val="22B8A7"/>
            </a:solidFill>
            <a:prstDash val="solid"/>
          </a:ln>
        </p:spPr>
      </p:sp>
      <p:sp>
        <p:nvSpPr>
          <p:cNvPr id="29" name="">
            <a:extLst xmlns:a="http://schemas.openxmlformats.org/drawingml/2006/main">
              <a:ext uri="{FF2B5EF4-FFF2-40B4-BE49-F238E27FC236}">
                <a16:creationId xmlns:a16="http://schemas.microsoft.com/office/drawing/2014/main" id="{CB9AED29-A8F3-46A5-8F0C-DF342B17433D}"/>
              </a:ext>
            </a:extLst>
          </p:cNvPr>
          <p:cNvSpPr>
            <a:spLocks xmlns:a="http://schemas.openxmlformats.org/drawingml/2006/main" noGrp="1"/>
          </p:cNvSpPr>
          <p:nvPr/>
        </p:nvSpPr>
        <p:spPr>
          <a:xfrm xmlns:a="http://schemas.openxmlformats.org/drawingml/2006/main">
            <a:off x="9086850" y="3876675"/>
            <a:ext cx="2114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Meaning</a:t>
            </a:r>
          </a:p>
        </p:txBody>
      </p:sp>
      <p:sp>
        <p:nvSpPr>
          <p:cNvPr id="30" name="">
            <a:extLst xmlns:a="http://schemas.openxmlformats.org/drawingml/2006/main">
              <a:ext uri="{FF2B5EF4-FFF2-40B4-BE49-F238E27FC236}">
                <a16:creationId xmlns:a16="http://schemas.microsoft.com/office/drawing/2014/main" id="{2E586133-C59C-497B-8D2B-A084446F2E34}"/>
              </a:ext>
            </a:extLst>
          </p:cNvPr>
          <p:cNvSpPr>
            <a:spLocks xmlns:a="http://schemas.openxmlformats.org/drawingml/2006/main" noGrp="1"/>
          </p:cNvSpPr>
          <p:nvPr/>
        </p:nvSpPr>
        <p:spPr>
          <a:xfrm xmlns:a="http://schemas.openxmlformats.org/drawingml/2006/main">
            <a:off x="809625" y="53625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75" b="1">
                <a:solidFill>
                  <a:srgbClr val="D9A441"/>
                </a:solidFill>
              </a:defRPr>
            </a:pPr>
            <a:r>
              <a:rPr sz="1875" b="1">
                <a:solidFill>
                  <a:srgbClr val="D9A441"/>
                </a:solidFill>
              </a:rPr>
              <a:t>Order matters: in general, AB ≠ BA.</a:t>
            </a:r>
          </a:p>
        </p:txBody>
      </p:sp>
    </p:spTree>
    <p:extLst>
      <p:ext uri="{BB962C8B-B14F-4D97-AF65-F5344CB8AC3E}">
        <p14:creationId xmlns:p14="http://schemas.microsoft.com/office/powerpoint/2010/main" val="482950221"/>
      </p:ext>
    </p:extLst>
  </p:cSld>
</p:sld>
</file>

<file path=ppt/slides/slide5.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3F4EE0BB-73EE-46DE-A299-71E06B1C41DE}"/>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529FEF9-6575-4667-89A4-FD946265ECD5}"/>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8821F87F-4F76-4DC9-A745-2D95FC1C766B}"/>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LINEAR SYSTEMS</a:t>
            </a:r>
          </a:p>
        </p:txBody>
      </p:sp>
      <p:sp>
        <p:nvSpPr>
          <p:cNvPr id="4" name="">
            <a:extLst xmlns:a="http://schemas.openxmlformats.org/drawingml/2006/main">
              <a:ext uri="{FF2B5EF4-FFF2-40B4-BE49-F238E27FC236}">
                <a16:creationId xmlns:a16="http://schemas.microsoft.com/office/drawing/2014/main" id="{D986A8C8-F336-4478-8321-F2CBD116E696}"/>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05</a:t>
            </a:r>
          </a:p>
        </p:txBody>
      </p:sp>
      <p:sp>
        <p:nvSpPr>
          <p:cNvPr id="5" name="">
            <a:extLst xmlns:a="http://schemas.openxmlformats.org/drawingml/2006/main">
              <a:ext uri="{FF2B5EF4-FFF2-40B4-BE49-F238E27FC236}">
                <a16:creationId xmlns:a16="http://schemas.microsoft.com/office/drawing/2014/main" id="{BF995346-73B0-41A1-A0A9-8E6E5DAE96E4}"/>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7AD37A30-E55C-45D9-AD4C-9EE534D6A167}"/>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A linear system collects linked constraints.</a:t>
            </a:r>
          </a:p>
        </p:txBody>
      </p:sp>
      <p:sp>
        <p:nvSpPr>
          <p:cNvPr id="7" name="">
            <a:extLst xmlns:a="http://schemas.openxmlformats.org/drawingml/2006/main">
              <a:ext uri="{FF2B5EF4-FFF2-40B4-BE49-F238E27FC236}">
                <a16:creationId xmlns:a16="http://schemas.microsoft.com/office/drawing/2014/main" id="{ABBD21CB-5BFD-4278-882A-2174D5BDB3E7}"/>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Read A x = b as a structured relationship before treating it as a computation.</a:t>
            </a:r>
          </a:p>
        </p:txBody>
      </p:sp>
      <p:sp>
        <p:nvSpPr>
          <p:cNvPr id="8" name="">
            <a:extLst xmlns:a="http://schemas.openxmlformats.org/drawingml/2006/main">
              <a:ext uri="{FF2B5EF4-FFF2-40B4-BE49-F238E27FC236}">
                <a16:creationId xmlns:a16="http://schemas.microsoft.com/office/drawing/2014/main" id="{91FED8EC-7A17-4EE0-A299-C713DAB54A95}"/>
              </a:ext>
            </a:extLst>
          </p:cNvPr>
          <p:cNvSpPr>
            <a:spLocks xmlns:a="http://schemas.openxmlformats.org/drawingml/2006/main" noGrp="1"/>
          </p:cNvSpPr>
          <p:nvPr/>
        </p:nvSpPr>
        <p:spPr>
          <a:xfrm xmlns:a="http://schemas.openxmlformats.org/drawingml/2006/main">
            <a:off x="590550" y="2381250"/>
            <a:ext cx="2000250" cy="1752600"/>
          </a:xfrm>
          <a:prstGeom xmlns:a="http://schemas.openxmlformats.org/drawingml/2006/main" prst="roundRect">
            <a:avLst>
              <a:gd name="adj" fmla="val 4348"/>
            </a:avLst>
          </a:prstGeom>
          <a:solidFill xmlns:a="http://schemas.openxmlformats.org/drawingml/2006/main">
            <a:srgbClr val="154D57"/>
          </a:solidFill>
          <a:ln xmlns:a="http://schemas.openxmlformats.org/drawingml/2006/main" w="9525">
            <a:solidFill>
              <a:srgbClr val="22B8A7"/>
            </a:solidFill>
            <a:prstDash val="solid"/>
          </a:ln>
        </p:spPr>
      </p:sp>
      <p:sp>
        <p:nvSpPr>
          <p:cNvPr id="9" name="">
            <a:extLst xmlns:a="http://schemas.openxmlformats.org/drawingml/2006/main">
              <a:ext uri="{FF2B5EF4-FFF2-40B4-BE49-F238E27FC236}">
                <a16:creationId xmlns:a16="http://schemas.microsoft.com/office/drawing/2014/main" id="{B0F42EE9-47E3-4292-A0F3-0D4321216333}"/>
              </a:ext>
            </a:extLst>
          </p:cNvPr>
          <p:cNvSpPr>
            <a:spLocks xmlns:a="http://schemas.openxmlformats.org/drawingml/2006/main" noGrp="1"/>
          </p:cNvSpPr>
          <p:nvPr/>
        </p:nvSpPr>
        <p:spPr>
          <a:xfrm xmlns:a="http://schemas.openxmlformats.org/drawingml/2006/main">
            <a:off x="828675" y="2571750"/>
            <a:ext cx="152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D9A441"/>
                </a:solidFill>
              </a:defRPr>
            </a:pPr>
            <a:r>
              <a:rPr sz="2550" b="1">
                <a:solidFill>
                  <a:srgbClr val="D9A441"/>
                </a:solidFill>
              </a:rPr>
              <a:t>A</a:t>
            </a:r>
          </a:p>
        </p:txBody>
      </p:sp>
      <p:sp>
        <p:nvSpPr>
          <p:cNvPr id="10" name="">
            <a:extLst xmlns:a="http://schemas.openxmlformats.org/drawingml/2006/main">
              <a:ext uri="{FF2B5EF4-FFF2-40B4-BE49-F238E27FC236}">
                <a16:creationId xmlns:a16="http://schemas.microsoft.com/office/drawing/2014/main" id="{2EF93A45-6DD7-4665-B590-AD2F0A63C0B2}"/>
              </a:ext>
            </a:extLst>
          </p:cNvPr>
          <p:cNvSpPr>
            <a:spLocks xmlns:a="http://schemas.openxmlformats.org/drawingml/2006/main" noGrp="1"/>
          </p:cNvSpPr>
          <p:nvPr/>
        </p:nvSpPr>
        <p:spPr>
          <a:xfrm xmlns:a="http://schemas.openxmlformats.org/drawingml/2006/main">
            <a:off x="781050" y="3381375"/>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F7F2E8"/>
                </a:solidFill>
              </a:defRPr>
            </a:pPr>
            <a:r>
              <a:rPr sz="1350" b="1">
                <a:solidFill>
                  <a:srgbClr val="F7F2E8"/>
                </a:solidFill>
              </a:rPr>
              <a:t>Relationships</a:t>
            </a:r>
          </a:p>
        </p:txBody>
      </p:sp>
      <p:sp>
        <p:nvSpPr>
          <p:cNvPr id="11" name="">
            <a:extLst xmlns:a="http://schemas.openxmlformats.org/drawingml/2006/main">
              <a:ext uri="{FF2B5EF4-FFF2-40B4-BE49-F238E27FC236}">
                <a16:creationId xmlns:a16="http://schemas.microsoft.com/office/drawing/2014/main" id="{09C25C01-F85A-4738-9F3F-1950F03B2F89}"/>
              </a:ext>
            </a:extLst>
          </p:cNvPr>
          <p:cNvSpPr>
            <a:spLocks xmlns:a="http://schemas.openxmlformats.org/drawingml/2006/main" noGrp="1"/>
          </p:cNvSpPr>
          <p:nvPr/>
        </p:nvSpPr>
        <p:spPr>
          <a:xfrm xmlns:a="http://schemas.openxmlformats.org/drawingml/2006/main">
            <a:off x="2838450" y="2381250"/>
            <a:ext cx="2000250" cy="1752600"/>
          </a:xfrm>
          <a:prstGeom xmlns:a="http://schemas.openxmlformats.org/drawingml/2006/main" prst="roundRect">
            <a:avLst>
              <a:gd name="adj" fmla="val 4348"/>
            </a:avLst>
          </a:prstGeom>
          <a:solidFill xmlns:a="http://schemas.openxmlformats.org/drawingml/2006/main">
            <a:srgbClr val="0D2A43"/>
          </a:solidFill>
          <a:ln xmlns:a="http://schemas.openxmlformats.org/drawingml/2006/main" w="9525">
            <a:solidFill>
              <a:srgbClr val="22B8A7"/>
            </a:solidFill>
            <a:prstDash val="solid"/>
          </a:ln>
        </p:spPr>
      </p:sp>
      <p:sp>
        <p:nvSpPr>
          <p:cNvPr id="12" name="">
            <a:extLst xmlns:a="http://schemas.openxmlformats.org/drawingml/2006/main">
              <a:ext uri="{FF2B5EF4-FFF2-40B4-BE49-F238E27FC236}">
                <a16:creationId xmlns:a16="http://schemas.microsoft.com/office/drawing/2014/main" id="{4A5835A8-8A0F-40A2-A651-D330E3134D3A}"/>
              </a:ext>
            </a:extLst>
          </p:cNvPr>
          <p:cNvSpPr>
            <a:spLocks xmlns:a="http://schemas.openxmlformats.org/drawingml/2006/main" noGrp="1"/>
          </p:cNvSpPr>
          <p:nvPr/>
        </p:nvSpPr>
        <p:spPr>
          <a:xfrm xmlns:a="http://schemas.openxmlformats.org/drawingml/2006/main">
            <a:off x="3076575" y="2571750"/>
            <a:ext cx="152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79D7CC"/>
                </a:solidFill>
              </a:defRPr>
            </a:pPr>
            <a:r>
              <a:rPr sz="2550" b="1">
                <a:solidFill>
                  <a:srgbClr val="79D7CC"/>
                </a:solidFill>
              </a:rPr>
              <a:t>x</a:t>
            </a:r>
          </a:p>
        </p:txBody>
      </p:sp>
      <p:sp>
        <p:nvSpPr>
          <p:cNvPr id="13" name="">
            <a:extLst xmlns:a="http://schemas.openxmlformats.org/drawingml/2006/main">
              <a:ext uri="{FF2B5EF4-FFF2-40B4-BE49-F238E27FC236}">
                <a16:creationId xmlns:a16="http://schemas.microsoft.com/office/drawing/2014/main" id="{4B3F2516-24DE-430E-889A-2CC521DC46C3}"/>
              </a:ext>
            </a:extLst>
          </p:cNvPr>
          <p:cNvSpPr>
            <a:spLocks xmlns:a="http://schemas.openxmlformats.org/drawingml/2006/main" noGrp="1"/>
          </p:cNvSpPr>
          <p:nvPr/>
        </p:nvSpPr>
        <p:spPr>
          <a:xfrm xmlns:a="http://schemas.openxmlformats.org/drawingml/2006/main">
            <a:off x="3028950" y="3381375"/>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F7F2E8"/>
                </a:solidFill>
              </a:defRPr>
            </a:pPr>
            <a:r>
              <a:rPr sz="1350" b="1">
                <a:solidFill>
                  <a:srgbClr val="F7F2E8"/>
                </a:solidFill>
              </a:rPr>
              <a:t>Unknowns</a:t>
            </a:r>
          </a:p>
        </p:txBody>
      </p:sp>
      <p:sp>
        <p:nvSpPr>
          <p:cNvPr id="14" name="">
            <a:extLst xmlns:a="http://schemas.openxmlformats.org/drawingml/2006/main">
              <a:ext uri="{FF2B5EF4-FFF2-40B4-BE49-F238E27FC236}">
                <a16:creationId xmlns:a16="http://schemas.microsoft.com/office/drawing/2014/main" id="{283A7553-81C9-42C2-A171-83484BCA0F4E}"/>
              </a:ext>
            </a:extLst>
          </p:cNvPr>
          <p:cNvSpPr>
            <a:spLocks xmlns:a="http://schemas.openxmlformats.org/drawingml/2006/main" noGrp="1"/>
          </p:cNvSpPr>
          <p:nvPr/>
        </p:nvSpPr>
        <p:spPr>
          <a:xfrm xmlns:a="http://schemas.openxmlformats.org/drawingml/2006/main">
            <a:off x="5086350" y="2381250"/>
            <a:ext cx="2000250" cy="1752600"/>
          </a:xfrm>
          <a:prstGeom xmlns:a="http://schemas.openxmlformats.org/drawingml/2006/main" prst="roundRect">
            <a:avLst>
              <a:gd name="adj" fmla="val 4348"/>
            </a:avLst>
          </a:prstGeom>
          <a:solidFill xmlns:a="http://schemas.openxmlformats.org/drawingml/2006/main">
            <a:srgbClr val="0D2A43"/>
          </a:solidFill>
          <a:ln xmlns:a="http://schemas.openxmlformats.org/drawingml/2006/main" w="9525">
            <a:solidFill>
              <a:srgbClr val="22B8A7"/>
            </a:solidFill>
            <a:prstDash val="solid"/>
          </a:ln>
        </p:spPr>
      </p:sp>
      <p:sp>
        <p:nvSpPr>
          <p:cNvPr id="15" name="">
            <a:extLst xmlns:a="http://schemas.openxmlformats.org/drawingml/2006/main">
              <a:ext uri="{FF2B5EF4-FFF2-40B4-BE49-F238E27FC236}">
                <a16:creationId xmlns:a16="http://schemas.microsoft.com/office/drawing/2014/main" id="{BA551314-7306-459A-9E9F-F356B805C0CA}"/>
              </a:ext>
            </a:extLst>
          </p:cNvPr>
          <p:cNvSpPr>
            <a:spLocks xmlns:a="http://schemas.openxmlformats.org/drawingml/2006/main" noGrp="1"/>
          </p:cNvSpPr>
          <p:nvPr/>
        </p:nvSpPr>
        <p:spPr>
          <a:xfrm xmlns:a="http://schemas.openxmlformats.org/drawingml/2006/main">
            <a:off x="5324475" y="2571750"/>
            <a:ext cx="152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79D7CC"/>
                </a:solidFill>
              </a:defRPr>
            </a:pPr>
            <a:r>
              <a:rPr sz="2550" b="1">
                <a:solidFill>
                  <a:srgbClr val="79D7CC"/>
                </a:solidFill>
              </a:rPr>
              <a:t>b</a:t>
            </a:r>
          </a:p>
        </p:txBody>
      </p:sp>
      <p:sp>
        <p:nvSpPr>
          <p:cNvPr id="16" name="">
            <a:extLst xmlns:a="http://schemas.openxmlformats.org/drawingml/2006/main">
              <a:ext uri="{FF2B5EF4-FFF2-40B4-BE49-F238E27FC236}">
                <a16:creationId xmlns:a16="http://schemas.microsoft.com/office/drawing/2014/main" id="{35CFC3F9-3BB4-4F21-BB23-1C4E82FF72A0}"/>
              </a:ext>
            </a:extLst>
          </p:cNvPr>
          <p:cNvSpPr>
            <a:spLocks xmlns:a="http://schemas.openxmlformats.org/drawingml/2006/main" noGrp="1"/>
          </p:cNvSpPr>
          <p:nvPr/>
        </p:nvSpPr>
        <p:spPr>
          <a:xfrm xmlns:a="http://schemas.openxmlformats.org/drawingml/2006/main">
            <a:off x="5276850" y="3381375"/>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F7F2E8"/>
                </a:solidFill>
              </a:defRPr>
            </a:pPr>
            <a:r>
              <a:rPr sz="1350" b="1">
                <a:solidFill>
                  <a:srgbClr val="F7F2E8"/>
                </a:solidFill>
              </a:rPr>
              <a:t>Observed totals</a:t>
            </a:r>
          </a:p>
        </p:txBody>
      </p:sp>
      <p:sp>
        <p:nvSpPr>
          <p:cNvPr id="17" name="">
            <a:extLst xmlns:a="http://schemas.openxmlformats.org/drawingml/2006/main">
              <a:ext uri="{FF2B5EF4-FFF2-40B4-BE49-F238E27FC236}">
                <a16:creationId xmlns:a16="http://schemas.microsoft.com/office/drawing/2014/main" id="{B33BBFA4-56E4-419F-9F1F-79C4D9B6DC51}"/>
              </a:ext>
            </a:extLst>
          </p:cNvPr>
          <p:cNvSpPr>
            <a:spLocks xmlns:a="http://schemas.openxmlformats.org/drawingml/2006/main" noGrp="1"/>
          </p:cNvSpPr>
          <p:nvPr/>
        </p:nvSpPr>
        <p:spPr>
          <a:xfrm xmlns:a="http://schemas.openxmlformats.org/drawingml/2006/main">
            <a:off x="7334250" y="2381250"/>
            <a:ext cx="2000250" cy="1752600"/>
          </a:xfrm>
          <a:prstGeom xmlns:a="http://schemas.openxmlformats.org/drawingml/2006/main" prst="roundRect">
            <a:avLst>
              <a:gd name="adj" fmla="val 4348"/>
            </a:avLst>
          </a:prstGeom>
          <a:solidFill xmlns:a="http://schemas.openxmlformats.org/drawingml/2006/main">
            <a:srgbClr val="0D2A43"/>
          </a:solidFill>
          <a:ln xmlns:a="http://schemas.openxmlformats.org/drawingml/2006/main" w="9525">
            <a:solidFill>
              <a:srgbClr val="22B8A7"/>
            </a:solidFill>
            <a:prstDash val="solid"/>
          </a:ln>
        </p:spPr>
      </p:sp>
      <p:sp>
        <p:nvSpPr>
          <p:cNvPr id="18" name="">
            <a:extLst xmlns:a="http://schemas.openxmlformats.org/drawingml/2006/main">
              <a:ext uri="{FF2B5EF4-FFF2-40B4-BE49-F238E27FC236}">
                <a16:creationId xmlns:a16="http://schemas.microsoft.com/office/drawing/2014/main" id="{ECE8844B-2C73-486D-B7BC-FB3F52644F6D}"/>
              </a:ext>
            </a:extLst>
          </p:cNvPr>
          <p:cNvSpPr>
            <a:spLocks xmlns:a="http://schemas.openxmlformats.org/drawingml/2006/main" noGrp="1"/>
          </p:cNvSpPr>
          <p:nvPr/>
        </p:nvSpPr>
        <p:spPr>
          <a:xfrm xmlns:a="http://schemas.openxmlformats.org/drawingml/2006/main">
            <a:off x="7572375" y="2571750"/>
            <a:ext cx="152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79D7CC"/>
                </a:solidFill>
              </a:defRPr>
            </a:pPr>
            <a:r>
              <a:rPr sz="2550" b="1">
                <a:solidFill>
                  <a:srgbClr val="79D7CC"/>
                </a:solidFill>
              </a:rPr>
              <a:t>RANK</a:t>
            </a:r>
          </a:p>
        </p:txBody>
      </p:sp>
      <p:sp>
        <p:nvSpPr>
          <p:cNvPr id="19" name="">
            <a:extLst xmlns:a="http://schemas.openxmlformats.org/drawingml/2006/main">
              <a:ext uri="{FF2B5EF4-FFF2-40B4-BE49-F238E27FC236}">
                <a16:creationId xmlns:a16="http://schemas.microsoft.com/office/drawing/2014/main" id="{D336A5B4-BBB7-45E6-882B-020364F4763A}"/>
              </a:ext>
            </a:extLst>
          </p:cNvPr>
          <p:cNvSpPr>
            <a:spLocks xmlns:a="http://schemas.openxmlformats.org/drawingml/2006/main" noGrp="1"/>
          </p:cNvSpPr>
          <p:nvPr/>
        </p:nvSpPr>
        <p:spPr>
          <a:xfrm xmlns:a="http://schemas.openxmlformats.org/drawingml/2006/main">
            <a:off x="7524750" y="3381375"/>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F7F2E8"/>
                </a:solidFill>
              </a:defRPr>
            </a:pPr>
            <a:r>
              <a:rPr sz="1350" b="1">
                <a:solidFill>
                  <a:srgbClr val="F7F2E8"/>
                </a:solidFill>
              </a:rPr>
              <a:t>Information</a:t>
            </a:r>
          </a:p>
        </p:txBody>
      </p:sp>
      <p:sp>
        <p:nvSpPr>
          <p:cNvPr id="20" name="">
            <a:extLst xmlns:a="http://schemas.openxmlformats.org/drawingml/2006/main">
              <a:ext uri="{FF2B5EF4-FFF2-40B4-BE49-F238E27FC236}">
                <a16:creationId xmlns:a16="http://schemas.microsoft.com/office/drawing/2014/main" id="{241FFF2D-3AF5-4304-840B-2CD2896C73C3}"/>
              </a:ext>
            </a:extLst>
          </p:cNvPr>
          <p:cNvSpPr>
            <a:spLocks xmlns:a="http://schemas.openxmlformats.org/drawingml/2006/main" noGrp="1"/>
          </p:cNvSpPr>
          <p:nvPr/>
        </p:nvSpPr>
        <p:spPr>
          <a:xfrm xmlns:a="http://schemas.openxmlformats.org/drawingml/2006/main">
            <a:off x="9582150" y="2381250"/>
            <a:ext cx="2000250" cy="1752600"/>
          </a:xfrm>
          <a:prstGeom xmlns:a="http://schemas.openxmlformats.org/drawingml/2006/main" prst="roundRect">
            <a:avLst>
              <a:gd name="adj" fmla="val 4348"/>
            </a:avLst>
          </a:prstGeom>
          <a:solidFill xmlns:a="http://schemas.openxmlformats.org/drawingml/2006/main">
            <a:srgbClr val="0D2A43"/>
          </a:solidFill>
          <a:ln xmlns:a="http://schemas.openxmlformats.org/drawingml/2006/main" w="9525">
            <a:solidFill>
              <a:srgbClr val="22B8A7"/>
            </a:solidFill>
            <a:prstDash val="solid"/>
          </a:ln>
        </p:spPr>
      </p:sp>
      <p:sp>
        <p:nvSpPr>
          <p:cNvPr id="21" name="">
            <a:extLst xmlns:a="http://schemas.openxmlformats.org/drawingml/2006/main">
              <a:ext uri="{FF2B5EF4-FFF2-40B4-BE49-F238E27FC236}">
                <a16:creationId xmlns:a16="http://schemas.microsoft.com/office/drawing/2014/main" id="{BB6039F4-CA0F-4D5D-9BE1-131337644650}"/>
              </a:ext>
            </a:extLst>
          </p:cNvPr>
          <p:cNvSpPr>
            <a:spLocks xmlns:a="http://schemas.openxmlformats.org/drawingml/2006/main" noGrp="1"/>
          </p:cNvSpPr>
          <p:nvPr/>
        </p:nvSpPr>
        <p:spPr>
          <a:xfrm xmlns:a="http://schemas.openxmlformats.org/drawingml/2006/main">
            <a:off x="9820275" y="2571750"/>
            <a:ext cx="152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79D7CC"/>
                </a:solidFill>
              </a:defRPr>
            </a:pPr>
            <a:r>
              <a:rPr sz="2550" b="1">
                <a:solidFill>
                  <a:srgbClr val="79D7CC"/>
                </a:solidFill>
              </a:rPr>
              <a:t>RES</a:t>
            </a:r>
          </a:p>
        </p:txBody>
      </p:sp>
      <p:sp>
        <p:nvSpPr>
          <p:cNvPr id="22" name="">
            <a:extLst xmlns:a="http://schemas.openxmlformats.org/drawingml/2006/main">
              <a:ext uri="{FF2B5EF4-FFF2-40B4-BE49-F238E27FC236}">
                <a16:creationId xmlns:a16="http://schemas.microsoft.com/office/drawing/2014/main" id="{89EB3FBB-6FC2-459C-95BA-F26DE9006FEA}"/>
              </a:ext>
            </a:extLst>
          </p:cNvPr>
          <p:cNvSpPr>
            <a:spLocks xmlns:a="http://schemas.openxmlformats.org/drawingml/2006/main" noGrp="1"/>
          </p:cNvSpPr>
          <p:nvPr/>
        </p:nvSpPr>
        <p:spPr>
          <a:xfrm xmlns:a="http://schemas.openxmlformats.org/drawingml/2006/main">
            <a:off x="9772650" y="3381375"/>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F7F2E8"/>
                </a:solidFill>
              </a:defRPr>
            </a:pPr>
            <a:r>
              <a:rPr sz="1350" b="1">
                <a:solidFill>
                  <a:srgbClr val="F7F2E8"/>
                </a:solidFill>
              </a:rPr>
              <a:t>Equation fit</a:t>
            </a:r>
          </a:p>
        </p:txBody>
      </p:sp>
      <p:sp>
        <p:nvSpPr>
          <p:cNvPr id="23" name="">
            <a:extLst xmlns:a="http://schemas.openxmlformats.org/drawingml/2006/main">
              <a:ext uri="{FF2B5EF4-FFF2-40B4-BE49-F238E27FC236}">
                <a16:creationId xmlns:a16="http://schemas.microsoft.com/office/drawing/2014/main" id="{CB0A92BB-F8A9-4D71-988D-7E12488E7E55}"/>
              </a:ext>
            </a:extLst>
          </p:cNvPr>
          <p:cNvSpPr>
            <a:spLocks xmlns:a="http://schemas.openxmlformats.org/drawingml/2006/main" noGrp="1"/>
          </p:cNvSpPr>
          <p:nvPr/>
        </p:nvSpPr>
        <p:spPr>
          <a:xfrm xmlns:a="http://schemas.openxmlformats.org/drawingml/2006/main">
            <a:off x="857250" y="491490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F7F2E8"/>
                </a:solidFill>
              </a:defRPr>
            </a:pPr>
            <a:r>
              <a:rPr sz="1725" b="1">
                <a:solidFill>
                  <a:srgbClr val="F7F2E8"/>
                </a:solidFill>
              </a:rPr>
              <a:t>A stable solve requires structure, diagnostics and interpretation.</a:t>
            </a:r>
          </a:p>
        </p:txBody>
      </p:sp>
    </p:spTree>
    <p:extLst>
      <p:ext uri="{BB962C8B-B14F-4D97-AF65-F5344CB8AC3E}">
        <p14:creationId xmlns:p14="http://schemas.microsoft.com/office/powerpoint/2010/main" val="1872338254"/>
      </p:ext>
    </p:extLst>
  </p:cSld>
</p:sld>
</file>

<file path=ppt/slides/slide6.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4BF762D-20C9-416A-B337-701314BCF888}"/>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BF205B5-B4FF-414F-953B-9E792EC3FB15}"/>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30203D9E-8465-4E85-B4A8-7C0FA3EDA481}"/>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WORKED EXAMPLE</a:t>
            </a:r>
          </a:p>
        </p:txBody>
      </p:sp>
      <p:sp>
        <p:nvSpPr>
          <p:cNvPr id="4" name="">
            <a:extLst xmlns:a="http://schemas.openxmlformats.org/drawingml/2006/main">
              <a:ext uri="{FF2B5EF4-FFF2-40B4-BE49-F238E27FC236}">
                <a16:creationId xmlns:a16="http://schemas.microsoft.com/office/drawing/2014/main" id="{2E312B6E-3BCA-4F74-8D6A-545BA060CBDD}"/>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06</a:t>
            </a:r>
          </a:p>
        </p:txBody>
      </p:sp>
      <p:sp>
        <p:nvSpPr>
          <p:cNvPr id="5" name="">
            <a:extLst xmlns:a="http://schemas.openxmlformats.org/drawingml/2006/main">
              <a:ext uri="{FF2B5EF4-FFF2-40B4-BE49-F238E27FC236}">
                <a16:creationId xmlns:a16="http://schemas.microsoft.com/office/drawing/2014/main" id="{78EDD98E-61FA-435F-804F-D600B7C7DBE0}"/>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F602BEA0-ADB1-4D1C-96D1-BF1FFA5AD85F}"/>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Solve a 2 × 2 allocation system with partial pivoting.</a:t>
            </a:r>
          </a:p>
        </p:txBody>
      </p:sp>
      <p:sp>
        <p:nvSpPr>
          <p:cNvPr id="7" name="">
            <a:extLst xmlns:a="http://schemas.openxmlformats.org/drawingml/2006/main">
              <a:ext uri="{FF2B5EF4-FFF2-40B4-BE49-F238E27FC236}">
                <a16:creationId xmlns:a16="http://schemas.microsoft.com/office/drawing/2014/main" id="{CB88A2DE-D31A-496B-8E47-A35F76728731}"/>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The equations encode two linked resource constraints.</a:t>
            </a:r>
          </a:p>
        </p:txBody>
      </p:sp>
      <p:sp>
        <p:nvSpPr>
          <p:cNvPr id="8" name="">
            <a:extLst xmlns:a="http://schemas.openxmlformats.org/drawingml/2006/main">
              <a:ext uri="{FF2B5EF4-FFF2-40B4-BE49-F238E27FC236}">
                <a16:creationId xmlns:a16="http://schemas.microsoft.com/office/drawing/2014/main" id="{A6C707D1-5975-4578-A9DD-13B9A06885CE}"/>
              </a:ext>
            </a:extLst>
          </p:cNvPr>
          <p:cNvSpPr>
            <a:spLocks xmlns:a="http://schemas.openxmlformats.org/drawingml/2006/main" noGrp="1"/>
          </p:cNvSpPr>
          <p:nvPr/>
        </p:nvSpPr>
        <p:spPr>
          <a:xfrm xmlns:a="http://schemas.openxmlformats.org/drawingml/2006/main">
            <a:off x="685800" y="2343150"/>
            <a:ext cx="4810125" cy="2333625"/>
          </a:xfrm>
          <a:prstGeom xmlns:a="http://schemas.openxmlformats.org/drawingml/2006/main" prst="roundRect">
            <a:avLst>
              <a:gd name="adj" fmla="val 3265"/>
            </a:avLst>
          </a:prstGeom>
          <a:solidFill xmlns:a="http://schemas.openxmlformats.org/drawingml/2006/main">
            <a:srgbClr val="F7F2E8"/>
          </a:solidFill>
          <a:ln xmlns:a="http://schemas.openxmlformats.org/drawingml/2006/main" w="9525">
            <a:solidFill>
              <a:srgbClr val="D9A441"/>
            </a:solidFill>
            <a:prstDash val="solid"/>
          </a:ln>
        </p:spPr>
      </p:sp>
      <p:sp>
        <p:nvSpPr>
          <p:cNvPr id="9" name="">
            <a:extLst xmlns:a="http://schemas.openxmlformats.org/drawingml/2006/main">
              <a:ext uri="{FF2B5EF4-FFF2-40B4-BE49-F238E27FC236}">
                <a16:creationId xmlns:a16="http://schemas.microsoft.com/office/drawing/2014/main" id="{972ECA85-1FFB-47D9-A9F7-B2727679D58C}"/>
              </a:ext>
            </a:extLst>
          </p:cNvPr>
          <p:cNvSpPr>
            <a:spLocks xmlns:a="http://schemas.openxmlformats.org/drawingml/2006/main" noGrp="1"/>
          </p:cNvSpPr>
          <p:nvPr/>
        </p:nvSpPr>
        <p:spPr>
          <a:xfrm xmlns:a="http://schemas.openxmlformats.org/drawingml/2006/main">
            <a:off x="952500" y="2647950"/>
            <a:ext cx="4286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150" b="1">
                <a:solidFill>
                  <a:srgbClr val="102436"/>
                </a:solidFill>
              </a:defRPr>
            </a:pPr>
            <a:r>
              <a:rPr sz="3150" b="1">
                <a:solidFill>
                  <a:srgbClr val="102436"/>
                </a:solidFill>
              </a:rPr>
              <a:t>2x + y = 100</a:t>
            </a:r>
          </a:p>
          <a:p xmlns:a="http://schemas.openxmlformats.org/drawingml/2006/main">
            <a:pPr algn="ctr">
              <a:buNone/>
              <a:defRPr sz="3150" b="1">
                <a:solidFill>
                  <a:srgbClr val="102436"/>
                </a:solidFill>
              </a:defRPr>
            </a:pPr>
            <a:r>
              <a:rPr sz="3150" b="1">
                <a:solidFill>
                  <a:srgbClr val="102436"/>
                </a:solidFill>
              </a:rPr>
              <a:t>x + 2y = 80</a:t>
            </a:r>
          </a:p>
        </p:txBody>
      </p:sp>
      <p:sp>
        <p:nvSpPr>
          <p:cNvPr id="10" name="">
            <a:extLst xmlns:a="http://schemas.openxmlformats.org/drawingml/2006/main">
              <a:ext uri="{FF2B5EF4-FFF2-40B4-BE49-F238E27FC236}">
                <a16:creationId xmlns:a16="http://schemas.microsoft.com/office/drawing/2014/main" id="{F8261175-3BFD-4B5E-995C-A8F9836230C2}"/>
              </a:ext>
            </a:extLst>
          </p:cNvPr>
          <p:cNvSpPr>
            <a:spLocks xmlns:a="http://schemas.openxmlformats.org/drawingml/2006/main" noGrp="1"/>
          </p:cNvSpPr>
          <p:nvPr/>
        </p:nvSpPr>
        <p:spPr>
          <a:xfrm xmlns:a="http://schemas.openxmlformats.org/drawingml/2006/main">
            <a:off x="1066800" y="365760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102436"/>
                </a:solidFill>
              </a:defRPr>
            </a:pPr>
            <a:r>
              <a:rPr sz="1650" b="1">
                <a:solidFill>
                  <a:srgbClr val="102436"/>
                </a:solidFill>
              </a:rPr>
              <a:t>A = [[2,1],[1,2]]</a:t>
            </a:r>
          </a:p>
        </p:txBody>
      </p:sp>
      <p:sp>
        <p:nvSpPr>
          <p:cNvPr id="11" name="">
            <a:extLst xmlns:a="http://schemas.openxmlformats.org/drawingml/2006/main">
              <a:ext uri="{FF2B5EF4-FFF2-40B4-BE49-F238E27FC236}">
                <a16:creationId xmlns:a16="http://schemas.microsoft.com/office/drawing/2014/main" id="{66555AE2-596F-4D9F-B90E-257E8DE4A572}"/>
              </a:ext>
            </a:extLst>
          </p:cNvPr>
          <p:cNvSpPr>
            <a:spLocks xmlns:a="http://schemas.openxmlformats.org/drawingml/2006/main" noGrp="1"/>
          </p:cNvSpPr>
          <p:nvPr/>
        </p:nvSpPr>
        <p:spPr>
          <a:xfrm xmlns:a="http://schemas.openxmlformats.org/drawingml/2006/main">
            <a:off x="3219450" y="365760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102436"/>
                </a:solidFill>
              </a:defRPr>
            </a:pPr>
            <a:r>
              <a:rPr sz="1650" b="1">
                <a:solidFill>
                  <a:srgbClr val="102436"/>
                </a:solidFill>
              </a:rPr>
              <a:t>b = [100,80]</a:t>
            </a:r>
          </a:p>
        </p:txBody>
      </p:sp>
      <p:sp>
        <p:nvSpPr>
          <p:cNvPr id="12" name="">
            <a:extLst xmlns:a="http://schemas.openxmlformats.org/drawingml/2006/main">
              <a:ext uri="{FF2B5EF4-FFF2-40B4-BE49-F238E27FC236}">
                <a16:creationId xmlns:a16="http://schemas.microsoft.com/office/drawing/2014/main" id="{4851B8B2-C521-484E-A3D0-4656A80B0FC4}"/>
              </a:ext>
            </a:extLst>
          </p:cNvPr>
          <p:cNvSpPr>
            <a:spLocks xmlns:a="http://schemas.openxmlformats.org/drawingml/2006/main" noGrp="1"/>
          </p:cNvSpPr>
          <p:nvPr/>
        </p:nvSpPr>
        <p:spPr>
          <a:xfrm xmlns:a="http://schemas.openxmlformats.org/drawingml/2006/main">
            <a:off x="6096000" y="2343150"/>
            <a:ext cx="5257800" cy="2333625"/>
          </a:xfrm>
          <a:prstGeom xmlns:a="http://schemas.openxmlformats.org/drawingml/2006/main" prst="roundRect">
            <a:avLst>
              <a:gd name="adj" fmla="val 3265"/>
            </a:avLst>
          </a:prstGeom>
          <a:solidFill xmlns:a="http://schemas.openxmlformats.org/drawingml/2006/main">
            <a:srgbClr val="0D2A43"/>
          </a:solidFill>
          <a:ln xmlns:a="http://schemas.openxmlformats.org/drawingml/2006/main" w="9525">
            <a:solidFill>
              <a:srgbClr val="22B8A7"/>
            </a:solidFill>
            <a:prstDash val="solid"/>
          </a:ln>
        </p:spPr>
      </p:sp>
      <p:sp>
        <p:nvSpPr>
          <p:cNvPr id="13" name="">
            <a:extLst xmlns:a="http://schemas.openxmlformats.org/drawingml/2006/main">
              <a:ext uri="{FF2B5EF4-FFF2-40B4-BE49-F238E27FC236}">
                <a16:creationId xmlns:a16="http://schemas.microsoft.com/office/drawing/2014/main" id="{49EA71AD-54BB-425B-9D86-136DEC4A7EA0}"/>
              </a:ext>
            </a:extLst>
          </p:cNvPr>
          <p:cNvSpPr>
            <a:spLocks xmlns:a="http://schemas.openxmlformats.org/drawingml/2006/main" noGrp="1"/>
          </p:cNvSpPr>
          <p:nvPr/>
        </p:nvSpPr>
        <p:spPr>
          <a:xfrm xmlns:a="http://schemas.openxmlformats.org/drawingml/2006/main">
            <a:off x="6400800" y="2609850"/>
            <a:ext cx="123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79D7CC"/>
                </a:solidFill>
              </a:defRPr>
            </a:pPr>
            <a:r>
              <a:rPr sz="1650" b="1">
                <a:solidFill>
                  <a:srgbClr val="79D7CC"/>
                </a:solidFill>
              </a:rPr>
              <a:t>x</a:t>
            </a:r>
          </a:p>
        </p:txBody>
      </p:sp>
      <p:sp>
        <p:nvSpPr>
          <p:cNvPr id="14" name="">
            <a:extLst xmlns:a="http://schemas.openxmlformats.org/drawingml/2006/main">
              <a:ext uri="{FF2B5EF4-FFF2-40B4-BE49-F238E27FC236}">
                <a16:creationId xmlns:a16="http://schemas.microsoft.com/office/drawing/2014/main" id="{1FDA4252-00C5-4FBA-BD5C-830EC0A8D088}"/>
              </a:ext>
            </a:extLst>
          </p:cNvPr>
          <p:cNvSpPr>
            <a:spLocks xmlns:a="http://schemas.openxmlformats.org/drawingml/2006/main" noGrp="1"/>
          </p:cNvSpPr>
          <p:nvPr/>
        </p:nvSpPr>
        <p:spPr>
          <a:xfrm xmlns:a="http://schemas.openxmlformats.org/drawingml/2006/main">
            <a:off x="7658100" y="2609850"/>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7F2E8"/>
                </a:solidFill>
              </a:defRPr>
            </a:pPr>
            <a:r>
              <a:rPr sz="1575" b="0">
                <a:solidFill>
                  <a:srgbClr val="F7F2E8"/>
                </a:solidFill>
              </a:rPr>
              <a:t>first allocation</a:t>
            </a:r>
          </a:p>
        </p:txBody>
      </p:sp>
      <p:sp>
        <p:nvSpPr>
          <p:cNvPr id="15" name="">
            <a:extLst xmlns:a="http://schemas.openxmlformats.org/drawingml/2006/main">
              <a:ext uri="{FF2B5EF4-FFF2-40B4-BE49-F238E27FC236}">
                <a16:creationId xmlns:a16="http://schemas.microsoft.com/office/drawing/2014/main" id="{C4BDA145-AFDA-47A1-83D8-F692A6123094}"/>
              </a:ext>
            </a:extLst>
          </p:cNvPr>
          <p:cNvSpPr>
            <a:spLocks xmlns:a="http://schemas.openxmlformats.org/drawingml/2006/main" noGrp="1"/>
          </p:cNvSpPr>
          <p:nvPr/>
        </p:nvSpPr>
        <p:spPr>
          <a:xfrm xmlns:a="http://schemas.openxmlformats.org/drawingml/2006/main">
            <a:off x="6400800" y="3200400"/>
            <a:ext cx="123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79D7CC"/>
                </a:solidFill>
              </a:defRPr>
            </a:pPr>
            <a:r>
              <a:rPr sz="1650" b="1">
                <a:solidFill>
                  <a:srgbClr val="79D7CC"/>
                </a:solidFill>
              </a:rPr>
              <a:t>y</a:t>
            </a:r>
          </a:p>
        </p:txBody>
      </p:sp>
      <p:sp>
        <p:nvSpPr>
          <p:cNvPr id="16" name="">
            <a:extLst xmlns:a="http://schemas.openxmlformats.org/drawingml/2006/main">
              <a:ext uri="{FF2B5EF4-FFF2-40B4-BE49-F238E27FC236}">
                <a16:creationId xmlns:a16="http://schemas.microsoft.com/office/drawing/2014/main" id="{6767F0B8-384A-47C4-A39A-F9F6042242EF}"/>
              </a:ext>
            </a:extLst>
          </p:cNvPr>
          <p:cNvSpPr>
            <a:spLocks xmlns:a="http://schemas.openxmlformats.org/drawingml/2006/main" noGrp="1"/>
          </p:cNvSpPr>
          <p:nvPr/>
        </p:nvSpPr>
        <p:spPr>
          <a:xfrm xmlns:a="http://schemas.openxmlformats.org/drawingml/2006/main">
            <a:off x="7658100" y="3200400"/>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7F2E8"/>
                </a:solidFill>
              </a:defRPr>
            </a:pPr>
            <a:r>
              <a:rPr sz="1575" b="0">
                <a:solidFill>
                  <a:srgbClr val="F7F2E8"/>
                </a:solidFill>
              </a:rPr>
              <a:t>second allocation</a:t>
            </a:r>
          </a:p>
        </p:txBody>
      </p:sp>
      <p:sp>
        <p:nvSpPr>
          <p:cNvPr id="17" name="">
            <a:extLst xmlns:a="http://schemas.openxmlformats.org/drawingml/2006/main">
              <a:ext uri="{FF2B5EF4-FFF2-40B4-BE49-F238E27FC236}">
                <a16:creationId xmlns:a16="http://schemas.microsoft.com/office/drawing/2014/main" id="{281CDEAE-3A19-452F-A522-B2DA08BC858E}"/>
              </a:ext>
            </a:extLst>
          </p:cNvPr>
          <p:cNvSpPr>
            <a:spLocks xmlns:a="http://schemas.openxmlformats.org/drawingml/2006/main" noGrp="1"/>
          </p:cNvSpPr>
          <p:nvPr/>
        </p:nvSpPr>
        <p:spPr>
          <a:xfrm xmlns:a="http://schemas.openxmlformats.org/drawingml/2006/main">
            <a:off x="6400800" y="3790950"/>
            <a:ext cx="123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79D7CC"/>
                </a:solidFill>
              </a:defRPr>
            </a:pPr>
            <a:r>
              <a:rPr sz="1650" b="1">
                <a:solidFill>
                  <a:srgbClr val="79D7CC"/>
                </a:solidFill>
              </a:rPr>
              <a:t>A</a:t>
            </a:r>
          </a:p>
        </p:txBody>
      </p:sp>
      <p:sp>
        <p:nvSpPr>
          <p:cNvPr id="18" name="">
            <a:extLst xmlns:a="http://schemas.openxmlformats.org/drawingml/2006/main">
              <a:ext uri="{FF2B5EF4-FFF2-40B4-BE49-F238E27FC236}">
                <a16:creationId xmlns:a16="http://schemas.microsoft.com/office/drawing/2014/main" id="{23F67011-BC6B-47B4-A51C-82042C3C6B9E}"/>
              </a:ext>
            </a:extLst>
          </p:cNvPr>
          <p:cNvSpPr>
            <a:spLocks xmlns:a="http://schemas.openxmlformats.org/drawingml/2006/main" noGrp="1"/>
          </p:cNvSpPr>
          <p:nvPr/>
        </p:nvSpPr>
        <p:spPr>
          <a:xfrm xmlns:a="http://schemas.openxmlformats.org/drawingml/2006/main">
            <a:off x="7658100" y="3790950"/>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7F2E8"/>
                </a:solidFill>
              </a:defRPr>
            </a:pPr>
            <a:r>
              <a:rPr sz="1575" b="0">
                <a:solidFill>
                  <a:srgbClr val="F7F2E8"/>
                </a:solidFill>
              </a:rPr>
              <a:t>coefficient matrix</a:t>
            </a:r>
          </a:p>
        </p:txBody>
      </p:sp>
      <p:sp>
        <p:nvSpPr>
          <p:cNvPr id="19" name="">
            <a:extLst xmlns:a="http://schemas.openxmlformats.org/drawingml/2006/main">
              <a:ext uri="{FF2B5EF4-FFF2-40B4-BE49-F238E27FC236}">
                <a16:creationId xmlns:a16="http://schemas.microsoft.com/office/drawing/2014/main" id="{F103EB31-2ACC-4D95-8069-014E57B83F27}"/>
              </a:ext>
            </a:extLst>
          </p:cNvPr>
          <p:cNvSpPr>
            <a:spLocks xmlns:a="http://schemas.openxmlformats.org/drawingml/2006/main" noGrp="1"/>
          </p:cNvSpPr>
          <p:nvPr/>
        </p:nvSpPr>
        <p:spPr>
          <a:xfrm xmlns:a="http://schemas.openxmlformats.org/drawingml/2006/main">
            <a:off x="6400800" y="4248150"/>
            <a:ext cx="123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79D7CC"/>
                </a:solidFill>
              </a:defRPr>
            </a:pPr>
            <a:r>
              <a:rPr sz="1650" b="1">
                <a:solidFill>
                  <a:srgbClr val="79D7CC"/>
                </a:solidFill>
              </a:rPr>
              <a:t>b</a:t>
            </a:r>
          </a:p>
        </p:txBody>
      </p:sp>
      <p:sp>
        <p:nvSpPr>
          <p:cNvPr id="20" name="">
            <a:extLst xmlns:a="http://schemas.openxmlformats.org/drawingml/2006/main">
              <a:ext uri="{FF2B5EF4-FFF2-40B4-BE49-F238E27FC236}">
                <a16:creationId xmlns:a16="http://schemas.microsoft.com/office/drawing/2014/main" id="{AC0739D2-C64F-494B-B256-F43A1A83DADE}"/>
              </a:ext>
            </a:extLst>
          </p:cNvPr>
          <p:cNvSpPr>
            <a:spLocks xmlns:a="http://schemas.openxmlformats.org/drawingml/2006/main" noGrp="1"/>
          </p:cNvSpPr>
          <p:nvPr/>
        </p:nvSpPr>
        <p:spPr>
          <a:xfrm xmlns:a="http://schemas.openxmlformats.org/drawingml/2006/main">
            <a:off x="7658100" y="4248150"/>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7F2E8"/>
                </a:solidFill>
              </a:defRPr>
            </a:pPr>
            <a:r>
              <a:rPr sz="1575" b="0">
                <a:solidFill>
                  <a:srgbClr val="F7F2E8"/>
                </a:solidFill>
              </a:rPr>
              <a:t>constraint totals</a:t>
            </a:r>
          </a:p>
        </p:txBody>
      </p:sp>
    </p:spTree>
    <p:extLst>
      <p:ext uri="{BB962C8B-B14F-4D97-AF65-F5344CB8AC3E}">
        <p14:creationId xmlns:p14="http://schemas.microsoft.com/office/powerpoint/2010/main" val="819938950"/>
      </p:ext>
    </p:extLst>
  </p:cSld>
</p:sld>
</file>

<file path=ppt/slides/slide7.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FDF2817-725B-4938-8ABF-977F4F590F2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26E7DF7-1392-4A3A-A6F6-0CA5CA6FE695}"/>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40112630-E53E-41D9-832A-5CCED8F2331B}"/>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COMPUTED SOLUTION</a:t>
            </a:r>
          </a:p>
        </p:txBody>
      </p:sp>
      <p:sp>
        <p:nvSpPr>
          <p:cNvPr id="4" name="">
            <a:extLst xmlns:a="http://schemas.openxmlformats.org/drawingml/2006/main">
              <a:ext uri="{FF2B5EF4-FFF2-40B4-BE49-F238E27FC236}">
                <a16:creationId xmlns:a16="http://schemas.microsoft.com/office/drawing/2014/main" id="{85973738-9B04-4313-88C4-4E97247F4DB9}"/>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07</a:t>
            </a:r>
          </a:p>
        </p:txBody>
      </p:sp>
      <p:sp>
        <p:nvSpPr>
          <p:cNvPr id="5" name="">
            <a:extLst xmlns:a="http://schemas.openxmlformats.org/drawingml/2006/main">
              <a:ext uri="{FF2B5EF4-FFF2-40B4-BE49-F238E27FC236}">
                <a16:creationId xmlns:a16="http://schemas.microsoft.com/office/drawing/2014/main" id="{8278253D-6C96-4FB9-89ED-C2BBFAAE1BCE}"/>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BAE41526-3697-4714-BC66-18CC0FFF1505}"/>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Elimination returns a unique candidate solution.</a:t>
            </a:r>
          </a:p>
        </p:txBody>
      </p:sp>
      <p:sp>
        <p:nvSpPr>
          <p:cNvPr id="7" name="">
            <a:extLst xmlns:a="http://schemas.openxmlformats.org/drawingml/2006/main">
              <a:ext uri="{FF2B5EF4-FFF2-40B4-BE49-F238E27FC236}">
                <a16:creationId xmlns:a16="http://schemas.microsoft.com/office/drawing/2014/main" id="{A53612E4-30D8-4781-A527-119141DE1D01}"/>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Now check the variables, reconstructed totals and residual.</a:t>
            </a:r>
          </a:p>
        </p:txBody>
      </p:sp>
      <p:sp>
        <p:nvSpPr>
          <p:cNvPr id="8" name="">
            <a:extLst xmlns:a="http://schemas.openxmlformats.org/drawingml/2006/main">
              <a:ext uri="{FF2B5EF4-FFF2-40B4-BE49-F238E27FC236}">
                <a16:creationId xmlns:a16="http://schemas.microsoft.com/office/drawing/2014/main" id="{8DD86A21-4027-44B2-BCBE-4F10E33FCF9E}"/>
              </a:ext>
            </a:extLst>
          </p:cNvPr>
          <p:cNvSpPr>
            <a:spLocks xmlns:a="http://schemas.openxmlformats.org/drawingml/2006/main" noGrp="1"/>
          </p:cNvSpPr>
          <p:nvPr/>
        </p:nvSpPr>
        <p:spPr>
          <a:xfrm xmlns:a="http://schemas.openxmlformats.org/drawingml/2006/main">
            <a:off x="1143000" y="2381250"/>
            <a:ext cx="2857500" cy="2095500"/>
          </a:xfrm>
          <a:prstGeom xmlns:a="http://schemas.openxmlformats.org/drawingml/2006/main" prst="roundRect">
            <a:avLst>
              <a:gd name="adj" fmla="val 3636"/>
            </a:avLst>
          </a:prstGeom>
          <a:solidFill xmlns:a="http://schemas.openxmlformats.org/drawingml/2006/main">
            <a:srgbClr val="0D2A43"/>
          </a:solidFill>
          <a:ln xmlns:a="http://schemas.openxmlformats.org/drawingml/2006/main" w="9525">
            <a:solidFill>
              <a:srgbClr val="22B8A7"/>
            </a:solidFill>
            <a:prstDash val="solid"/>
          </a:ln>
        </p:spPr>
      </p:sp>
      <p:sp>
        <p:nvSpPr>
          <p:cNvPr id="9" name="">
            <a:extLst xmlns:a="http://schemas.openxmlformats.org/drawingml/2006/main">
              <a:ext uri="{FF2B5EF4-FFF2-40B4-BE49-F238E27FC236}">
                <a16:creationId xmlns:a16="http://schemas.microsoft.com/office/drawing/2014/main" id="{401F5192-BCB2-4A64-9B36-9FD5D6372492}"/>
              </a:ext>
            </a:extLst>
          </p:cNvPr>
          <p:cNvSpPr>
            <a:spLocks xmlns:a="http://schemas.openxmlformats.org/drawingml/2006/main" noGrp="1"/>
          </p:cNvSpPr>
          <p:nvPr/>
        </p:nvSpPr>
        <p:spPr>
          <a:xfrm xmlns:a="http://schemas.openxmlformats.org/drawingml/2006/main">
            <a:off x="1333500" y="2628900"/>
            <a:ext cx="247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79D7CC"/>
                </a:solidFill>
              </a:defRPr>
            </a:pPr>
            <a:r>
              <a:rPr sz="2025" b="1">
                <a:solidFill>
                  <a:srgbClr val="79D7CC"/>
                </a:solidFill>
              </a:rPr>
              <a:t>x</a:t>
            </a:r>
          </a:p>
        </p:txBody>
      </p:sp>
      <p:sp>
        <p:nvSpPr>
          <p:cNvPr id="10" name="">
            <a:extLst xmlns:a="http://schemas.openxmlformats.org/drawingml/2006/main">
              <a:ext uri="{FF2B5EF4-FFF2-40B4-BE49-F238E27FC236}">
                <a16:creationId xmlns:a16="http://schemas.microsoft.com/office/drawing/2014/main" id="{2A5729DF-6C09-4EBF-AFFB-60777A410D72}"/>
              </a:ext>
            </a:extLst>
          </p:cNvPr>
          <p:cNvSpPr>
            <a:spLocks xmlns:a="http://schemas.openxmlformats.org/drawingml/2006/main" noGrp="1"/>
          </p:cNvSpPr>
          <p:nvPr/>
        </p:nvSpPr>
        <p:spPr>
          <a:xfrm xmlns:a="http://schemas.openxmlformats.org/drawingml/2006/main">
            <a:off x="1333500" y="3257550"/>
            <a:ext cx="2476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450" b="1">
                <a:solidFill>
                  <a:srgbClr val="D9A441"/>
                </a:solidFill>
              </a:defRPr>
            </a:pPr>
            <a:r>
              <a:rPr sz="3450" b="1">
                <a:solidFill>
                  <a:srgbClr val="D9A441"/>
                </a:solidFill>
              </a:rPr>
              <a:t>40</a:t>
            </a:r>
          </a:p>
        </p:txBody>
      </p:sp>
      <p:sp>
        <p:nvSpPr>
          <p:cNvPr id="11" name="">
            <a:extLst xmlns:a="http://schemas.openxmlformats.org/drawingml/2006/main">
              <a:ext uri="{FF2B5EF4-FFF2-40B4-BE49-F238E27FC236}">
                <a16:creationId xmlns:a16="http://schemas.microsoft.com/office/drawing/2014/main" id="{EC5EBA52-C1AD-4178-A1CE-A8FA55601458}"/>
              </a:ext>
            </a:extLst>
          </p:cNvPr>
          <p:cNvSpPr>
            <a:spLocks xmlns:a="http://schemas.openxmlformats.org/drawingml/2006/main" noGrp="1"/>
          </p:cNvSpPr>
          <p:nvPr/>
        </p:nvSpPr>
        <p:spPr>
          <a:xfrm xmlns:a="http://schemas.openxmlformats.org/drawingml/2006/main">
            <a:off x="1333500" y="3990975"/>
            <a:ext cx="2476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0">
                <a:solidFill>
                  <a:srgbClr val="F7F2E8"/>
                </a:solidFill>
              </a:defRPr>
            </a:pPr>
            <a:r>
              <a:rPr sz="1275" b="0">
                <a:solidFill>
                  <a:srgbClr val="F7F2E8"/>
                </a:solidFill>
              </a:rPr>
              <a:t>allocation units</a:t>
            </a:r>
          </a:p>
        </p:txBody>
      </p:sp>
      <p:sp>
        <p:nvSpPr>
          <p:cNvPr id="12" name="">
            <a:extLst xmlns:a="http://schemas.openxmlformats.org/drawingml/2006/main">
              <a:ext uri="{FF2B5EF4-FFF2-40B4-BE49-F238E27FC236}">
                <a16:creationId xmlns:a16="http://schemas.microsoft.com/office/drawing/2014/main" id="{E6C23502-DA06-45EA-8A5B-E82B221BC6E5}"/>
              </a:ext>
            </a:extLst>
          </p:cNvPr>
          <p:cNvSpPr>
            <a:spLocks xmlns:a="http://schemas.openxmlformats.org/drawingml/2006/main" noGrp="1"/>
          </p:cNvSpPr>
          <p:nvPr/>
        </p:nvSpPr>
        <p:spPr>
          <a:xfrm xmlns:a="http://schemas.openxmlformats.org/drawingml/2006/main">
            <a:off x="4572000" y="2381250"/>
            <a:ext cx="2857500" cy="2095500"/>
          </a:xfrm>
          <a:prstGeom xmlns:a="http://schemas.openxmlformats.org/drawingml/2006/main" prst="roundRect">
            <a:avLst>
              <a:gd name="adj" fmla="val 3636"/>
            </a:avLst>
          </a:prstGeom>
          <a:solidFill xmlns:a="http://schemas.openxmlformats.org/drawingml/2006/main">
            <a:srgbClr val="154D57"/>
          </a:solidFill>
          <a:ln xmlns:a="http://schemas.openxmlformats.org/drawingml/2006/main" w="9525">
            <a:solidFill>
              <a:srgbClr val="22B8A7"/>
            </a:solidFill>
            <a:prstDash val="solid"/>
          </a:ln>
        </p:spPr>
      </p:sp>
      <p:sp>
        <p:nvSpPr>
          <p:cNvPr id="13" name="">
            <a:extLst xmlns:a="http://schemas.openxmlformats.org/drawingml/2006/main">
              <a:ext uri="{FF2B5EF4-FFF2-40B4-BE49-F238E27FC236}">
                <a16:creationId xmlns:a16="http://schemas.microsoft.com/office/drawing/2014/main" id="{53D8B61B-13D5-4D6F-8D5E-B41DBB3A2B1E}"/>
              </a:ext>
            </a:extLst>
          </p:cNvPr>
          <p:cNvSpPr>
            <a:spLocks xmlns:a="http://schemas.openxmlformats.org/drawingml/2006/main" noGrp="1"/>
          </p:cNvSpPr>
          <p:nvPr/>
        </p:nvSpPr>
        <p:spPr>
          <a:xfrm xmlns:a="http://schemas.openxmlformats.org/drawingml/2006/main">
            <a:off x="4762500" y="2628900"/>
            <a:ext cx="247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79D7CC"/>
                </a:solidFill>
              </a:defRPr>
            </a:pPr>
            <a:r>
              <a:rPr sz="2025" b="1">
                <a:solidFill>
                  <a:srgbClr val="79D7CC"/>
                </a:solidFill>
              </a:rPr>
              <a:t>y</a:t>
            </a:r>
          </a:p>
        </p:txBody>
      </p:sp>
      <p:sp>
        <p:nvSpPr>
          <p:cNvPr id="14" name="">
            <a:extLst xmlns:a="http://schemas.openxmlformats.org/drawingml/2006/main">
              <a:ext uri="{FF2B5EF4-FFF2-40B4-BE49-F238E27FC236}">
                <a16:creationId xmlns:a16="http://schemas.microsoft.com/office/drawing/2014/main" id="{C48ECA60-9A18-44DA-9BAC-4C42FE5953F8}"/>
              </a:ext>
            </a:extLst>
          </p:cNvPr>
          <p:cNvSpPr>
            <a:spLocks xmlns:a="http://schemas.openxmlformats.org/drawingml/2006/main" noGrp="1"/>
          </p:cNvSpPr>
          <p:nvPr/>
        </p:nvSpPr>
        <p:spPr>
          <a:xfrm xmlns:a="http://schemas.openxmlformats.org/drawingml/2006/main">
            <a:off x="4762500" y="3257550"/>
            <a:ext cx="2476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450" b="1">
                <a:solidFill>
                  <a:srgbClr val="D9A441"/>
                </a:solidFill>
              </a:defRPr>
            </a:pPr>
            <a:r>
              <a:rPr sz="3450" b="1">
                <a:solidFill>
                  <a:srgbClr val="D9A441"/>
                </a:solidFill>
              </a:rPr>
              <a:t>20</a:t>
            </a:r>
          </a:p>
        </p:txBody>
      </p:sp>
      <p:sp>
        <p:nvSpPr>
          <p:cNvPr id="15" name="">
            <a:extLst xmlns:a="http://schemas.openxmlformats.org/drawingml/2006/main">
              <a:ext uri="{FF2B5EF4-FFF2-40B4-BE49-F238E27FC236}">
                <a16:creationId xmlns:a16="http://schemas.microsoft.com/office/drawing/2014/main" id="{BC193A3E-1CB2-490B-9323-F13E48E682F5}"/>
              </a:ext>
            </a:extLst>
          </p:cNvPr>
          <p:cNvSpPr>
            <a:spLocks xmlns:a="http://schemas.openxmlformats.org/drawingml/2006/main" noGrp="1"/>
          </p:cNvSpPr>
          <p:nvPr/>
        </p:nvSpPr>
        <p:spPr>
          <a:xfrm xmlns:a="http://schemas.openxmlformats.org/drawingml/2006/main">
            <a:off x="4762500" y="3990975"/>
            <a:ext cx="2476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0">
                <a:solidFill>
                  <a:srgbClr val="F7F2E8"/>
                </a:solidFill>
              </a:defRPr>
            </a:pPr>
            <a:r>
              <a:rPr sz="1275" b="0">
                <a:solidFill>
                  <a:srgbClr val="F7F2E8"/>
                </a:solidFill>
              </a:rPr>
              <a:t>allocation units</a:t>
            </a:r>
          </a:p>
        </p:txBody>
      </p:sp>
      <p:sp>
        <p:nvSpPr>
          <p:cNvPr id="16" name="">
            <a:extLst xmlns:a="http://schemas.openxmlformats.org/drawingml/2006/main">
              <a:ext uri="{FF2B5EF4-FFF2-40B4-BE49-F238E27FC236}">
                <a16:creationId xmlns:a16="http://schemas.microsoft.com/office/drawing/2014/main" id="{9A11E346-D82C-420C-AECD-7F16DDEDD0D5}"/>
              </a:ext>
            </a:extLst>
          </p:cNvPr>
          <p:cNvSpPr>
            <a:spLocks xmlns:a="http://schemas.openxmlformats.org/drawingml/2006/main" noGrp="1"/>
          </p:cNvSpPr>
          <p:nvPr/>
        </p:nvSpPr>
        <p:spPr>
          <a:xfrm xmlns:a="http://schemas.openxmlformats.org/drawingml/2006/main">
            <a:off x="8001000" y="2381250"/>
            <a:ext cx="2857500" cy="2095500"/>
          </a:xfrm>
          <a:prstGeom xmlns:a="http://schemas.openxmlformats.org/drawingml/2006/main" prst="roundRect">
            <a:avLst>
              <a:gd name="adj" fmla="val 3636"/>
            </a:avLst>
          </a:prstGeom>
          <a:solidFill xmlns:a="http://schemas.openxmlformats.org/drawingml/2006/main">
            <a:srgbClr val="0D2A43"/>
          </a:solidFill>
          <a:ln xmlns:a="http://schemas.openxmlformats.org/drawingml/2006/main" w="9525">
            <a:solidFill>
              <a:srgbClr val="22B8A7"/>
            </a:solidFill>
            <a:prstDash val="solid"/>
          </a:ln>
        </p:spPr>
      </p:sp>
      <p:sp>
        <p:nvSpPr>
          <p:cNvPr id="17" name="">
            <a:extLst xmlns:a="http://schemas.openxmlformats.org/drawingml/2006/main">
              <a:ext uri="{FF2B5EF4-FFF2-40B4-BE49-F238E27FC236}">
                <a16:creationId xmlns:a16="http://schemas.microsoft.com/office/drawing/2014/main" id="{AC7D4888-ABC9-46BF-AF11-53B0B1FDA3A9}"/>
              </a:ext>
            </a:extLst>
          </p:cNvPr>
          <p:cNvSpPr>
            <a:spLocks xmlns:a="http://schemas.openxmlformats.org/drawingml/2006/main" noGrp="1"/>
          </p:cNvSpPr>
          <p:nvPr/>
        </p:nvSpPr>
        <p:spPr>
          <a:xfrm xmlns:a="http://schemas.openxmlformats.org/drawingml/2006/main">
            <a:off x="8191500" y="2628900"/>
            <a:ext cx="247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79D7CC"/>
                </a:solidFill>
              </a:defRPr>
            </a:pPr>
            <a:r>
              <a:rPr sz="2025" b="1">
                <a:solidFill>
                  <a:srgbClr val="79D7CC"/>
                </a:solidFill>
              </a:rPr>
              <a:t>‖r‖</a:t>
            </a:r>
          </a:p>
        </p:txBody>
      </p:sp>
      <p:sp>
        <p:nvSpPr>
          <p:cNvPr id="18" name="">
            <a:extLst xmlns:a="http://schemas.openxmlformats.org/drawingml/2006/main">
              <a:ext uri="{FF2B5EF4-FFF2-40B4-BE49-F238E27FC236}">
                <a16:creationId xmlns:a16="http://schemas.microsoft.com/office/drawing/2014/main" id="{C1061CCF-3FD1-4A71-8A54-D6D9A0DC02F8}"/>
              </a:ext>
            </a:extLst>
          </p:cNvPr>
          <p:cNvSpPr>
            <a:spLocks xmlns:a="http://schemas.openxmlformats.org/drawingml/2006/main" noGrp="1"/>
          </p:cNvSpPr>
          <p:nvPr/>
        </p:nvSpPr>
        <p:spPr>
          <a:xfrm xmlns:a="http://schemas.openxmlformats.org/drawingml/2006/main">
            <a:off x="8191500" y="3257550"/>
            <a:ext cx="2476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450" b="1">
                <a:solidFill>
                  <a:srgbClr val="D9A441"/>
                </a:solidFill>
              </a:defRPr>
            </a:pPr>
            <a:r>
              <a:rPr sz="3450" b="1">
                <a:solidFill>
                  <a:srgbClr val="D9A441"/>
                </a:solidFill>
              </a:rPr>
              <a:t>0</a:t>
            </a:r>
          </a:p>
        </p:txBody>
      </p:sp>
      <p:sp>
        <p:nvSpPr>
          <p:cNvPr id="19" name="">
            <a:extLst xmlns:a="http://schemas.openxmlformats.org/drawingml/2006/main">
              <a:ext uri="{FF2B5EF4-FFF2-40B4-BE49-F238E27FC236}">
                <a16:creationId xmlns:a16="http://schemas.microsoft.com/office/drawing/2014/main" id="{2E6591C7-55FD-4AD5-968D-50A9EBF63A00}"/>
              </a:ext>
            </a:extLst>
          </p:cNvPr>
          <p:cNvSpPr>
            <a:spLocks xmlns:a="http://schemas.openxmlformats.org/drawingml/2006/main" noGrp="1"/>
          </p:cNvSpPr>
          <p:nvPr/>
        </p:nvSpPr>
        <p:spPr>
          <a:xfrm xmlns:a="http://schemas.openxmlformats.org/drawingml/2006/main">
            <a:off x="8191500" y="3990975"/>
            <a:ext cx="2476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0">
                <a:solidFill>
                  <a:srgbClr val="F7F2E8"/>
                </a:solidFill>
              </a:defRPr>
            </a:pPr>
            <a:r>
              <a:rPr sz="1275" b="0">
                <a:solidFill>
                  <a:srgbClr val="F7F2E8"/>
                </a:solidFill>
              </a:rPr>
              <a:t>equation error</a:t>
            </a:r>
          </a:p>
        </p:txBody>
      </p:sp>
      <p:sp>
        <p:nvSpPr>
          <p:cNvPr id="20" name="">
            <a:extLst xmlns:a="http://schemas.openxmlformats.org/drawingml/2006/main">
              <a:ext uri="{FF2B5EF4-FFF2-40B4-BE49-F238E27FC236}">
                <a16:creationId xmlns:a16="http://schemas.microsoft.com/office/drawing/2014/main" id="{5590C928-27F2-40AF-A6CC-4F2205FEF9AF}"/>
              </a:ext>
            </a:extLst>
          </p:cNvPr>
          <p:cNvSpPr>
            <a:spLocks xmlns:a="http://schemas.openxmlformats.org/drawingml/2006/main" noGrp="1"/>
          </p:cNvSpPr>
          <p:nvPr/>
        </p:nvSpPr>
        <p:spPr>
          <a:xfrm xmlns:a="http://schemas.openxmlformats.org/drawingml/2006/main">
            <a:off x="1666875" y="5048250"/>
            <a:ext cx="885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75" b="1">
                <a:solidFill>
                  <a:srgbClr val="F7F2E8"/>
                </a:solidFill>
              </a:defRPr>
            </a:pPr>
            <a:r>
              <a:rPr sz="1875" b="1">
                <a:solidFill>
                  <a:srgbClr val="F7F2E8"/>
                </a:solidFill>
              </a:rPr>
              <a:t>Solution: [40.0, 20.0]  •  residual norm: 0.0</a:t>
            </a:r>
          </a:p>
        </p:txBody>
      </p:sp>
    </p:spTree>
    <p:extLst>
      <p:ext uri="{BB962C8B-B14F-4D97-AF65-F5344CB8AC3E}">
        <p14:creationId xmlns:p14="http://schemas.microsoft.com/office/powerpoint/2010/main" val="1358859806"/>
      </p:ext>
    </p:extLst>
  </p:cSld>
</p:sld>
</file>

<file path=ppt/slides/slide8.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DF52369-1D6C-4A76-BBED-547B24AD635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F2F2382-A27C-493C-A982-DFD35BEBB5CC}"/>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2DD298C1-23CB-4DB4-89A1-84F6CF069CAD}"/>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EXECUTABLE VERIFICATION</a:t>
            </a:r>
          </a:p>
        </p:txBody>
      </p:sp>
      <p:sp>
        <p:nvSpPr>
          <p:cNvPr id="4" name="">
            <a:extLst xmlns:a="http://schemas.openxmlformats.org/drawingml/2006/main">
              <a:ext uri="{FF2B5EF4-FFF2-40B4-BE49-F238E27FC236}">
                <a16:creationId xmlns:a16="http://schemas.microsoft.com/office/drawing/2014/main" id="{6B11DCE9-ECA1-4362-8B4D-D9CFA25AE557}"/>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08</a:t>
            </a:r>
          </a:p>
        </p:txBody>
      </p:sp>
      <p:sp>
        <p:nvSpPr>
          <p:cNvPr id="5" name="">
            <a:extLst xmlns:a="http://schemas.openxmlformats.org/drawingml/2006/main">
              <a:ext uri="{FF2B5EF4-FFF2-40B4-BE49-F238E27FC236}">
                <a16:creationId xmlns:a16="http://schemas.microsoft.com/office/drawing/2014/main" id="{DC9B4FDB-8E3D-405C-9706-372B0E9A8AB2}"/>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178C46C3-76A3-401A-BA9B-79A08C6A4512}"/>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Test the solution—do not merely display it.</a:t>
            </a:r>
          </a:p>
        </p:txBody>
      </p:sp>
      <p:sp>
        <p:nvSpPr>
          <p:cNvPr id="7" name="">
            <a:extLst xmlns:a="http://schemas.openxmlformats.org/drawingml/2006/main">
              <a:ext uri="{FF2B5EF4-FFF2-40B4-BE49-F238E27FC236}">
                <a16:creationId xmlns:a16="http://schemas.microsoft.com/office/drawing/2014/main" id="{859095A2-626A-4759-A576-FBE160410731}"/>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An assertion turns A x = b into a reproducible numerical check.</a:t>
            </a:r>
          </a:p>
        </p:txBody>
      </p:sp>
      <p:sp>
        <p:nvSpPr>
          <p:cNvPr id="8" name="">
            <a:extLst xmlns:a="http://schemas.openxmlformats.org/drawingml/2006/main">
              <a:ext uri="{FF2B5EF4-FFF2-40B4-BE49-F238E27FC236}">
                <a16:creationId xmlns:a16="http://schemas.microsoft.com/office/drawing/2014/main" id="{1223E019-4A2C-4734-B611-DBA22D0F22FE}"/>
              </a:ext>
            </a:extLst>
          </p:cNvPr>
          <p:cNvSpPr>
            <a:spLocks xmlns:a="http://schemas.openxmlformats.org/drawingml/2006/main" noGrp="1"/>
          </p:cNvSpPr>
          <p:nvPr/>
        </p:nvSpPr>
        <p:spPr>
          <a:xfrm xmlns:a="http://schemas.openxmlformats.org/drawingml/2006/main">
            <a:off x="590550" y="2190750"/>
            <a:ext cx="6858000" cy="2857500"/>
          </a:xfrm>
          <a:prstGeom xmlns:a="http://schemas.openxmlformats.org/drawingml/2006/main" prst="roundRect">
            <a:avLst>
              <a:gd name="adj" fmla="val 2667"/>
            </a:avLst>
          </a:prstGeom>
          <a:solidFill xmlns:a="http://schemas.openxmlformats.org/drawingml/2006/main">
            <a:srgbClr val="06131F"/>
          </a:solidFill>
          <a:ln xmlns:a="http://schemas.openxmlformats.org/drawingml/2006/main" w="9525">
            <a:solidFill>
              <a:srgbClr val="22B8A7"/>
            </a:solidFill>
            <a:prstDash val="solid"/>
          </a:ln>
        </p:spPr>
      </p:sp>
      <p:sp>
        <p:nvSpPr>
          <p:cNvPr id="9" name="">
            <a:extLst xmlns:a="http://schemas.openxmlformats.org/drawingml/2006/main">
              <a:ext uri="{FF2B5EF4-FFF2-40B4-BE49-F238E27FC236}">
                <a16:creationId xmlns:a16="http://schemas.microsoft.com/office/drawing/2014/main" id="{CA760EAF-103C-47E8-A19B-88597E82C6CC}"/>
              </a:ext>
            </a:extLst>
          </p:cNvPr>
          <p:cNvSpPr>
            <a:spLocks xmlns:a="http://schemas.openxmlformats.org/drawingml/2006/main" noGrp="1"/>
          </p:cNvSpPr>
          <p:nvPr/>
        </p:nvSpPr>
        <p:spPr>
          <a:xfrm xmlns:a="http://schemas.openxmlformats.org/drawingml/2006/main">
            <a:off x="857250" y="2457450"/>
            <a:ext cx="6286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D7F8F2"/>
                </a:solidFill>
              </a:defRPr>
            </a:pPr>
            <a:r>
              <a:rPr sz="1650" b="0">
                <a:solidFill>
                  <a:srgbClr val="D7F8F2"/>
                </a:solidFill>
              </a:rPr>
              <a:t>A = array([[2., 1.], [1., 2.]])</a:t>
            </a:r>
          </a:p>
          <a:p xmlns:a="http://schemas.openxmlformats.org/drawingml/2006/main">
            <a:r>
              <a:t/>
            </a:r>
          </a:p>
          <a:p xmlns:a="http://schemas.openxmlformats.org/drawingml/2006/main">
            <a:pPr algn="l">
              <a:buNone/>
              <a:defRPr sz="1650" b="0">
                <a:solidFill>
                  <a:srgbClr val="D7F8F2"/>
                </a:solidFill>
              </a:defRPr>
            </a:pPr>
            <a:r>
              <a:rPr sz="1650" b="0">
                <a:solidFill>
                  <a:srgbClr val="D7F8F2"/>
                </a:solidFill>
              </a:rPr>
              <a:t>b = array([100., 80.]); x = gaussian_elimination(A, b)</a:t>
            </a:r>
          </a:p>
          <a:p xmlns:a="http://schemas.openxmlformats.org/drawingml/2006/main">
            <a:r>
              <a:t/>
            </a:r>
          </a:p>
          <a:p xmlns:a="http://schemas.openxmlformats.org/drawingml/2006/main">
            <a:pPr algn="l">
              <a:buNone/>
              <a:defRPr sz="1650" b="0">
                <a:solidFill>
                  <a:srgbClr val="D7F8F2"/>
                </a:solidFill>
              </a:defRPr>
            </a:pPr>
            <a:r>
              <a:rPr sz="1650" b="0">
                <a:solidFill>
                  <a:srgbClr val="D7F8F2"/>
                </a:solidFill>
              </a:rPr>
              <a:t>assert allclose(A @ x, b)</a:t>
            </a:r>
          </a:p>
        </p:txBody>
      </p:sp>
      <p:sp>
        <p:nvSpPr>
          <p:cNvPr id="10" name="">
            <a:extLst xmlns:a="http://schemas.openxmlformats.org/drawingml/2006/main">
              <a:ext uri="{FF2B5EF4-FFF2-40B4-BE49-F238E27FC236}">
                <a16:creationId xmlns:a16="http://schemas.microsoft.com/office/drawing/2014/main" id="{15DB8409-60C6-46F6-AF62-A58F358F720A}"/>
              </a:ext>
            </a:extLst>
          </p:cNvPr>
          <p:cNvSpPr>
            <a:spLocks xmlns:a="http://schemas.openxmlformats.org/drawingml/2006/main" noGrp="1"/>
          </p:cNvSpPr>
          <p:nvPr/>
        </p:nvSpPr>
        <p:spPr>
          <a:xfrm xmlns:a="http://schemas.openxmlformats.org/drawingml/2006/main">
            <a:off x="8058150" y="2381250"/>
            <a:ext cx="3143250" cy="2190750"/>
          </a:xfrm>
          <a:prstGeom xmlns:a="http://schemas.openxmlformats.org/drawingml/2006/main" prst="roundRect">
            <a:avLst>
              <a:gd name="adj" fmla="val 3478"/>
            </a:avLst>
          </a:prstGeom>
          <a:solidFill xmlns:a="http://schemas.openxmlformats.org/drawingml/2006/main">
            <a:srgbClr val="103A3F"/>
          </a:solidFill>
          <a:ln xmlns:a="http://schemas.openxmlformats.org/drawingml/2006/main" w="9525">
            <a:solidFill>
              <a:srgbClr val="D9A441"/>
            </a:solidFill>
            <a:prstDash val="solid"/>
          </a:ln>
        </p:spPr>
      </p:sp>
      <p:sp>
        <p:nvSpPr>
          <p:cNvPr id="11" name="">
            <a:extLst xmlns:a="http://schemas.openxmlformats.org/drawingml/2006/main">
              <a:ext uri="{FF2B5EF4-FFF2-40B4-BE49-F238E27FC236}">
                <a16:creationId xmlns:a16="http://schemas.microsoft.com/office/drawing/2014/main" id="{8E670E22-A0C5-41C2-8835-BF7E161C86AE}"/>
              </a:ext>
            </a:extLst>
          </p:cNvPr>
          <p:cNvSpPr>
            <a:spLocks xmlns:a="http://schemas.openxmlformats.org/drawingml/2006/main" noGrp="1"/>
          </p:cNvSpPr>
          <p:nvPr/>
        </p:nvSpPr>
        <p:spPr>
          <a:xfrm xmlns:a="http://schemas.openxmlformats.org/drawingml/2006/main">
            <a:off x="8991600" y="2571750"/>
            <a:ext cx="12858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4350" b="1">
                <a:solidFill>
                  <a:srgbClr val="79D7CC"/>
                </a:solidFill>
              </a:defRPr>
            </a:pPr>
            <a:r>
              <a:rPr sz="4350" b="1">
                <a:solidFill>
                  <a:srgbClr val="79D7CC"/>
                </a:solidFill>
              </a:rPr>
              <a:t>✓</a:t>
            </a:r>
          </a:p>
        </p:txBody>
      </p:sp>
      <p:sp>
        <p:nvSpPr>
          <p:cNvPr id="12" name="">
            <a:extLst xmlns:a="http://schemas.openxmlformats.org/drawingml/2006/main">
              <a:ext uri="{FF2B5EF4-FFF2-40B4-BE49-F238E27FC236}">
                <a16:creationId xmlns:a16="http://schemas.microsoft.com/office/drawing/2014/main" id="{79FC6D09-B9F1-4070-B017-B299C33772C4}"/>
              </a:ext>
            </a:extLst>
          </p:cNvPr>
          <p:cNvSpPr>
            <a:spLocks xmlns:a="http://schemas.openxmlformats.org/drawingml/2006/main" noGrp="1"/>
          </p:cNvSpPr>
          <p:nvPr/>
        </p:nvSpPr>
        <p:spPr>
          <a:xfrm xmlns:a="http://schemas.openxmlformats.org/drawingml/2006/main">
            <a:off x="8382000" y="3476625"/>
            <a:ext cx="2495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75" b="1">
                <a:solidFill>
                  <a:srgbClr val="F7F2E8"/>
                </a:solidFill>
              </a:defRPr>
            </a:pPr>
            <a:r>
              <a:rPr sz="1875" b="1">
                <a:solidFill>
                  <a:srgbClr val="F7F2E8"/>
                </a:solidFill>
              </a:rPr>
              <a:t>Verification</a:t>
            </a:r>
          </a:p>
          <a:p xmlns:a="http://schemas.openxmlformats.org/drawingml/2006/main">
            <a:pPr algn="ctr">
              <a:buNone/>
              <a:defRPr sz="1875" b="1">
                <a:solidFill>
                  <a:srgbClr val="F7F2E8"/>
                </a:solidFill>
              </a:defRPr>
            </a:pPr>
            <a:r>
              <a:rPr sz="1875" b="1">
                <a:solidFill>
                  <a:srgbClr val="F7F2E8"/>
                </a:solidFill>
              </a:rPr>
              <a:t>passed</a:t>
            </a:r>
          </a:p>
        </p:txBody>
      </p:sp>
    </p:spTree>
    <p:extLst>
      <p:ext uri="{BB962C8B-B14F-4D97-AF65-F5344CB8AC3E}">
        <p14:creationId xmlns:p14="http://schemas.microsoft.com/office/powerpoint/2010/main" val="2099694137"/>
      </p:ext>
    </p:extLst>
  </p:cSld>
</p:sld>
</file>

<file path=ppt/slides/slide9.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1B95847-EF49-4A93-BE0A-693487859094}"/>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924DA85-AD42-4AF1-AAAE-AC7F7F1421FC}"/>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D76FBE4A-0FC5-4A8F-A437-4B7CE70AE9DE}"/>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SENSITIVITY</a:t>
            </a:r>
          </a:p>
        </p:txBody>
      </p:sp>
      <p:sp>
        <p:nvSpPr>
          <p:cNvPr id="4" name="">
            <a:extLst xmlns:a="http://schemas.openxmlformats.org/drawingml/2006/main">
              <a:ext uri="{FF2B5EF4-FFF2-40B4-BE49-F238E27FC236}">
                <a16:creationId xmlns:a16="http://schemas.microsoft.com/office/drawing/2014/main" id="{341CA0E6-572D-4A26-9F19-17AB22A24015}"/>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09</a:t>
            </a:r>
          </a:p>
        </p:txBody>
      </p:sp>
      <p:sp>
        <p:nvSpPr>
          <p:cNvPr id="5" name="">
            <a:extLst xmlns:a="http://schemas.openxmlformats.org/drawingml/2006/main">
              <a:ext uri="{FF2B5EF4-FFF2-40B4-BE49-F238E27FC236}">
                <a16:creationId xmlns:a16="http://schemas.microsoft.com/office/drawing/2014/main" id="{4736EF36-EAE9-4EAE-8F50-60F62C8AEDAF}"/>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99101C8C-B1CC-4C32-A46C-1479BB46BF82}"/>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A small input change reveals solution fragility.</a:t>
            </a:r>
          </a:p>
        </p:txBody>
      </p:sp>
      <p:sp>
        <p:nvSpPr>
          <p:cNvPr id="7" name="">
            <a:extLst xmlns:a="http://schemas.openxmlformats.org/drawingml/2006/main">
              <a:ext uri="{FF2B5EF4-FFF2-40B4-BE49-F238E27FC236}">
                <a16:creationId xmlns:a16="http://schemas.microsoft.com/office/drawing/2014/main" id="{480ED000-1CC1-4650-B021-3E3E3EA3AA26}"/>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Perturb b deliberately and measure how strongly the computed solution responds.</a:t>
            </a:r>
          </a:p>
        </p:txBody>
      </p:sp>
      <p:sp>
        <p:nvSpPr>
          <p:cNvPr id="8" name="">
            <a:extLst xmlns:a="http://schemas.openxmlformats.org/drawingml/2006/main">
              <a:ext uri="{FF2B5EF4-FFF2-40B4-BE49-F238E27FC236}">
                <a16:creationId xmlns:a16="http://schemas.microsoft.com/office/drawing/2014/main" id="{01DF12B4-7984-4C00-B72D-8F984C5F82F5}"/>
              </a:ext>
            </a:extLst>
          </p:cNvPr>
          <p:cNvSpPr>
            <a:spLocks xmlns:a="http://schemas.openxmlformats.org/drawingml/2006/main" noGrp="1"/>
          </p:cNvSpPr>
          <p:nvPr/>
        </p:nvSpPr>
        <p:spPr>
          <a:xfrm xmlns:a="http://schemas.openxmlformats.org/drawingml/2006/main">
            <a:off x="952500" y="2333625"/>
            <a:ext cx="4572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625" b="1">
                <a:solidFill>
                  <a:srgbClr val="F7F2E8"/>
                </a:solidFill>
              </a:defRPr>
            </a:pPr>
            <a:r>
              <a:rPr sz="2625" b="1">
                <a:solidFill>
                  <a:srgbClr val="F7F2E8"/>
                </a:solidFill>
              </a:rPr>
              <a:t>‖x′−x‖</a:t>
            </a:r>
          </a:p>
        </p:txBody>
      </p:sp>
      <p:sp>
        <p:nvSpPr>
          <p:cNvPr id="9" name="">
            <a:extLst xmlns:a="http://schemas.openxmlformats.org/drawingml/2006/main">
              <a:ext uri="{FF2B5EF4-FFF2-40B4-BE49-F238E27FC236}">
                <a16:creationId xmlns:a16="http://schemas.microsoft.com/office/drawing/2014/main" id="{2D5B6E9B-C3B2-4C6D-9BF8-BA2343DF18DC}"/>
              </a:ext>
            </a:extLst>
          </p:cNvPr>
          <p:cNvSpPr>
            <a:spLocks xmlns:a="http://schemas.openxmlformats.org/drawingml/2006/main" noGrp="1"/>
          </p:cNvSpPr>
          <p:nvPr/>
        </p:nvSpPr>
        <p:spPr>
          <a:xfrm xmlns:a="http://schemas.openxmlformats.org/drawingml/2006/main">
            <a:off x="5619750" y="2333625"/>
            <a:ext cx="762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150" b="1">
                <a:solidFill>
                  <a:srgbClr val="D9A441"/>
                </a:solidFill>
              </a:defRPr>
            </a:pPr>
            <a:r>
              <a:rPr sz="3150" b="1">
                <a:solidFill>
                  <a:srgbClr val="D9A441"/>
                </a:solidFill>
              </a:rPr>
              <a:t>≤</a:t>
            </a:r>
          </a:p>
        </p:txBody>
      </p:sp>
      <p:sp>
        <p:nvSpPr>
          <p:cNvPr id="10" name="">
            <a:extLst xmlns:a="http://schemas.openxmlformats.org/drawingml/2006/main">
              <a:ext uri="{FF2B5EF4-FFF2-40B4-BE49-F238E27FC236}">
                <a16:creationId xmlns:a16="http://schemas.microsoft.com/office/drawing/2014/main" id="{CD91A095-621F-4B0F-800E-F1F57819454D}"/>
              </a:ext>
            </a:extLst>
          </p:cNvPr>
          <p:cNvSpPr>
            <a:spLocks xmlns:a="http://schemas.openxmlformats.org/drawingml/2006/main" noGrp="1"/>
          </p:cNvSpPr>
          <p:nvPr/>
        </p:nvSpPr>
        <p:spPr>
          <a:xfrm xmlns:a="http://schemas.openxmlformats.org/drawingml/2006/main">
            <a:off x="6572250" y="2238375"/>
            <a:ext cx="2857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4500" b="1">
                <a:solidFill>
                  <a:srgbClr val="D9A441"/>
                </a:solidFill>
              </a:defRPr>
            </a:pPr>
            <a:r>
              <a:rPr sz="4500" b="1">
                <a:solidFill>
                  <a:srgbClr val="D9A441"/>
                </a:solidFill>
              </a:rPr>
              <a:t>κ(A)</a:t>
            </a:r>
          </a:p>
        </p:txBody>
      </p:sp>
      <p:sp>
        <p:nvSpPr>
          <p:cNvPr id="11" name="">
            <a:extLst xmlns:a="http://schemas.openxmlformats.org/drawingml/2006/main">
              <a:ext uri="{FF2B5EF4-FFF2-40B4-BE49-F238E27FC236}">
                <a16:creationId xmlns:a16="http://schemas.microsoft.com/office/drawing/2014/main" id="{E90A8BBC-EE1A-463D-9C46-004840152DF4}"/>
              </a:ext>
            </a:extLst>
          </p:cNvPr>
          <p:cNvSpPr>
            <a:spLocks xmlns:a="http://schemas.openxmlformats.org/drawingml/2006/main" noGrp="1"/>
          </p:cNvSpPr>
          <p:nvPr/>
        </p:nvSpPr>
        <p:spPr>
          <a:xfrm xmlns:a="http://schemas.openxmlformats.org/drawingml/2006/main">
            <a:off x="1524000" y="3638550"/>
            <a:ext cx="8477250" cy="0"/>
          </a:xfrm>
          <a:prstGeom xmlns:a="http://schemas.openxmlformats.org/drawingml/2006/main" prst="line">
            <a:avLst/>
          </a:prstGeom>
          <a:noFill xmlns:a="http://schemas.openxmlformats.org/drawingml/2006/main"/>
          <a:ln xmlns:a="http://schemas.openxmlformats.org/drawingml/2006/main" w="47625">
            <a:solidFill>
              <a:srgbClr val="22B8A7"/>
            </a:solidFill>
            <a:prstDash val="solid"/>
          </a:ln>
        </p:spPr>
      </p:sp>
      <p:sp>
        <p:nvSpPr>
          <p:cNvPr id="12" name="">
            <a:extLst xmlns:a="http://schemas.openxmlformats.org/drawingml/2006/main">
              <a:ext uri="{FF2B5EF4-FFF2-40B4-BE49-F238E27FC236}">
                <a16:creationId xmlns:a16="http://schemas.microsoft.com/office/drawing/2014/main" id="{2EE0EAB2-28E5-4B1E-8A42-8A96B98F0FDC}"/>
              </a:ext>
            </a:extLst>
          </p:cNvPr>
          <p:cNvSpPr>
            <a:spLocks xmlns:a="http://schemas.openxmlformats.org/drawingml/2006/main" noGrp="1"/>
          </p:cNvSpPr>
          <p:nvPr/>
        </p:nvSpPr>
        <p:spPr>
          <a:xfrm xmlns:a="http://schemas.openxmlformats.org/drawingml/2006/main">
            <a:off x="2286000" y="3333750"/>
            <a:ext cx="1428750" cy="685800"/>
          </a:xfrm>
          <a:prstGeom xmlns:a="http://schemas.openxmlformats.org/drawingml/2006/main" prst="roundRect">
            <a:avLst>
              <a:gd name="adj" fmla="val 11111"/>
            </a:avLst>
          </a:prstGeom>
          <a:solidFill xmlns:a="http://schemas.openxmlformats.org/drawingml/2006/main">
            <a:srgbClr val="0D2A43"/>
          </a:solidFill>
          <a:ln xmlns:a="http://schemas.openxmlformats.org/drawingml/2006/main" w="9525">
            <a:solidFill>
              <a:srgbClr val="22B8A7"/>
            </a:solidFill>
            <a:prstDash val="solid"/>
          </a:ln>
        </p:spPr>
      </p:sp>
      <p:sp>
        <p:nvSpPr>
          <p:cNvPr id="13" name="">
            <a:extLst xmlns:a="http://schemas.openxmlformats.org/drawingml/2006/main">
              <a:ext uri="{FF2B5EF4-FFF2-40B4-BE49-F238E27FC236}">
                <a16:creationId xmlns:a16="http://schemas.microsoft.com/office/drawing/2014/main" id="{BD895F9A-F080-4B40-810A-3325FCEFC6B3}"/>
              </a:ext>
            </a:extLst>
          </p:cNvPr>
          <p:cNvSpPr>
            <a:spLocks xmlns:a="http://schemas.openxmlformats.org/drawingml/2006/main" noGrp="1"/>
          </p:cNvSpPr>
          <p:nvPr/>
        </p:nvSpPr>
        <p:spPr>
          <a:xfrm xmlns:a="http://schemas.openxmlformats.org/drawingml/2006/main">
            <a:off x="2381250" y="3429000"/>
            <a:ext cx="123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F7F2E8"/>
                </a:solidFill>
              </a:defRPr>
            </a:pPr>
            <a:r>
              <a:rPr sz="1650" b="1">
                <a:solidFill>
                  <a:srgbClr val="F7F2E8"/>
                </a:solidFill>
              </a:rPr>
              <a:t>b</a:t>
            </a:r>
          </a:p>
        </p:txBody>
      </p:sp>
      <p:sp>
        <p:nvSpPr>
          <p:cNvPr id="14" name="">
            <a:extLst xmlns:a="http://schemas.openxmlformats.org/drawingml/2006/main">
              <a:ext uri="{FF2B5EF4-FFF2-40B4-BE49-F238E27FC236}">
                <a16:creationId xmlns:a16="http://schemas.microsoft.com/office/drawing/2014/main" id="{0CC25AF4-CA69-4E6D-BE61-815C7026DD3A}"/>
              </a:ext>
            </a:extLst>
          </p:cNvPr>
          <p:cNvSpPr>
            <a:spLocks xmlns:a="http://schemas.openxmlformats.org/drawingml/2006/main" noGrp="1"/>
          </p:cNvSpPr>
          <p:nvPr/>
        </p:nvSpPr>
        <p:spPr>
          <a:xfrm xmlns:a="http://schemas.openxmlformats.org/drawingml/2006/main">
            <a:off x="8477250" y="3333750"/>
            <a:ext cx="1428750" cy="685800"/>
          </a:xfrm>
          <a:prstGeom xmlns:a="http://schemas.openxmlformats.org/drawingml/2006/main" prst="roundRect">
            <a:avLst>
              <a:gd name="adj" fmla="val 11111"/>
            </a:avLst>
          </a:prstGeom>
          <a:solidFill xmlns:a="http://schemas.openxmlformats.org/drawingml/2006/main">
            <a:srgbClr val="22B8A7"/>
          </a:solidFill>
          <a:ln xmlns:a="http://schemas.openxmlformats.org/drawingml/2006/main" w="9525">
            <a:solidFill>
              <a:srgbClr val="22B8A7"/>
            </a:solidFill>
            <a:prstDash val="solid"/>
          </a:ln>
        </p:spPr>
      </p:sp>
      <p:sp>
        <p:nvSpPr>
          <p:cNvPr id="15" name="">
            <a:extLst xmlns:a="http://schemas.openxmlformats.org/drawingml/2006/main">
              <a:ext uri="{FF2B5EF4-FFF2-40B4-BE49-F238E27FC236}">
                <a16:creationId xmlns:a16="http://schemas.microsoft.com/office/drawing/2014/main" id="{20460F94-C667-4027-89F9-53776112BBD4}"/>
              </a:ext>
            </a:extLst>
          </p:cNvPr>
          <p:cNvSpPr>
            <a:spLocks xmlns:a="http://schemas.openxmlformats.org/drawingml/2006/main" noGrp="1"/>
          </p:cNvSpPr>
          <p:nvPr/>
        </p:nvSpPr>
        <p:spPr>
          <a:xfrm xmlns:a="http://schemas.openxmlformats.org/drawingml/2006/main">
            <a:off x="8572500" y="3429000"/>
            <a:ext cx="123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071A2C"/>
                </a:solidFill>
              </a:defRPr>
            </a:pPr>
            <a:r>
              <a:rPr sz="1650" b="1">
                <a:solidFill>
                  <a:srgbClr val="071A2C"/>
                </a:solidFill>
              </a:rPr>
              <a:t>b′</a:t>
            </a:r>
          </a:p>
        </p:txBody>
      </p:sp>
      <p:sp>
        <p:nvSpPr>
          <p:cNvPr id="16" name="">
            <a:extLst xmlns:a="http://schemas.openxmlformats.org/drawingml/2006/main">
              <a:ext uri="{FF2B5EF4-FFF2-40B4-BE49-F238E27FC236}">
                <a16:creationId xmlns:a16="http://schemas.microsoft.com/office/drawing/2014/main" id="{27229416-2A0F-4464-ADE9-7C9E20C850FE}"/>
              </a:ext>
            </a:extLst>
          </p:cNvPr>
          <p:cNvSpPr>
            <a:spLocks xmlns:a="http://schemas.openxmlformats.org/drawingml/2006/main" noGrp="1"/>
          </p:cNvSpPr>
          <p:nvPr/>
        </p:nvSpPr>
        <p:spPr>
          <a:xfrm xmlns:a="http://schemas.openxmlformats.org/drawingml/2006/main">
            <a:off x="2095500" y="4762500"/>
            <a:ext cx="8001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79D7CC"/>
                </a:solidFill>
              </a:defRPr>
            </a:pPr>
            <a:r>
              <a:rPr sz="2025" b="1">
                <a:solidFill>
                  <a:srgbClr val="79D7CC"/>
                </a:solidFill>
              </a:rPr>
              <a:t>Sensitivity test: controlled perturbation, measured consequence</a:t>
            </a:r>
          </a:p>
        </p:txBody>
      </p:sp>
    </p:spTree>
    <p:extLst>
      <p:ext uri="{BB962C8B-B14F-4D97-AF65-F5344CB8AC3E}">
        <p14:creationId xmlns:p14="http://schemas.microsoft.com/office/powerpoint/2010/main" val="1237612231"/>
      </p:ext>
    </p:extLst>
  </p:cSld>
</p:sld>
</file>

<file path=ppt/slides/slide10.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95D4F8A-B1E0-4597-9D42-FF14166EF97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E1901E1-F5E8-4A40-BCFC-3B082E54619E}"/>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B908A2E7-FE18-4204-90B3-0D7F7E03E5CD}"/>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VERIFICATION AND VALIDATION</a:t>
            </a:r>
          </a:p>
        </p:txBody>
      </p:sp>
      <p:sp>
        <p:nvSpPr>
          <p:cNvPr id="4" name="">
            <a:extLst xmlns:a="http://schemas.openxmlformats.org/drawingml/2006/main">
              <a:ext uri="{FF2B5EF4-FFF2-40B4-BE49-F238E27FC236}">
                <a16:creationId xmlns:a16="http://schemas.microsoft.com/office/drawing/2014/main" id="{58E0FAB1-CEAA-4C40-B33E-70CDB8FC7DFD}"/>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10</a:t>
            </a:r>
          </a:p>
        </p:txBody>
      </p:sp>
      <p:sp>
        <p:nvSpPr>
          <p:cNvPr id="5" name="">
            <a:extLst xmlns:a="http://schemas.openxmlformats.org/drawingml/2006/main">
              <a:ext uri="{FF2B5EF4-FFF2-40B4-BE49-F238E27FC236}">
                <a16:creationId xmlns:a16="http://schemas.microsoft.com/office/drawing/2014/main" id="{34FCD115-31E3-430E-A044-EF6FC0F40A3E}"/>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251FFC67-716F-479E-B92B-C931D7ACDD2A}"/>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Correct algebra is not the same as a valid model.</a:t>
            </a:r>
          </a:p>
        </p:txBody>
      </p:sp>
      <p:sp>
        <p:nvSpPr>
          <p:cNvPr id="7" name="">
            <a:extLst xmlns:a="http://schemas.openxmlformats.org/drawingml/2006/main">
              <a:ext uri="{FF2B5EF4-FFF2-40B4-BE49-F238E27FC236}">
                <a16:creationId xmlns:a16="http://schemas.microsoft.com/office/drawing/2014/main" id="{E0D9F7CB-EA64-4473-930E-4C8CEDBEE6E9}"/>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Both questions are essential—and they control different risks.</a:t>
            </a:r>
          </a:p>
        </p:txBody>
      </p:sp>
      <p:sp>
        <p:nvSpPr>
          <p:cNvPr id="8" name="">
            <a:extLst xmlns:a="http://schemas.openxmlformats.org/drawingml/2006/main">
              <a:ext uri="{FF2B5EF4-FFF2-40B4-BE49-F238E27FC236}">
                <a16:creationId xmlns:a16="http://schemas.microsoft.com/office/drawing/2014/main" id="{D945058C-8AAD-48E4-B4A4-C3B413C2C26A}"/>
              </a:ext>
            </a:extLst>
          </p:cNvPr>
          <p:cNvSpPr>
            <a:spLocks xmlns:a="http://schemas.openxmlformats.org/drawingml/2006/main" noGrp="1"/>
          </p:cNvSpPr>
          <p:nvPr/>
        </p:nvSpPr>
        <p:spPr>
          <a:xfrm xmlns:a="http://schemas.openxmlformats.org/drawingml/2006/main">
            <a:off x="647700" y="2238375"/>
            <a:ext cx="5095875" cy="2857500"/>
          </a:xfrm>
          <a:prstGeom xmlns:a="http://schemas.openxmlformats.org/drawingml/2006/main" prst="roundRect">
            <a:avLst>
              <a:gd name="adj" fmla="val 2667"/>
            </a:avLst>
          </a:prstGeom>
          <a:solidFill xmlns:a="http://schemas.openxmlformats.org/drawingml/2006/main">
            <a:srgbClr val="0D2A43"/>
          </a:solidFill>
          <a:ln xmlns:a="http://schemas.openxmlformats.org/drawingml/2006/main" w="9525">
            <a:solidFill>
              <a:srgbClr val="22B8A7"/>
            </a:solidFill>
            <a:prstDash val="solid"/>
          </a:ln>
        </p:spPr>
      </p:sp>
      <p:sp>
        <p:nvSpPr>
          <p:cNvPr id="9" name="">
            <a:extLst xmlns:a="http://schemas.openxmlformats.org/drawingml/2006/main">
              <a:ext uri="{FF2B5EF4-FFF2-40B4-BE49-F238E27FC236}">
                <a16:creationId xmlns:a16="http://schemas.microsoft.com/office/drawing/2014/main" id="{0F21FF99-BE4A-440B-A49F-0DEDC1DA80CC}"/>
              </a:ext>
            </a:extLst>
          </p:cNvPr>
          <p:cNvSpPr>
            <a:spLocks xmlns:a="http://schemas.openxmlformats.org/drawingml/2006/main" noGrp="1"/>
          </p:cNvSpPr>
          <p:nvPr/>
        </p:nvSpPr>
        <p:spPr>
          <a:xfrm xmlns:a="http://schemas.openxmlformats.org/drawingml/2006/main">
            <a:off x="914400" y="2457450"/>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79D7CC"/>
                </a:solidFill>
              </a:defRPr>
            </a:pPr>
            <a:r>
              <a:rPr sz="1650" b="1">
                <a:solidFill>
                  <a:srgbClr val="79D7CC"/>
                </a:solidFill>
              </a:rPr>
              <a:t>VERIFICATION</a:t>
            </a:r>
          </a:p>
        </p:txBody>
      </p:sp>
      <p:sp>
        <p:nvSpPr>
          <p:cNvPr id="10" name="">
            <a:extLst xmlns:a="http://schemas.openxmlformats.org/drawingml/2006/main">
              <a:ext uri="{FF2B5EF4-FFF2-40B4-BE49-F238E27FC236}">
                <a16:creationId xmlns:a16="http://schemas.microsoft.com/office/drawing/2014/main" id="{79E3E3AF-82D5-4363-A06E-62C8149081DB}"/>
              </a:ext>
            </a:extLst>
          </p:cNvPr>
          <p:cNvSpPr>
            <a:spLocks xmlns:a="http://schemas.openxmlformats.org/drawingml/2006/main" noGrp="1"/>
          </p:cNvSpPr>
          <p:nvPr/>
        </p:nvSpPr>
        <p:spPr>
          <a:xfrm xmlns:a="http://schemas.openxmlformats.org/drawingml/2006/main">
            <a:off x="1009650" y="3095625"/>
            <a:ext cx="4381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F7F2E8"/>
                </a:solidFill>
              </a:defRPr>
            </a:pPr>
            <a:r>
              <a:rPr sz="2250" b="1">
                <a:solidFill>
                  <a:srgbClr val="F7F2E8"/>
                </a:solidFill>
              </a:rPr>
              <a:t>Did we solve</a:t>
            </a:r>
          </a:p>
          <a:p xmlns:a="http://schemas.openxmlformats.org/drawingml/2006/main">
            <a:pPr algn="ctr">
              <a:buNone/>
              <a:defRPr sz="2250" b="1">
                <a:solidFill>
                  <a:srgbClr val="F7F2E8"/>
                </a:solidFill>
              </a:defRPr>
            </a:pPr>
            <a:r>
              <a:rPr sz="2250" b="1">
                <a:solidFill>
                  <a:srgbClr val="F7F2E8"/>
                </a:solidFill>
              </a:rPr>
              <a:t>the equations correctly?</a:t>
            </a:r>
          </a:p>
        </p:txBody>
      </p:sp>
      <p:sp>
        <p:nvSpPr>
          <p:cNvPr id="11" name="">
            <a:extLst xmlns:a="http://schemas.openxmlformats.org/drawingml/2006/main">
              <a:ext uri="{FF2B5EF4-FFF2-40B4-BE49-F238E27FC236}">
                <a16:creationId xmlns:a16="http://schemas.microsoft.com/office/drawing/2014/main" id="{882943B6-4B57-4847-999D-53780F9F2AF9}"/>
              </a:ext>
            </a:extLst>
          </p:cNvPr>
          <p:cNvSpPr>
            <a:spLocks xmlns:a="http://schemas.openxmlformats.org/drawingml/2006/main" noGrp="1"/>
          </p:cNvSpPr>
          <p:nvPr/>
        </p:nvSpPr>
        <p:spPr>
          <a:xfrm xmlns:a="http://schemas.openxmlformats.org/drawingml/2006/main">
            <a:off x="1504950" y="4229100"/>
            <a:ext cx="3381375" cy="438150"/>
          </a:xfrm>
          <a:prstGeom xmlns:a="http://schemas.openxmlformats.org/drawingml/2006/main" prst="roundRect">
            <a:avLst>
              <a:gd name="adj" fmla="val 17391"/>
            </a:avLst>
          </a:prstGeom>
          <a:solidFill xmlns:a="http://schemas.openxmlformats.org/drawingml/2006/main">
            <a:srgbClr val="071A2C"/>
          </a:solidFill>
          <a:ln xmlns:a="http://schemas.openxmlformats.org/drawingml/2006/main" w="9525">
            <a:solidFill>
              <a:srgbClr val="22B8A7"/>
            </a:solidFill>
            <a:prstDash val="solid"/>
          </a:ln>
        </p:spPr>
      </p:sp>
      <p:sp>
        <p:nvSpPr>
          <p:cNvPr id="12" name="">
            <a:extLst xmlns:a="http://schemas.openxmlformats.org/drawingml/2006/main">
              <a:ext uri="{FF2B5EF4-FFF2-40B4-BE49-F238E27FC236}">
                <a16:creationId xmlns:a16="http://schemas.microsoft.com/office/drawing/2014/main" id="{17A2F59E-E3A7-4E64-AC80-A3FCAFA0F339}"/>
              </a:ext>
            </a:extLst>
          </p:cNvPr>
          <p:cNvSpPr>
            <a:spLocks xmlns:a="http://schemas.openxmlformats.org/drawingml/2006/main" noGrp="1"/>
          </p:cNvSpPr>
          <p:nvPr/>
        </p:nvSpPr>
        <p:spPr>
          <a:xfrm xmlns:a="http://schemas.openxmlformats.org/drawingml/2006/main">
            <a:off x="1600200" y="4267200"/>
            <a:ext cx="3190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F7F2E8"/>
                </a:solidFill>
              </a:defRPr>
            </a:pPr>
            <a:r>
              <a:rPr sz="1275" b="1">
                <a:solidFill>
                  <a:srgbClr val="F7F2E8"/>
                </a:solidFill>
              </a:rPr>
              <a:t>mathematics + code</a:t>
            </a:r>
          </a:p>
        </p:txBody>
      </p:sp>
      <p:sp>
        <p:nvSpPr>
          <p:cNvPr id="13" name="">
            <a:extLst xmlns:a="http://schemas.openxmlformats.org/drawingml/2006/main">
              <a:ext uri="{FF2B5EF4-FFF2-40B4-BE49-F238E27FC236}">
                <a16:creationId xmlns:a16="http://schemas.microsoft.com/office/drawing/2014/main" id="{6745E684-4DCF-431F-892D-F67BCF53D216}"/>
              </a:ext>
            </a:extLst>
          </p:cNvPr>
          <p:cNvSpPr>
            <a:spLocks xmlns:a="http://schemas.openxmlformats.org/drawingml/2006/main" noGrp="1"/>
          </p:cNvSpPr>
          <p:nvPr/>
        </p:nvSpPr>
        <p:spPr>
          <a:xfrm xmlns:a="http://schemas.openxmlformats.org/drawingml/2006/main">
            <a:off x="6400800" y="2238375"/>
            <a:ext cx="5095875" cy="2857500"/>
          </a:xfrm>
          <a:prstGeom xmlns:a="http://schemas.openxmlformats.org/drawingml/2006/main" prst="roundRect">
            <a:avLst>
              <a:gd name="adj" fmla="val 2667"/>
            </a:avLst>
          </a:prstGeom>
          <a:solidFill xmlns:a="http://schemas.openxmlformats.org/drawingml/2006/main">
            <a:srgbClr val="2B2730"/>
          </a:solidFill>
          <a:ln xmlns:a="http://schemas.openxmlformats.org/drawingml/2006/main" w="9525">
            <a:solidFill>
              <a:srgbClr val="D9A441"/>
            </a:solidFill>
            <a:prstDash val="solid"/>
          </a:ln>
        </p:spPr>
      </p:sp>
      <p:sp>
        <p:nvSpPr>
          <p:cNvPr id="14" name="">
            <a:extLst xmlns:a="http://schemas.openxmlformats.org/drawingml/2006/main">
              <a:ext uri="{FF2B5EF4-FFF2-40B4-BE49-F238E27FC236}">
                <a16:creationId xmlns:a16="http://schemas.microsoft.com/office/drawing/2014/main" id="{529908DA-F6A6-4324-80D4-3DB4B12EDB7B}"/>
              </a:ext>
            </a:extLst>
          </p:cNvPr>
          <p:cNvSpPr>
            <a:spLocks xmlns:a="http://schemas.openxmlformats.org/drawingml/2006/main" noGrp="1"/>
          </p:cNvSpPr>
          <p:nvPr/>
        </p:nvSpPr>
        <p:spPr>
          <a:xfrm xmlns:a="http://schemas.openxmlformats.org/drawingml/2006/main">
            <a:off x="6667500" y="2457450"/>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D9A441"/>
                </a:solidFill>
              </a:defRPr>
            </a:pPr>
            <a:r>
              <a:rPr sz="1650" b="1">
                <a:solidFill>
                  <a:srgbClr val="D9A441"/>
                </a:solidFill>
              </a:rPr>
              <a:t>VALIDATION</a:t>
            </a:r>
          </a:p>
        </p:txBody>
      </p:sp>
      <p:sp>
        <p:nvSpPr>
          <p:cNvPr id="15" name="">
            <a:extLst xmlns:a="http://schemas.openxmlformats.org/drawingml/2006/main">
              <a:ext uri="{FF2B5EF4-FFF2-40B4-BE49-F238E27FC236}">
                <a16:creationId xmlns:a16="http://schemas.microsoft.com/office/drawing/2014/main" id="{C071BBD8-1CAC-49E5-99A0-D0973CA6DB29}"/>
              </a:ext>
            </a:extLst>
          </p:cNvPr>
          <p:cNvSpPr>
            <a:spLocks xmlns:a="http://schemas.openxmlformats.org/drawingml/2006/main" noGrp="1"/>
          </p:cNvSpPr>
          <p:nvPr/>
        </p:nvSpPr>
        <p:spPr>
          <a:xfrm xmlns:a="http://schemas.openxmlformats.org/drawingml/2006/main">
            <a:off x="6762750" y="3095625"/>
            <a:ext cx="4381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F7F2E8"/>
                </a:solidFill>
              </a:defRPr>
            </a:pPr>
            <a:r>
              <a:rPr sz="2250" b="1">
                <a:solidFill>
                  <a:srgbClr val="F7F2E8"/>
                </a:solidFill>
              </a:rPr>
              <a:t>Do these equations represent</a:t>
            </a:r>
          </a:p>
          <a:p xmlns:a="http://schemas.openxmlformats.org/drawingml/2006/main">
            <a:pPr algn="ctr">
              <a:buNone/>
              <a:defRPr sz="2250" b="1">
                <a:solidFill>
                  <a:srgbClr val="F7F2E8"/>
                </a:solidFill>
              </a:defRPr>
            </a:pPr>
            <a:r>
              <a:rPr sz="2250" b="1">
                <a:solidFill>
                  <a:srgbClr val="F7F2E8"/>
                </a:solidFill>
              </a:rPr>
              <a:t>the real decision?</a:t>
            </a:r>
          </a:p>
        </p:txBody>
      </p:sp>
      <p:sp>
        <p:nvSpPr>
          <p:cNvPr id="16" name="">
            <a:extLst xmlns:a="http://schemas.openxmlformats.org/drawingml/2006/main">
              <a:ext uri="{FF2B5EF4-FFF2-40B4-BE49-F238E27FC236}">
                <a16:creationId xmlns:a16="http://schemas.microsoft.com/office/drawing/2014/main" id="{9226D951-B56C-4048-A1A1-79A30337A3B8}"/>
              </a:ext>
            </a:extLst>
          </p:cNvPr>
          <p:cNvSpPr>
            <a:spLocks xmlns:a="http://schemas.openxmlformats.org/drawingml/2006/main" noGrp="1"/>
          </p:cNvSpPr>
          <p:nvPr/>
        </p:nvSpPr>
        <p:spPr>
          <a:xfrm xmlns:a="http://schemas.openxmlformats.org/drawingml/2006/main">
            <a:off x="7258050" y="4229100"/>
            <a:ext cx="3381375" cy="438150"/>
          </a:xfrm>
          <a:prstGeom xmlns:a="http://schemas.openxmlformats.org/drawingml/2006/main" prst="roundRect">
            <a:avLst>
              <a:gd name="adj" fmla="val 17391"/>
            </a:avLst>
          </a:prstGeom>
          <a:solidFill xmlns:a="http://schemas.openxmlformats.org/drawingml/2006/main">
            <a:srgbClr val="17131C"/>
          </a:solidFill>
          <a:ln xmlns:a="http://schemas.openxmlformats.org/drawingml/2006/main" w="9525">
            <a:solidFill>
              <a:srgbClr val="22B8A7"/>
            </a:solidFill>
            <a:prstDash val="solid"/>
          </a:ln>
        </p:spPr>
      </p:sp>
      <p:sp>
        <p:nvSpPr>
          <p:cNvPr id="17" name="">
            <a:extLst xmlns:a="http://schemas.openxmlformats.org/drawingml/2006/main">
              <a:ext uri="{FF2B5EF4-FFF2-40B4-BE49-F238E27FC236}">
                <a16:creationId xmlns:a16="http://schemas.microsoft.com/office/drawing/2014/main" id="{A23223B5-25F3-4282-8ACA-C36ABC26CCA5}"/>
              </a:ext>
            </a:extLst>
          </p:cNvPr>
          <p:cNvSpPr>
            <a:spLocks xmlns:a="http://schemas.openxmlformats.org/drawingml/2006/main" noGrp="1"/>
          </p:cNvSpPr>
          <p:nvPr/>
        </p:nvSpPr>
        <p:spPr>
          <a:xfrm xmlns:a="http://schemas.openxmlformats.org/drawingml/2006/main">
            <a:off x="7353300" y="4267200"/>
            <a:ext cx="3190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F7F2E8"/>
                </a:solidFill>
              </a:defRPr>
            </a:pPr>
            <a:r>
              <a:rPr sz="1275" b="1">
                <a:solidFill>
                  <a:srgbClr val="F7F2E8"/>
                </a:solidFill>
              </a:rPr>
              <a:t>evidence + purpose</a:t>
            </a:r>
          </a:p>
        </p:txBody>
      </p:sp>
    </p:spTree>
    <p:extLst>
      <p:ext uri="{BB962C8B-B14F-4D97-AF65-F5344CB8AC3E}">
        <p14:creationId xmlns:p14="http://schemas.microsoft.com/office/powerpoint/2010/main" val="1848015540"/>
      </p:ext>
    </p:extLst>
  </p:cSld>
</p:sld>
</file>

<file path=ppt/slides/slide11.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E469957E-5961-4923-A051-ABC1CFCED480}"/>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1FF189C-A7A6-49F3-9446-E28383F36356}"/>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3D73034A-E956-45C6-A829-7E8CE517E6A1}"/>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STATISTICS AND AI</a:t>
            </a:r>
          </a:p>
        </p:txBody>
      </p:sp>
      <p:sp>
        <p:nvSpPr>
          <p:cNvPr id="4" name="">
            <a:extLst xmlns:a="http://schemas.openxmlformats.org/drawingml/2006/main">
              <a:ext uri="{FF2B5EF4-FFF2-40B4-BE49-F238E27FC236}">
                <a16:creationId xmlns:a16="http://schemas.microsoft.com/office/drawing/2014/main" id="{EF158B4A-06B5-4F0A-B2E7-114198AFD103}"/>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11</a:t>
            </a:r>
          </a:p>
        </p:txBody>
      </p:sp>
      <p:sp>
        <p:nvSpPr>
          <p:cNvPr id="5" name="">
            <a:extLst xmlns:a="http://schemas.openxmlformats.org/drawingml/2006/main">
              <a:ext uri="{FF2B5EF4-FFF2-40B4-BE49-F238E27FC236}">
                <a16:creationId xmlns:a16="http://schemas.microsoft.com/office/drawing/2014/main" id="{469F7288-9A12-4FD0-A32D-B5CE1CF2B174}"/>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5F975D19-EEBE-4E63-96A2-27238AFC1691}"/>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The same matrix discipline underlies modern analytical systems.</a:t>
            </a:r>
          </a:p>
        </p:txBody>
      </p:sp>
      <p:sp>
        <p:nvSpPr>
          <p:cNvPr id="7" name="">
            <a:extLst xmlns:a="http://schemas.openxmlformats.org/drawingml/2006/main">
              <a:ext uri="{FF2B5EF4-FFF2-40B4-BE49-F238E27FC236}">
                <a16:creationId xmlns:a16="http://schemas.microsoft.com/office/drawing/2014/main" id="{54F45A08-E68A-4EC4-829F-A1506693C1D7}"/>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Matrix algebra is infrastructure for models—not an isolated classroom technique.</a:t>
            </a:r>
          </a:p>
        </p:txBody>
      </p:sp>
      <p:sp>
        <p:nvSpPr>
          <p:cNvPr id="8" name="">
            <a:extLst xmlns:a="http://schemas.openxmlformats.org/drawingml/2006/main">
              <a:ext uri="{FF2B5EF4-FFF2-40B4-BE49-F238E27FC236}">
                <a16:creationId xmlns:a16="http://schemas.microsoft.com/office/drawing/2014/main" id="{476C1446-6A31-40F5-9E14-2147FC858666}"/>
              </a:ext>
            </a:extLst>
          </p:cNvPr>
          <p:cNvSpPr>
            <a:spLocks xmlns:a="http://schemas.openxmlformats.org/drawingml/2006/main" noGrp="1"/>
          </p:cNvSpPr>
          <p:nvPr/>
        </p:nvSpPr>
        <p:spPr>
          <a:xfrm xmlns:a="http://schemas.openxmlformats.org/drawingml/2006/main">
            <a:off x="781050" y="2190750"/>
            <a:ext cx="3238500" cy="723900"/>
          </a:xfrm>
          <a:prstGeom xmlns:a="http://schemas.openxmlformats.org/drawingml/2006/main" prst="roundRect">
            <a:avLst>
              <a:gd name="adj" fmla="val 10526"/>
            </a:avLst>
          </a:prstGeom>
          <a:solidFill xmlns:a="http://schemas.openxmlformats.org/drawingml/2006/main">
            <a:srgbClr val="0D2A43"/>
          </a:solidFill>
          <a:ln xmlns:a="http://schemas.openxmlformats.org/drawingml/2006/main" w="9525">
            <a:solidFill>
              <a:srgbClr val="22B8A7"/>
            </a:solidFill>
            <a:prstDash val="solid"/>
          </a:ln>
        </p:spPr>
      </p:sp>
      <p:sp>
        <p:nvSpPr>
          <p:cNvPr id="9" name="">
            <a:extLst xmlns:a="http://schemas.openxmlformats.org/drawingml/2006/main">
              <a:ext uri="{FF2B5EF4-FFF2-40B4-BE49-F238E27FC236}">
                <a16:creationId xmlns:a16="http://schemas.microsoft.com/office/drawing/2014/main" id="{C243DEC8-6A52-4AD9-821E-71F118C7C815}"/>
              </a:ext>
            </a:extLst>
          </p:cNvPr>
          <p:cNvSpPr>
            <a:spLocks xmlns:a="http://schemas.openxmlformats.org/drawingml/2006/main" noGrp="1"/>
          </p:cNvSpPr>
          <p:nvPr/>
        </p:nvSpPr>
        <p:spPr>
          <a:xfrm xmlns:a="http://schemas.openxmlformats.org/drawingml/2006/main">
            <a:off x="952500" y="2305050"/>
            <a:ext cx="2895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Regression</a:t>
            </a:r>
          </a:p>
        </p:txBody>
      </p:sp>
      <p:sp>
        <p:nvSpPr>
          <p:cNvPr id="10" name="">
            <a:extLst xmlns:a="http://schemas.openxmlformats.org/drawingml/2006/main">
              <a:ext uri="{FF2B5EF4-FFF2-40B4-BE49-F238E27FC236}">
                <a16:creationId xmlns:a16="http://schemas.microsoft.com/office/drawing/2014/main" id="{65BC05F0-5250-4183-8276-41BF9B3974A2}"/>
              </a:ext>
            </a:extLst>
          </p:cNvPr>
          <p:cNvSpPr>
            <a:spLocks xmlns:a="http://schemas.openxmlformats.org/drawingml/2006/main" noGrp="1"/>
          </p:cNvSpPr>
          <p:nvPr/>
        </p:nvSpPr>
        <p:spPr>
          <a:xfrm xmlns:a="http://schemas.openxmlformats.org/drawingml/2006/main">
            <a:off x="4495800" y="2190750"/>
            <a:ext cx="3238500" cy="723900"/>
          </a:xfrm>
          <a:prstGeom xmlns:a="http://schemas.openxmlformats.org/drawingml/2006/main" prst="roundRect">
            <a:avLst>
              <a:gd name="adj" fmla="val 10526"/>
            </a:avLst>
          </a:prstGeom>
          <a:solidFill xmlns:a="http://schemas.openxmlformats.org/drawingml/2006/main">
            <a:srgbClr val="0D2A43"/>
          </a:solidFill>
          <a:ln xmlns:a="http://schemas.openxmlformats.org/drawingml/2006/main" w="9525">
            <a:solidFill>
              <a:srgbClr val="22B8A7"/>
            </a:solidFill>
            <a:prstDash val="solid"/>
          </a:ln>
        </p:spPr>
      </p:sp>
      <p:sp>
        <p:nvSpPr>
          <p:cNvPr id="11" name="">
            <a:extLst xmlns:a="http://schemas.openxmlformats.org/drawingml/2006/main">
              <a:ext uri="{FF2B5EF4-FFF2-40B4-BE49-F238E27FC236}">
                <a16:creationId xmlns:a16="http://schemas.microsoft.com/office/drawing/2014/main" id="{7548EAFC-46CF-4E58-8A5B-25E4D94883F1}"/>
              </a:ext>
            </a:extLst>
          </p:cNvPr>
          <p:cNvSpPr>
            <a:spLocks xmlns:a="http://schemas.openxmlformats.org/drawingml/2006/main" noGrp="1"/>
          </p:cNvSpPr>
          <p:nvPr/>
        </p:nvSpPr>
        <p:spPr>
          <a:xfrm xmlns:a="http://schemas.openxmlformats.org/drawingml/2006/main">
            <a:off x="4667250" y="2305050"/>
            <a:ext cx="2895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Covariance</a:t>
            </a:r>
          </a:p>
        </p:txBody>
      </p:sp>
      <p:sp>
        <p:nvSpPr>
          <p:cNvPr id="12" name="">
            <a:extLst xmlns:a="http://schemas.openxmlformats.org/drawingml/2006/main">
              <a:ext uri="{FF2B5EF4-FFF2-40B4-BE49-F238E27FC236}">
                <a16:creationId xmlns:a16="http://schemas.microsoft.com/office/drawing/2014/main" id="{F5509156-A671-428E-AB76-6D567BC1E30B}"/>
              </a:ext>
            </a:extLst>
          </p:cNvPr>
          <p:cNvSpPr>
            <a:spLocks xmlns:a="http://schemas.openxmlformats.org/drawingml/2006/main" noGrp="1"/>
          </p:cNvSpPr>
          <p:nvPr/>
        </p:nvSpPr>
        <p:spPr>
          <a:xfrm xmlns:a="http://schemas.openxmlformats.org/drawingml/2006/main">
            <a:off x="8210550" y="2190750"/>
            <a:ext cx="3238500" cy="723900"/>
          </a:xfrm>
          <a:prstGeom xmlns:a="http://schemas.openxmlformats.org/drawingml/2006/main" prst="roundRect">
            <a:avLst>
              <a:gd name="adj" fmla="val 10526"/>
            </a:avLst>
          </a:prstGeom>
          <a:solidFill xmlns:a="http://schemas.openxmlformats.org/drawingml/2006/main">
            <a:srgbClr val="0D2A43"/>
          </a:solidFill>
          <a:ln xmlns:a="http://schemas.openxmlformats.org/drawingml/2006/main" w="9525">
            <a:solidFill>
              <a:srgbClr val="22B8A7"/>
            </a:solidFill>
            <a:prstDash val="solid"/>
          </a:ln>
        </p:spPr>
      </p:sp>
      <p:sp>
        <p:nvSpPr>
          <p:cNvPr id="13" name="">
            <a:extLst xmlns:a="http://schemas.openxmlformats.org/drawingml/2006/main">
              <a:ext uri="{FF2B5EF4-FFF2-40B4-BE49-F238E27FC236}">
                <a16:creationId xmlns:a16="http://schemas.microsoft.com/office/drawing/2014/main" id="{4F071D36-DFEA-437A-8948-91C3BF1EEB55}"/>
              </a:ext>
            </a:extLst>
          </p:cNvPr>
          <p:cNvSpPr>
            <a:spLocks xmlns:a="http://schemas.openxmlformats.org/drawingml/2006/main" noGrp="1"/>
          </p:cNvSpPr>
          <p:nvPr/>
        </p:nvSpPr>
        <p:spPr>
          <a:xfrm xmlns:a="http://schemas.openxmlformats.org/drawingml/2006/main">
            <a:off x="8382000" y="2305050"/>
            <a:ext cx="2895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PCA</a:t>
            </a:r>
          </a:p>
        </p:txBody>
      </p:sp>
      <p:sp>
        <p:nvSpPr>
          <p:cNvPr id="14" name="">
            <a:extLst xmlns:a="http://schemas.openxmlformats.org/drawingml/2006/main">
              <a:ext uri="{FF2B5EF4-FFF2-40B4-BE49-F238E27FC236}">
                <a16:creationId xmlns:a16="http://schemas.microsoft.com/office/drawing/2014/main" id="{47311E72-CDCE-49E4-93A7-FD9321019670}"/>
              </a:ext>
            </a:extLst>
          </p:cNvPr>
          <p:cNvSpPr>
            <a:spLocks xmlns:a="http://schemas.openxmlformats.org/drawingml/2006/main" noGrp="1"/>
          </p:cNvSpPr>
          <p:nvPr/>
        </p:nvSpPr>
        <p:spPr>
          <a:xfrm xmlns:a="http://schemas.openxmlformats.org/drawingml/2006/main">
            <a:off x="781050" y="3257550"/>
            <a:ext cx="3238500" cy="723900"/>
          </a:xfrm>
          <a:prstGeom xmlns:a="http://schemas.openxmlformats.org/drawingml/2006/main" prst="roundRect">
            <a:avLst>
              <a:gd name="adj" fmla="val 10526"/>
            </a:avLst>
          </a:prstGeom>
          <a:solidFill xmlns:a="http://schemas.openxmlformats.org/drawingml/2006/main">
            <a:srgbClr val="0D2A43"/>
          </a:solidFill>
          <a:ln xmlns:a="http://schemas.openxmlformats.org/drawingml/2006/main" w="9525">
            <a:solidFill>
              <a:srgbClr val="22B8A7"/>
            </a:solidFill>
            <a:prstDash val="solid"/>
          </a:ln>
        </p:spPr>
      </p:sp>
      <p:sp>
        <p:nvSpPr>
          <p:cNvPr id="15" name="">
            <a:extLst xmlns:a="http://schemas.openxmlformats.org/drawingml/2006/main">
              <a:ext uri="{FF2B5EF4-FFF2-40B4-BE49-F238E27FC236}">
                <a16:creationId xmlns:a16="http://schemas.microsoft.com/office/drawing/2014/main" id="{63086B9A-49B4-484C-B17F-2EB2F9309E97}"/>
              </a:ext>
            </a:extLst>
          </p:cNvPr>
          <p:cNvSpPr>
            <a:spLocks xmlns:a="http://schemas.openxmlformats.org/drawingml/2006/main" noGrp="1"/>
          </p:cNvSpPr>
          <p:nvPr/>
        </p:nvSpPr>
        <p:spPr>
          <a:xfrm xmlns:a="http://schemas.openxmlformats.org/drawingml/2006/main">
            <a:off x="952500" y="3371850"/>
            <a:ext cx="2895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Neural networks</a:t>
            </a:r>
          </a:p>
        </p:txBody>
      </p:sp>
      <p:sp>
        <p:nvSpPr>
          <p:cNvPr id="16" name="">
            <a:extLst xmlns:a="http://schemas.openxmlformats.org/drawingml/2006/main">
              <a:ext uri="{FF2B5EF4-FFF2-40B4-BE49-F238E27FC236}">
                <a16:creationId xmlns:a16="http://schemas.microsoft.com/office/drawing/2014/main" id="{D252C119-8439-4AC1-8B46-F18EC3DCAC3D}"/>
              </a:ext>
            </a:extLst>
          </p:cNvPr>
          <p:cNvSpPr>
            <a:spLocks xmlns:a="http://schemas.openxmlformats.org/drawingml/2006/main" noGrp="1"/>
          </p:cNvSpPr>
          <p:nvPr/>
        </p:nvSpPr>
        <p:spPr>
          <a:xfrm xmlns:a="http://schemas.openxmlformats.org/drawingml/2006/main">
            <a:off x="4495800" y="3257550"/>
            <a:ext cx="3238500" cy="723900"/>
          </a:xfrm>
          <a:prstGeom xmlns:a="http://schemas.openxmlformats.org/drawingml/2006/main" prst="roundRect">
            <a:avLst>
              <a:gd name="adj" fmla="val 10526"/>
            </a:avLst>
          </a:prstGeom>
          <a:solidFill xmlns:a="http://schemas.openxmlformats.org/drawingml/2006/main">
            <a:srgbClr val="0D2A43"/>
          </a:solidFill>
          <a:ln xmlns:a="http://schemas.openxmlformats.org/drawingml/2006/main" w="9525">
            <a:solidFill>
              <a:srgbClr val="22B8A7"/>
            </a:solidFill>
            <a:prstDash val="solid"/>
          </a:ln>
        </p:spPr>
      </p:sp>
      <p:sp>
        <p:nvSpPr>
          <p:cNvPr id="17" name="">
            <a:extLst xmlns:a="http://schemas.openxmlformats.org/drawingml/2006/main">
              <a:ext uri="{FF2B5EF4-FFF2-40B4-BE49-F238E27FC236}">
                <a16:creationId xmlns:a16="http://schemas.microsoft.com/office/drawing/2014/main" id="{E32FFAD4-9DA5-4046-8A2A-771558353FFC}"/>
              </a:ext>
            </a:extLst>
          </p:cNvPr>
          <p:cNvSpPr>
            <a:spLocks xmlns:a="http://schemas.openxmlformats.org/drawingml/2006/main" noGrp="1"/>
          </p:cNvSpPr>
          <p:nvPr/>
        </p:nvSpPr>
        <p:spPr>
          <a:xfrm xmlns:a="http://schemas.openxmlformats.org/drawingml/2006/main">
            <a:off x="4667250" y="3371850"/>
            <a:ext cx="2895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Embeddings</a:t>
            </a:r>
          </a:p>
        </p:txBody>
      </p:sp>
      <p:sp>
        <p:nvSpPr>
          <p:cNvPr id="18" name="">
            <a:extLst xmlns:a="http://schemas.openxmlformats.org/drawingml/2006/main">
              <a:ext uri="{FF2B5EF4-FFF2-40B4-BE49-F238E27FC236}">
                <a16:creationId xmlns:a16="http://schemas.microsoft.com/office/drawing/2014/main" id="{273304CE-1F0E-4B8C-9B1F-47A2AF21DC4F}"/>
              </a:ext>
            </a:extLst>
          </p:cNvPr>
          <p:cNvSpPr>
            <a:spLocks xmlns:a="http://schemas.openxmlformats.org/drawingml/2006/main" noGrp="1"/>
          </p:cNvSpPr>
          <p:nvPr/>
        </p:nvSpPr>
        <p:spPr>
          <a:xfrm xmlns:a="http://schemas.openxmlformats.org/drawingml/2006/main">
            <a:off x="8210550" y="3257550"/>
            <a:ext cx="3238500" cy="723900"/>
          </a:xfrm>
          <a:prstGeom xmlns:a="http://schemas.openxmlformats.org/drawingml/2006/main" prst="roundRect">
            <a:avLst>
              <a:gd name="adj" fmla="val 10526"/>
            </a:avLst>
          </a:prstGeom>
          <a:solidFill xmlns:a="http://schemas.openxmlformats.org/drawingml/2006/main">
            <a:srgbClr val="0D2A43"/>
          </a:solidFill>
          <a:ln xmlns:a="http://schemas.openxmlformats.org/drawingml/2006/main" w="9525">
            <a:solidFill>
              <a:srgbClr val="22B8A7"/>
            </a:solidFill>
            <a:prstDash val="solid"/>
          </a:ln>
        </p:spPr>
      </p:sp>
      <p:sp>
        <p:nvSpPr>
          <p:cNvPr id="19" name="">
            <a:extLst xmlns:a="http://schemas.openxmlformats.org/drawingml/2006/main">
              <a:ext uri="{FF2B5EF4-FFF2-40B4-BE49-F238E27FC236}">
                <a16:creationId xmlns:a16="http://schemas.microsoft.com/office/drawing/2014/main" id="{78789941-EC6A-4E25-8E8A-33A10CB7A13F}"/>
              </a:ext>
            </a:extLst>
          </p:cNvPr>
          <p:cNvSpPr>
            <a:spLocks xmlns:a="http://schemas.openxmlformats.org/drawingml/2006/main" noGrp="1"/>
          </p:cNvSpPr>
          <p:nvPr/>
        </p:nvSpPr>
        <p:spPr>
          <a:xfrm xmlns:a="http://schemas.openxmlformats.org/drawingml/2006/main">
            <a:off x="8382000" y="3371850"/>
            <a:ext cx="2895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Attention</a:t>
            </a:r>
          </a:p>
        </p:txBody>
      </p:sp>
      <p:sp>
        <p:nvSpPr>
          <p:cNvPr id="20" name="">
            <a:extLst xmlns:a="http://schemas.openxmlformats.org/drawingml/2006/main">
              <a:ext uri="{FF2B5EF4-FFF2-40B4-BE49-F238E27FC236}">
                <a16:creationId xmlns:a16="http://schemas.microsoft.com/office/drawing/2014/main" id="{B625A3AE-CEAC-4AC0-8C96-4C33F9CD19B3}"/>
              </a:ext>
            </a:extLst>
          </p:cNvPr>
          <p:cNvSpPr>
            <a:spLocks xmlns:a="http://schemas.openxmlformats.org/drawingml/2006/main" noGrp="1"/>
          </p:cNvSpPr>
          <p:nvPr/>
        </p:nvSpPr>
        <p:spPr>
          <a:xfrm xmlns:a="http://schemas.openxmlformats.org/drawingml/2006/main">
            <a:off x="781050" y="4324350"/>
            <a:ext cx="3238500" cy="723900"/>
          </a:xfrm>
          <a:prstGeom xmlns:a="http://schemas.openxmlformats.org/drawingml/2006/main" prst="roundRect">
            <a:avLst>
              <a:gd name="adj" fmla="val 10526"/>
            </a:avLst>
          </a:prstGeom>
          <a:solidFill xmlns:a="http://schemas.openxmlformats.org/drawingml/2006/main">
            <a:srgbClr val="3C2730"/>
          </a:solidFill>
          <a:ln xmlns:a="http://schemas.openxmlformats.org/drawingml/2006/main" w="9525">
            <a:solidFill>
              <a:srgbClr val="F07A73"/>
            </a:solidFill>
            <a:prstDash val="solid"/>
          </a:ln>
        </p:spPr>
      </p:sp>
      <p:sp>
        <p:nvSpPr>
          <p:cNvPr id="21" name="">
            <a:extLst xmlns:a="http://schemas.openxmlformats.org/drawingml/2006/main">
              <a:ext uri="{FF2B5EF4-FFF2-40B4-BE49-F238E27FC236}">
                <a16:creationId xmlns:a16="http://schemas.microsoft.com/office/drawing/2014/main" id="{DA480C6F-B84D-49AE-8D2C-1249998BDFF0}"/>
              </a:ext>
            </a:extLst>
          </p:cNvPr>
          <p:cNvSpPr>
            <a:spLocks xmlns:a="http://schemas.openxmlformats.org/drawingml/2006/main" noGrp="1"/>
          </p:cNvSpPr>
          <p:nvPr/>
        </p:nvSpPr>
        <p:spPr>
          <a:xfrm xmlns:a="http://schemas.openxmlformats.org/drawingml/2006/main">
            <a:off x="952500" y="4438650"/>
            <a:ext cx="2895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Networks and flows</a:t>
            </a:r>
          </a:p>
        </p:txBody>
      </p:sp>
    </p:spTree>
    <p:extLst>
      <p:ext uri="{BB962C8B-B14F-4D97-AF65-F5344CB8AC3E}">
        <p14:creationId xmlns:p14="http://schemas.microsoft.com/office/powerpoint/2010/main" val="1015549238"/>
      </p:ext>
    </p:extLst>
  </p:cSld>
</p:sld>
</file>

<file path=ppt/slides/slide12.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B1C518A-B717-4D66-9658-A15D4076A90C}"/>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11F75A2-9DD5-40D6-9533-FE4969A080CE}"/>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2ADF727F-5FA5-49C0-A9F8-B3C5D5B3B3BC}"/>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DECISION CONTROLS</a:t>
            </a:r>
          </a:p>
        </p:txBody>
      </p:sp>
      <p:sp>
        <p:nvSpPr>
          <p:cNvPr id="4" name="">
            <a:extLst xmlns:a="http://schemas.openxmlformats.org/drawingml/2006/main">
              <a:ext uri="{FF2B5EF4-FFF2-40B4-BE49-F238E27FC236}">
                <a16:creationId xmlns:a16="http://schemas.microsoft.com/office/drawing/2014/main" id="{94447B3E-1D2F-47BA-A513-05AE49A2051F}"/>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12</a:t>
            </a:r>
          </a:p>
        </p:txBody>
      </p:sp>
      <p:sp>
        <p:nvSpPr>
          <p:cNvPr id="5" name="">
            <a:extLst xmlns:a="http://schemas.openxmlformats.org/drawingml/2006/main">
              <a:ext uri="{FF2B5EF4-FFF2-40B4-BE49-F238E27FC236}">
                <a16:creationId xmlns:a16="http://schemas.microsoft.com/office/drawing/2014/main" id="{29FCDD9C-79A7-4894-9AF9-B10E24187477}"/>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61E921D1-0F73-4846-B9C5-308E14F1721E}"/>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Before acting, ask four structural questions.</a:t>
            </a:r>
          </a:p>
        </p:txBody>
      </p:sp>
      <p:sp>
        <p:nvSpPr>
          <p:cNvPr id="7" name="">
            <a:extLst xmlns:a="http://schemas.openxmlformats.org/drawingml/2006/main">
              <a:ext uri="{FF2B5EF4-FFF2-40B4-BE49-F238E27FC236}">
                <a16:creationId xmlns:a16="http://schemas.microsoft.com/office/drawing/2014/main" id="{7A51F114-31D1-4689-9E2C-91F7DC446F99}"/>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These controls reconnect the calculation to the system it represents.</a:t>
            </a:r>
          </a:p>
        </p:txBody>
      </p:sp>
      <p:sp>
        <p:nvSpPr>
          <p:cNvPr id="8" name="">
            <a:extLst xmlns:a="http://schemas.openxmlformats.org/drawingml/2006/main">
              <a:ext uri="{FF2B5EF4-FFF2-40B4-BE49-F238E27FC236}">
                <a16:creationId xmlns:a16="http://schemas.microsoft.com/office/drawing/2014/main" id="{F42F17D4-5987-4E71-88A4-A4B1735E8011}"/>
              </a:ext>
            </a:extLst>
          </p:cNvPr>
          <p:cNvSpPr>
            <a:spLocks xmlns:a="http://schemas.openxmlformats.org/drawingml/2006/main" noGrp="1"/>
          </p:cNvSpPr>
          <p:nvPr/>
        </p:nvSpPr>
        <p:spPr>
          <a:xfrm xmlns:a="http://schemas.openxmlformats.org/drawingml/2006/main">
            <a:off x="628650" y="2143125"/>
            <a:ext cx="5219700" cy="1123950"/>
          </a:xfrm>
          <a:prstGeom xmlns:a="http://schemas.openxmlformats.org/drawingml/2006/main" prst="roundRect">
            <a:avLst>
              <a:gd name="adj" fmla="val 6780"/>
            </a:avLst>
          </a:prstGeom>
          <a:solidFill xmlns:a="http://schemas.openxmlformats.org/drawingml/2006/main">
            <a:srgbClr val="0D2A43"/>
          </a:solidFill>
          <a:ln xmlns:a="http://schemas.openxmlformats.org/drawingml/2006/main" w="9525">
            <a:solidFill>
              <a:srgbClr val="22B8A7"/>
            </a:solidFill>
            <a:prstDash val="solid"/>
          </a:ln>
        </p:spPr>
      </p:sp>
      <p:sp>
        <p:nvSpPr>
          <p:cNvPr id="9" name="">
            <a:extLst xmlns:a="http://schemas.openxmlformats.org/drawingml/2006/main">
              <a:ext uri="{FF2B5EF4-FFF2-40B4-BE49-F238E27FC236}">
                <a16:creationId xmlns:a16="http://schemas.microsoft.com/office/drawing/2014/main" id="{6CA53F12-5A90-4098-8EFD-5FBFD05B0A1E}"/>
              </a:ext>
            </a:extLst>
          </p:cNvPr>
          <p:cNvSpPr>
            <a:spLocks xmlns:a="http://schemas.openxmlformats.org/drawingml/2006/main" noGrp="1"/>
          </p:cNvSpPr>
          <p:nvPr/>
        </p:nvSpPr>
        <p:spPr>
          <a:xfrm xmlns:a="http://schemas.openxmlformats.org/drawingml/2006/main">
            <a:off x="800100" y="2333625"/>
            <a:ext cx="476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D9A441"/>
                </a:solidFill>
              </a:defRPr>
            </a:pPr>
            <a:r>
              <a:rPr sz="2250" b="1">
                <a:solidFill>
                  <a:srgbClr val="D9A441"/>
                </a:solidFill>
              </a:rPr>
              <a:t>1</a:t>
            </a:r>
          </a:p>
        </p:txBody>
      </p:sp>
      <p:sp>
        <p:nvSpPr>
          <p:cNvPr id="10" name="">
            <a:extLst xmlns:a="http://schemas.openxmlformats.org/drawingml/2006/main">
              <a:ext uri="{FF2B5EF4-FFF2-40B4-BE49-F238E27FC236}">
                <a16:creationId xmlns:a16="http://schemas.microsoft.com/office/drawing/2014/main" id="{2DA700F1-3502-4A9B-8D19-13A54AB0E3AB}"/>
              </a:ext>
            </a:extLst>
          </p:cNvPr>
          <p:cNvSpPr>
            <a:spLocks xmlns:a="http://schemas.openxmlformats.org/drawingml/2006/main" noGrp="1"/>
          </p:cNvSpPr>
          <p:nvPr/>
        </p:nvSpPr>
        <p:spPr>
          <a:xfrm xmlns:a="http://schemas.openxmlformats.org/drawingml/2006/main">
            <a:off x="1409700" y="2314575"/>
            <a:ext cx="4191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F7F2E8"/>
                </a:solidFill>
              </a:defRPr>
            </a:pPr>
            <a:r>
              <a:rPr sz="1650" b="1">
                <a:solidFill>
                  <a:srgbClr val="F7F2E8"/>
                </a:solidFill>
              </a:rPr>
              <a:t>What do rows and columns represent?</a:t>
            </a:r>
          </a:p>
        </p:txBody>
      </p:sp>
      <p:sp>
        <p:nvSpPr>
          <p:cNvPr id="11" name="">
            <a:extLst xmlns:a="http://schemas.openxmlformats.org/drawingml/2006/main">
              <a:ext uri="{FF2B5EF4-FFF2-40B4-BE49-F238E27FC236}">
                <a16:creationId xmlns:a16="http://schemas.microsoft.com/office/drawing/2014/main" id="{06B1DF91-411E-43DD-AA77-A4452D9149D6}"/>
              </a:ext>
            </a:extLst>
          </p:cNvPr>
          <p:cNvSpPr>
            <a:spLocks xmlns:a="http://schemas.openxmlformats.org/drawingml/2006/main" noGrp="1"/>
          </p:cNvSpPr>
          <p:nvPr/>
        </p:nvSpPr>
        <p:spPr>
          <a:xfrm xmlns:a="http://schemas.openxmlformats.org/drawingml/2006/main">
            <a:off x="6248400" y="2143125"/>
            <a:ext cx="5219700" cy="1123950"/>
          </a:xfrm>
          <a:prstGeom xmlns:a="http://schemas.openxmlformats.org/drawingml/2006/main" prst="roundRect">
            <a:avLst>
              <a:gd name="adj" fmla="val 6780"/>
            </a:avLst>
          </a:prstGeom>
          <a:solidFill xmlns:a="http://schemas.openxmlformats.org/drawingml/2006/main">
            <a:srgbClr val="0D2A43"/>
          </a:solidFill>
          <a:ln xmlns:a="http://schemas.openxmlformats.org/drawingml/2006/main" w="9525">
            <a:solidFill>
              <a:srgbClr val="22B8A7"/>
            </a:solidFill>
            <a:prstDash val="solid"/>
          </a:ln>
        </p:spPr>
      </p:sp>
      <p:sp>
        <p:nvSpPr>
          <p:cNvPr id="12" name="">
            <a:extLst xmlns:a="http://schemas.openxmlformats.org/drawingml/2006/main">
              <a:ext uri="{FF2B5EF4-FFF2-40B4-BE49-F238E27FC236}">
                <a16:creationId xmlns:a16="http://schemas.microsoft.com/office/drawing/2014/main" id="{1E2E4923-F595-430A-BB92-DADA8434239C}"/>
              </a:ext>
            </a:extLst>
          </p:cNvPr>
          <p:cNvSpPr>
            <a:spLocks xmlns:a="http://schemas.openxmlformats.org/drawingml/2006/main" noGrp="1"/>
          </p:cNvSpPr>
          <p:nvPr/>
        </p:nvSpPr>
        <p:spPr>
          <a:xfrm xmlns:a="http://schemas.openxmlformats.org/drawingml/2006/main">
            <a:off x="6419850" y="2333625"/>
            <a:ext cx="476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D9A441"/>
                </a:solidFill>
              </a:defRPr>
            </a:pPr>
            <a:r>
              <a:rPr sz="2250" b="1">
                <a:solidFill>
                  <a:srgbClr val="D9A441"/>
                </a:solidFill>
              </a:rPr>
              <a:t>2</a:t>
            </a:r>
          </a:p>
        </p:txBody>
      </p:sp>
      <p:sp>
        <p:nvSpPr>
          <p:cNvPr id="13" name="">
            <a:extLst xmlns:a="http://schemas.openxmlformats.org/drawingml/2006/main">
              <a:ext uri="{FF2B5EF4-FFF2-40B4-BE49-F238E27FC236}">
                <a16:creationId xmlns:a16="http://schemas.microsoft.com/office/drawing/2014/main" id="{887F86F6-2340-463F-B35F-789DCECA9049}"/>
              </a:ext>
            </a:extLst>
          </p:cNvPr>
          <p:cNvSpPr>
            <a:spLocks xmlns:a="http://schemas.openxmlformats.org/drawingml/2006/main" noGrp="1"/>
          </p:cNvSpPr>
          <p:nvPr/>
        </p:nvSpPr>
        <p:spPr>
          <a:xfrm xmlns:a="http://schemas.openxmlformats.org/drawingml/2006/main">
            <a:off x="7029450" y="2314575"/>
            <a:ext cx="4191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F7F2E8"/>
                </a:solidFill>
              </a:defRPr>
            </a:pPr>
            <a:r>
              <a:rPr sz="1650" b="1">
                <a:solidFill>
                  <a:srgbClr val="F7F2E8"/>
                </a:solidFill>
              </a:rPr>
              <a:t>Do all dimensions conform?</a:t>
            </a:r>
          </a:p>
        </p:txBody>
      </p:sp>
      <p:sp>
        <p:nvSpPr>
          <p:cNvPr id="14" name="">
            <a:extLst xmlns:a="http://schemas.openxmlformats.org/drawingml/2006/main">
              <a:ext uri="{FF2B5EF4-FFF2-40B4-BE49-F238E27FC236}">
                <a16:creationId xmlns:a16="http://schemas.microsoft.com/office/drawing/2014/main" id="{48DE20E4-FEA3-4E6C-BC55-395284743419}"/>
              </a:ext>
            </a:extLst>
          </p:cNvPr>
          <p:cNvSpPr>
            <a:spLocks xmlns:a="http://schemas.openxmlformats.org/drawingml/2006/main" noGrp="1"/>
          </p:cNvSpPr>
          <p:nvPr/>
        </p:nvSpPr>
        <p:spPr>
          <a:xfrm xmlns:a="http://schemas.openxmlformats.org/drawingml/2006/main">
            <a:off x="628650" y="3571875"/>
            <a:ext cx="5219700" cy="1123950"/>
          </a:xfrm>
          <a:prstGeom xmlns:a="http://schemas.openxmlformats.org/drawingml/2006/main" prst="roundRect">
            <a:avLst>
              <a:gd name="adj" fmla="val 6780"/>
            </a:avLst>
          </a:prstGeom>
          <a:solidFill xmlns:a="http://schemas.openxmlformats.org/drawingml/2006/main">
            <a:srgbClr val="0D2A43"/>
          </a:solidFill>
          <a:ln xmlns:a="http://schemas.openxmlformats.org/drawingml/2006/main" w="9525">
            <a:solidFill>
              <a:srgbClr val="22B8A7"/>
            </a:solidFill>
            <a:prstDash val="solid"/>
          </a:ln>
        </p:spPr>
      </p:sp>
      <p:sp>
        <p:nvSpPr>
          <p:cNvPr id="15" name="">
            <a:extLst xmlns:a="http://schemas.openxmlformats.org/drawingml/2006/main">
              <a:ext uri="{FF2B5EF4-FFF2-40B4-BE49-F238E27FC236}">
                <a16:creationId xmlns:a16="http://schemas.microsoft.com/office/drawing/2014/main" id="{5D1D1951-9F30-4E62-BE7D-12640E76ED59}"/>
              </a:ext>
            </a:extLst>
          </p:cNvPr>
          <p:cNvSpPr>
            <a:spLocks xmlns:a="http://schemas.openxmlformats.org/drawingml/2006/main" noGrp="1"/>
          </p:cNvSpPr>
          <p:nvPr/>
        </p:nvSpPr>
        <p:spPr>
          <a:xfrm xmlns:a="http://schemas.openxmlformats.org/drawingml/2006/main">
            <a:off x="800100" y="3762375"/>
            <a:ext cx="476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D9A441"/>
                </a:solidFill>
              </a:defRPr>
            </a:pPr>
            <a:r>
              <a:rPr sz="2250" b="1">
                <a:solidFill>
                  <a:srgbClr val="D9A441"/>
                </a:solidFill>
              </a:rPr>
              <a:t>3</a:t>
            </a:r>
          </a:p>
        </p:txBody>
      </p:sp>
      <p:sp>
        <p:nvSpPr>
          <p:cNvPr id="16" name="">
            <a:extLst xmlns:a="http://schemas.openxmlformats.org/drawingml/2006/main">
              <a:ext uri="{FF2B5EF4-FFF2-40B4-BE49-F238E27FC236}">
                <a16:creationId xmlns:a16="http://schemas.microsoft.com/office/drawing/2014/main" id="{BD7FEFE8-7DDC-47B0-B95B-2C1D0F79FA6C}"/>
              </a:ext>
            </a:extLst>
          </p:cNvPr>
          <p:cNvSpPr>
            <a:spLocks xmlns:a="http://schemas.openxmlformats.org/drawingml/2006/main" noGrp="1"/>
          </p:cNvSpPr>
          <p:nvPr/>
        </p:nvSpPr>
        <p:spPr>
          <a:xfrm xmlns:a="http://schemas.openxmlformats.org/drawingml/2006/main">
            <a:off x="1409700" y="3743325"/>
            <a:ext cx="4191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F7F2E8"/>
                </a:solidFill>
              </a:defRPr>
            </a:pPr>
            <a:r>
              <a:rPr sz="1650" b="1">
                <a:solidFill>
                  <a:srgbClr val="F7F2E8"/>
                </a:solidFill>
              </a:rPr>
              <a:t>Is the system full rank?</a:t>
            </a:r>
          </a:p>
        </p:txBody>
      </p:sp>
      <p:sp>
        <p:nvSpPr>
          <p:cNvPr id="17" name="">
            <a:extLst xmlns:a="http://schemas.openxmlformats.org/drawingml/2006/main">
              <a:ext uri="{FF2B5EF4-FFF2-40B4-BE49-F238E27FC236}">
                <a16:creationId xmlns:a16="http://schemas.microsoft.com/office/drawing/2014/main" id="{8F3163C9-AC87-41CA-BD29-22359B2A06BA}"/>
              </a:ext>
            </a:extLst>
          </p:cNvPr>
          <p:cNvSpPr>
            <a:spLocks xmlns:a="http://schemas.openxmlformats.org/drawingml/2006/main" noGrp="1"/>
          </p:cNvSpPr>
          <p:nvPr/>
        </p:nvSpPr>
        <p:spPr>
          <a:xfrm xmlns:a="http://schemas.openxmlformats.org/drawingml/2006/main">
            <a:off x="6248400" y="3571875"/>
            <a:ext cx="5219700" cy="1123950"/>
          </a:xfrm>
          <a:prstGeom xmlns:a="http://schemas.openxmlformats.org/drawingml/2006/main" prst="roundRect">
            <a:avLst>
              <a:gd name="adj" fmla="val 6780"/>
            </a:avLst>
          </a:prstGeom>
          <a:solidFill xmlns:a="http://schemas.openxmlformats.org/drawingml/2006/main">
            <a:srgbClr val="0D2A43"/>
          </a:solidFill>
          <a:ln xmlns:a="http://schemas.openxmlformats.org/drawingml/2006/main" w="9525">
            <a:solidFill>
              <a:srgbClr val="22B8A7"/>
            </a:solidFill>
            <a:prstDash val="solid"/>
          </a:ln>
        </p:spPr>
      </p:sp>
      <p:sp>
        <p:nvSpPr>
          <p:cNvPr id="18" name="">
            <a:extLst xmlns:a="http://schemas.openxmlformats.org/drawingml/2006/main">
              <a:ext uri="{FF2B5EF4-FFF2-40B4-BE49-F238E27FC236}">
                <a16:creationId xmlns:a16="http://schemas.microsoft.com/office/drawing/2014/main" id="{17CF76F3-35E0-47F1-B431-BFDEE6DEF86A}"/>
              </a:ext>
            </a:extLst>
          </p:cNvPr>
          <p:cNvSpPr>
            <a:spLocks xmlns:a="http://schemas.openxmlformats.org/drawingml/2006/main" noGrp="1"/>
          </p:cNvSpPr>
          <p:nvPr/>
        </p:nvSpPr>
        <p:spPr>
          <a:xfrm xmlns:a="http://schemas.openxmlformats.org/drawingml/2006/main">
            <a:off x="6419850" y="3762375"/>
            <a:ext cx="476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D9A441"/>
                </a:solidFill>
              </a:defRPr>
            </a:pPr>
            <a:r>
              <a:rPr sz="2250" b="1">
                <a:solidFill>
                  <a:srgbClr val="D9A441"/>
                </a:solidFill>
              </a:rPr>
              <a:t>4</a:t>
            </a:r>
          </a:p>
        </p:txBody>
      </p:sp>
      <p:sp>
        <p:nvSpPr>
          <p:cNvPr id="19" name="">
            <a:extLst xmlns:a="http://schemas.openxmlformats.org/drawingml/2006/main">
              <a:ext uri="{FF2B5EF4-FFF2-40B4-BE49-F238E27FC236}">
                <a16:creationId xmlns:a16="http://schemas.microsoft.com/office/drawing/2014/main" id="{BBC93B72-B692-4128-A19E-17B9F177BE79}"/>
              </a:ext>
            </a:extLst>
          </p:cNvPr>
          <p:cNvSpPr>
            <a:spLocks xmlns:a="http://schemas.openxmlformats.org/drawingml/2006/main" noGrp="1"/>
          </p:cNvSpPr>
          <p:nvPr/>
        </p:nvSpPr>
        <p:spPr>
          <a:xfrm xmlns:a="http://schemas.openxmlformats.org/drawingml/2006/main">
            <a:off x="7029450" y="3743325"/>
            <a:ext cx="4191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F7F2E8"/>
                </a:solidFill>
              </a:defRPr>
            </a:pPr>
            <a:r>
              <a:rPr sz="1650" b="1">
                <a:solidFill>
                  <a:srgbClr val="F7F2E8"/>
                </a:solidFill>
              </a:rPr>
              <a:t>Was a stable method used?</a:t>
            </a:r>
          </a:p>
        </p:txBody>
      </p:sp>
    </p:spTree>
    <p:extLst>
      <p:ext uri="{BB962C8B-B14F-4D97-AF65-F5344CB8AC3E}">
        <p14:creationId xmlns:p14="http://schemas.microsoft.com/office/powerpoint/2010/main" val="1154098988"/>
      </p:ext>
    </p:extLst>
  </p:cSld>
</p:sld>
</file>

<file path=ppt/slides/slide13.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FE827EF-9693-4902-A1C6-09A45425BEB6}"/>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48498EE-5BD9-4F30-8F7F-C7996EDD1685}"/>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80774C26-415B-441D-9BE1-51FA3304D3DF}"/>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DECISION CONTROLS</a:t>
            </a:r>
          </a:p>
        </p:txBody>
      </p:sp>
      <p:sp>
        <p:nvSpPr>
          <p:cNvPr id="4" name="">
            <a:extLst xmlns:a="http://schemas.openxmlformats.org/drawingml/2006/main">
              <a:ext uri="{FF2B5EF4-FFF2-40B4-BE49-F238E27FC236}">
                <a16:creationId xmlns:a16="http://schemas.microsoft.com/office/drawing/2014/main" id="{5E3979D7-4A74-4764-B024-D79D439BE3E2}"/>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13</a:t>
            </a:r>
          </a:p>
        </p:txBody>
      </p:sp>
      <p:sp>
        <p:nvSpPr>
          <p:cNvPr id="5" name="">
            <a:extLst xmlns:a="http://schemas.openxmlformats.org/drawingml/2006/main">
              <a:ext uri="{FF2B5EF4-FFF2-40B4-BE49-F238E27FC236}">
                <a16:creationId xmlns:a16="http://schemas.microsoft.com/office/drawing/2014/main" id="{25125DCC-B0CB-4D07-B500-258033AC16C6}"/>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E49F6724-AA38-4CB0-BA9D-A2B34909D38C}"/>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Then test fit, sensitivity and consequences.</a:t>
            </a:r>
          </a:p>
        </p:txBody>
      </p:sp>
      <p:sp>
        <p:nvSpPr>
          <p:cNvPr id="7" name="">
            <a:extLst xmlns:a="http://schemas.openxmlformats.org/drawingml/2006/main">
              <a:ext uri="{FF2B5EF4-FFF2-40B4-BE49-F238E27FC236}">
                <a16:creationId xmlns:a16="http://schemas.microsoft.com/office/drawing/2014/main" id="{A489EE05-81BA-48FC-9EB5-EAF7A6CBA88C}"/>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A defensible solution requires more than successful elimination.</a:t>
            </a:r>
          </a:p>
        </p:txBody>
      </p:sp>
      <p:sp>
        <p:nvSpPr>
          <p:cNvPr id="8" name="">
            <a:extLst xmlns:a="http://schemas.openxmlformats.org/drawingml/2006/main">
              <a:ext uri="{FF2B5EF4-FFF2-40B4-BE49-F238E27FC236}">
                <a16:creationId xmlns:a16="http://schemas.microsoft.com/office/drawing/2014/main" id="{22E3EE58-22C5-4B0B-9B27-6FC0DCCE8EC4}"/>
              </a:ext>
            </a:extLst>
          </p:cNvPr>
          <p:cNvSpPr>
            <a:spLocks xmlns:a="http://schemas.openxmlformats.org/drawingml/2006/main" noGrp="1"/>
          </p:cNvSpPr>
          <p:nvPr/>
        </p:nvSpPr>
        <p:spPr>
          <a:xfrm xmlns:a="http://schemas.openxmlformats.org/drawingml/2006/main">
            <a:off x="952500" y="2428875"/>
            <a:ext cx="3238500" cy="2095500"/>
          </a:xfrm>
          <a:prstGeom xmlns:a="http://schemas.openxmlformats.org/drawingml/2006/main" prst="roundRect">
            <a:avLst>
              <a:gd name="adj" fmla="val 3636"/>
            </a:avLst>
          </a:prstGeom>
          <a:solidFill xmlns:a="http://schemas.openxmlformats.org/drawingml/2006/main">
            <a:srgbClr val="0D2A43"/>
          </a:solidFill>
          <a:ln xmlns:a="http://schemas.openxmlformats.org/drawingml/2006/main" w="9525">
            <a:solidFill>
              <a:srgbClr val="22B8A7"/>
            </a:solidFill>
            <a:prstDash val="solid"/>
          </a:ln>
        </p:spPr>
      </p:sp>
      <p:sp>
        <p:nvSpPr>
          <p:cNvPr id="9" name="">
            <a:extLst xmlns:a="http://schemas.openxmlformats.org/drawingml/2006/main">
              <a:ext uri="{FF2B5EF4-FFF2-40B4-BE49-F238E27FC236}">
                <a16:creationId xmlns:a16="http://schemas.microsoft.com/office/drawing/2014/main" id="{8DBD46EC-9609-42EA-9F1E-CC543081DCAA}"/>
              </a:ext>
            </a:extLst>
          </p:cNvPr>
          <p:cNvSpPr>
            <a:spLocks xmlns:a="http://schemas.openxmlformats.org/drawingml/2006/main" noGrp="1"/>
          </p:cNvSpPr>
          <p:nvPr/>
        </p:nvSpPr>
        <p:spPr>
          <a:xfrm xmlns:a="http://schemas.openxmlformats.org/drawingml/2006/main">
            <a:off x="2114550" y="2647950"/>
            <a:ext cx="914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625" b="1">
                <a:solidFill>
                  <a:srgbClr val="D9A441"/>
                </a:solidFill>
              </a:defRPr>
            </a:pPr>
            <a:r>
              <a:rPr sz="2625" b="1">
                <a:solidFill>
                  <a:srgbClr val="D9A441"/>
                </a:solidFill>
              </a:rPr>
              <a:t>5</a:t>
            </a:r>
          </a:p>
        </p:txBody>
      </p:sp>
      <p:sp>
        <p:nvSpPr>
          <p:cNvPr id="10" name="">
            <a:extLst xmlns:a="http://schemas.openxmlformats.org/drawingml/2006/main">
              <a:ext uri="{FF2B5EF4-FFF2-40B4-BE49-F238E27FC236}">
                <a16:creationId xmlns:a16="http://schemas.microsoft.com/office/drawing/2014/main" id="{8123E277-3CAF-4F32-8B31-42C12458CC18}"/>
              </a:ext>
            </a:extLst>
          </p:cNvPr>
          <p:cNvSpPr>
            <a:spLocks xmlns:a="http://schemas.openxmlformats.org/drawingml/2006/main" noGrp="1"/>
          </p:cNvSpPr>
          <p:nvPr/>
        </p:nvSpPr>
        <p:spPr>
          <a:xfrm xmlns:a="http://schemas.openxmlformats.org/drawingml/2006/main">
            <a:off x="1238250" y="3381375"/>
            <a:ext cx="266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F7F2E8"/>
                </a:solidFill>
              </a:defRPr>
            </a:pPr>
            <a:r>
              <a:rPr sz="1725" b="1">
                <a:solidFill>
                  <a:srgbClr val="F7F2E8"/>
                </a:solidFill>
              </a:rPr>
              <a:t>Is the residual acceptably small?</a:t>
            </a:r>
          </a:p>
        </p:txBody>
      </p:sp>
      <p:sp>
        <p:nvSpPr>
          <p:cNvPr id="11" name="">
            <a:extLst xmlns:a="http://schemas.openxmlformats.org/drawingml/2006/main">
              <a:ext uri="{FF2B5EF4-FFF2-40B4-BE49-F238E27FC236}">
                <a16:creationId xmlns:a16="http://schemas.microsoft.com/office/drawing/2014/main" id="{355C192A-8592-49DE-A9FE-1613FF354F9B}"/>
              </a:ext>
            </a:extLst>
          </p:cNvPr>
          <p:cNvSpPr>
            <a:spLocks xmlns:a="http://schemas.openxmlformats.org/drawingml/2006/main" noGrp="1"/>
          </p:cNvSpPr>
          <p:nvPr/>
        </p:nvSpPr>
        <p:spPr>
          <a:xfrm xmlns:a="http://schemas.openxmlformats.org/drawingml/2006/main">
            <a:off x="4619625" y="2428875"/>
            <a:ext cx="3238500" cy="2095500"/>
          </a:xfrm>
          <a:prstGeom xmlns:a="http://schemas.openxmlformats.org/drawingml/2006/main" prst="roundRect">
            <a:avLst>
              <a:gd name="adj" fmla="val 3636"/>
            </a:avLst>
          </a:prstGeom>
          <a:solidFill xmlns:a="http://schemas.openxmlformats.org/drawingml/2006/main">
            <a:srgbClr val="0D2A43"/>
          </a:solidFill>
          <a:ln xmlns:a="http://schemas.openxmlformats.org/drawingml/2006/main" w="9525">
            <a:solidFill>
              <a:srgbClr val="22B8A7"/>
            </a:solidFill>
            <a:prstDash val="solid"/>
          </a:ln>
        </p:spPr>
      </p:sp>
      <p:sp>
        <p:nvSpPr>
          <p:cNvPr id="12" name="">
            <a:extLst xmlns:a="http://schemas.openxmlformats.org/drawingml/2006/main">
              <a:ext uri="{FF2B5EF4-FFF2-40B4-BE49-F238E27FC236}">
                <a16:creationId xmlns:a16="http://schemas.microsoft.com/office/drawing/2014/main" id="{8924F0F2-D38C-496C-99A7-5E56770DABC4}"/>
              </a:ext>
            </a:extLst>
          </p:cNvPr>
          <p:cNvSpPr>
            <a:spLocks xmlns:a="http://schemas.openxmlformats.org/drawingml/2006/main" noGrp="1"/>
          </p:cNvSpPr>
          <p:nvPr/>
        </p:nvSpPr>
        <p:spPr>
          <a:xfrm xmlns:a="http://schemas.openxmlformats.org/drawingml/2006/main">
            <a:off x="5781675" y="2647950"/>
            <a:ext cx="914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625" b="1">
                <a:solidFill>
                  <a:srgbClr val="D9A441"/>
                </a:solidFill>
              </a:defRPr>
            </a:pPr>
            <a:r>
              <a:rPr sz="2625" b="1">
                <a:solidFill>
                  <a:srgbClr val="D9A441"/>
                </a:solidFill>
              </a:rPr>
              <a:t>6</a:t>
            </a:r>
          </a:p>
        </p:txBody>
      </p:sp>
      <p:sp>
        <p:nvSpPr>
          <p:cNvPr id="13" name="">
            <a:extLst xmlns:a="http://schemas.openxmlformats.org/drawingml/2006/main">
              <a:ext uri="{FF2B5EF4-FFF2-40B4-BE49-F238E27FC236}">
                <a16:creationId xmlns:a16="http://schemas.microsoft.com/office/drawing/2014/main" id="{6CDA1D65-3189-4F23-ABA0-8CC3F6F76A53}"/>
              </a:ext>
            </a:extLst>
          </p:cNvPr>
          <p:cNvSpPr>
            <a:spLocks xmlns:a="http://schemas.openxmlformats.org/drawingml/2006/main" noGrp="1"/>
          </p:cNvSpPr>
          <p:nvPr/>
        </p:nvSpPr>
        <p:spPr>
          <a:xfrm xmlns:a="http://schemas.openxmlformats.org/drawingml/2006/main">
            <a:off x="4905375" y="3381375"/>
            <a:ext cx="266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F7F2E8"/>
                </a:solidFill>
              </a:defRPr>
            </a:pPr>
            <a:r>
              <a:rPr sz="1725" b="1">
                <a:solidFill>
                  <a:srgbClr val="F7F2E8"/>
                </a:solidFill>
              </a:rPr>
              <a:t>Is the conclusion stable to perturbations?</a:t>
            </a:r>
          </a:p>
        </p:txBody>
      </p:sp>
      <p:sp>
        <p:nvSpPr>
          <p:cNvPr id="14" name="">
            <a:extLst xmlns:a="http://schemas.openxmlformats.org/drawingml/2006/main">
              <a:ext uri="{FF2B5EF4-FFF2-40B4-BE49-F238E27FC236}">
                <a16:creationId xmlns:a16="http://schemas.microsoft.com/office/drawing/2014/main" id="{C13FB016-F42D-4970-B78D-BB7753CC4FFC}"/>
              </a:ext>
            </a:extLst>
          </p:cNvPr>
          <p:cNvSpPr>
            <a:spLocks xmlns:a="http://schemas.openxmlformats.org/drawingml/2006/main" noGrp="1"/>
          </p:cNvSpPr>
          <p:nvPr/>
        </p:nvSpPr>
        <p:spPr>
          <a:xfrm xmlns:a="http://schemas.openxmlformats.org/drawingml/2006/main">
            <a:off x="8286750" y="2428875"/>
            <a:ext cx="3238500" cy="2095500"/>
          </a:xfrm>
          <a:prstGeom xmlns:a="http://schemas.openxmlformats.org/drawingml/2006/main" prst="roundRect">
            <a:avLst>
              <a:gd name="adj" fmla="val 3636"/>
            </a:avLst>
          </a:prstGeom>
          <a:solidFill xmlns:a="http://schemas.openxmlformats.org/drawingml/2006/main">
            <a:srgbClr val="3C2730"/>
          </a:solidFill>
          <a:ln xmlns:a="http://schemas.openxmlformats.org/drawingml/2006/main" w="9525">
            <a:solidFill>
              <a:srgbClr val="F07A73"/>
            </a:solidFill>
            <a:prstDash val="solid"/>
          </a:ln>
        </p:spPr>
      </p:sp>
      <p:sp>
        <p:nvSpPr>
          <p:cNvPr id="15" name="">
            <a:extLst xmlns:a="http://schemas.openxmlformats.org/drawingml/2006/main">
              <a:ext uri="{FF2B5EF4-FFF2-40B4-BE49-F238E27FC236}">
                <a16:creationId xmlns:a16="http://schemas.microsoft.com/office/drawing/2014/main" id="{23098C49-5B63-4E07-B196-7FDA66908AC6}"/>
              </a:ext>
            </a:extLst>
          </p:cNvPr>
          <p:cNvSpPr>
            <a:spLocks xmlns:a="http://schemas.openxmlformats.org/drawingml/2006/main" noGrp="1"/>
          </p:cNvSpPr>
          <p:nvPr/>
        </p:nvSpPr>
        <p:spPr>
          <a:xfrm xmlns:a="http://schemas.openxmlformats.org/drawingml/2006/main">
            <a:off x="9448800" y="2647950"/>
            <a:ext cx="914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625" b="1">
                <a:solidFill>
                  <a:srgbClr val="D9A441"/>
                </a:solidFill>
              </a:defRPr>
            </a:pPr>
            <a:r>
              <a:rPr sz="2625" b="1">
                <a:solidFill>
                  <a:srgbClr val="D9A441"/>
                </a:solidFill>
              </a:rPr>
              <a:t>7</a:t>
            </a:r>
          </a:p>
        </p:txBody>
      </p:sp>
      <p:sp>
        <p:nvSpPr>
          <p:cNvPr id="16" name="">
            <a:extLst xmlns:a="http://schemas.openxmlformats.org/drawingml/2006/main">
              <a:ext uri="{FF2B5EF4-FFF2-40B4-BE49-F238E27FC236}">
                <a16:creationId xmlns:a16="http://schemas.microsoft.com/office/drawing/2014/main" id="{19D13FB5-6219-4AC6-B238-EEB2252BBD2C}"/>
              </a:ext>
            </a:extLst>
          </p:cNvPr>
          <p:cNvSpPr>
            <a:spLocks xmlns:a="http://schemas.openxmlformats.org/drawingml/2006/main" noGrp="1"/>
          </p:cNvSpPr>
          <p:nvPr/>
        </p:nvSpPr>
        <p:spPr>
          <a:xfrm xmlns:a="http://schemas.openxmlformats.org/drawingml/2006/main">
            <a:off x="8572500" y="3381375"/>
            <a:ext cx="266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F7F2E8"/>
                </a:solidFill>
              </a:defRPr>
            </a:pPr>
            <a:r>
              <a:rPr sz="1725" b="1">
                <a:solidFill>
                  <a:srgbClr val="F7F2E8"/>
                </a:solidFill>
              </a:rPr>
              <a:t>What are the costs of being wrong?</a:t>
            </a:r>
          </a:p>
        </p:txBody>
      </p:sp>
      <p:sp>
        <p:nvSpPr>
          <p:cNvPr id="17" name="">
            <a:extLst xmlns:a="http://schemas.openxmlformats.org/drawingml/2006/main">
              <a:ext uri="{FF2B5EF4-FFF2-40B4-BE49-F238E27FC236}">
                <a16:creationId xmlns:a16="http://schemas.microsoft.com/office/drawing/2014/main" id="{90D864B1-B9B0-46BB-8559-F413EF3397F6}"/>
              </a:ext>
            </a:extLst>
          </p:cNvPr>
          <p:cNvSpPr>
            <a:spLocks xmlns:a="http://schemas.openxmlformats.org/drawingml/2006/main" noGrp="1"/>
          </p:cNvSpPr>
          <p:nvPr/>
        </p:nvSpPr>
        <p:spPr>
          <a:xfrm xmlns:a="http://schemas.openxmlformats.org/drawingml/2006/main">
            <a:off x="1066800" y="5000625"/>
            <a:ext cx="1000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a:solidFill>
                  <a:srgbClr val="79D7CC"/>
                </a:solidFill>
              </a:defRPr>
            </a:pPr>
            <a:r>
              <a:rPr sz="1800" b="1">
                <a:solidFill>
                  <a:srgbClr val="79D7CC"/>
                </a:solidFill>
              </a:rPr>
              <a:t>Decision quality = structure + stability + evidence + judgment</a:t>
            </a:r>
          </a:p>
        </p:txBody>
      </p:sp>
    </p:spTree>
    <p:extLst>
      <p:ext uri="{BB962C8B-B14F-4D97-AF65-F5344CB8AC3E}">
        <p14:creationId xmlns:p14="http://schemas.microsoft.com/office/powerpoint/2010/main" val="1879618319"/>
      </p:ext>
    </p:extLst>
  </p:cSld>
</p:sld>
</file>

<file path=ppt/slides/slide14.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827E4D3-E758-4E35-ACEF-392B525A819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086A3D3-718F-4694-A610-B654E03EF751}"/>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B768098C-8FFA-4F56-8A8D-B40C8A139C3F}"/>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PRACTICE</a:t>
            </a:r>
          </a:p>
        </p:txBody>
      </p:sp>
      <p:sp>
        <p:nvSpPr>
          <p:cNvPr id="4" name="">
            <a:extLst xmlns:a="http://schemas.openxmlformats.org/drawingml/2006/main">
              <a:ext uri="{FF2B5EF4-FFF2-40B4-BE49-F238E27FC236}">
                <a16:creationId xmlns:a16="http://schemas.microsoft.com/office/drawing/2014/main" id="{7222C629-6F57-44E1-98C2-D3826438DBC1}"/>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14</a:t>
            </a:r>
          </a:p>
        </p:txBody>
      </p:sp>
      <p:sp>
        <p:nvSpPr>
          <p:cNvPr id="5" name="">
            <a:extLst xmlns:a="http://schemas.openxmlformats.org/drawingml/2006/main">
              <a:ext uri="{FF2B5EF4-FFF2-40B4-BE49-F238E27FC236}">
                <a16:creationId xmlns:a16="http://schemas.microsoft.com/office/drawing/2014/main" id="{185376EA-7080-4C69-8ACA-CC7DCFAC51FF}"/>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91E2E96C-4130-46CB-B7CB-13819114FA5F}"/>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Move from calculation to consequential decisions.</a:t>
            </a:r>
          </a:p>
        </p:txBody>
      </p:sp>
      <p:sp>
        <p:nvSpPr>
          <p:cNvPr id="7" name="">
            <a:extLst xmlns:a="http://schemas.openxmlformats.org/drawingml/2006/main">
              <a:ext uri="{FF2B5EF4-FFF2-40B4-BE49-F238E27FC236}">
                <a16:creationId xmlns:a16="http://schemas.microsoft.com/office/drawing/2014/main" id="{0452185E-2ACE-44B1-AF28-066959F6482E}"/>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The notebook and exercises progress from mechanics to professional interpretation.</a:t>
            </a:r>
          </a:p>
        </p:txBody>
      </p:sp>
      <p:sp>
        <p:nvSpPr>
          <p:cNvPr id="8" name="">
            <a:extLst xmlns:a="http://schemas.openxmlformats.org/drawingml/2006/main">
              <a:ext uri="{FF2B5EF4-FFF2-40B4-BE49-F238E27FC236}">
                <a16:creationId xmlns:a16="http://schemas.microsoft.com/office/drawing/2014/main" id="{350017FF-10AC-49D1-92AE-D7F3F5F89DE3}"/>
              </a:ext>
            </a:extLst>
          </p:cNvPr>
          <p:cNvSpPr>
            <a:spLocks xmlns:a="http://schemas.openxmlformats.org/drawingml/2006/main" noGrp="1"/>
          </p:cNvSpPr>
          <p:nvPr/>
        </p:nvSpPr>
        <p:spPr>
          <a:xfrm xmlns:a="http://schemas.openxmlformats.org/drawingml/2006/main">
            <a:off x="552450" y="2143125"/>
            <a:ext cx="5238750" cy="1219200"/>
          </a:xfrm>
          <a:prstGeom xmlns:a="http://schemas.openxmlformats.org/drawingml/2006/main" prst="roundRect">
            <a:avLst>
              <a:gd name="adj" fmla="val 6250"/>
            </a:avLst>
          </a:prstGeom>
          <a:solidFill xmlns:a="http://schemas.openxmlformats.org/drawingml/2006/main">
            <a:srgbClr val="0D2A43"/>
          </a:solidFill>
          <a:ln xmlns:a="http://schemas.openxmlformats.org/drawingml/2006/main" w="9525">
            <a:solidFill>
              <a:srgbClr val="22B8A7"/>
            </a:solidFill>
            <a:prstDash val="solid"/>
          </a:ln>
        </p:spPr>
      </p:sp>
      <p:sp>
        <p:nvSpPr>
          <p:cNvPr id="9" name="">
            <a:extLst xmlns:a="http://schemas.openxmlformats.org/drawingml/2006/main">
              <a:ext uri="{FF2B5EF4-FFF2-40B4-BE49-F238E27FC236}">
                <a16:creationId xmlns:a16="http://schemas.microsoft.com/office/drawing/2014/main" id="{CDFAB0C8-11E1-49F1-94E7-0857FD2A00EB}"/>
              </a:ext>
            </a:extLst>
          </p:cNvPr>
          <p:cNvSpPr>
            <a:spLocks xmlns:a="http://schemas.openxmlformats.org/drawingml/2006/main" noGrp="1"/>
          </p:cNvSpPr>
          <p:nvPr/>
        </p:nvSpPr>
        <p:spPr>
          <a:xfrm xmlns:a="http://schemas.openxmlformats.org/drawingml/2006/main">
            <a:off x="762000" y="22860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LEVEL A</a:t>
            </a:r>
          </a:p>
        </p:txBody>
      </p:sp>
      <p:sp>
        <p:nvSpPr>
          <p:cNvPr id="10" name="">
            <a:extLst xmlns:a="http://schemas.openxmlformats.org/drawingml/2006/main">
              <a:ext uri="{FF2B5EF4-FFF2-40B4-BE49-F238E27FC236}">
                <a16:creationId xmlns:a16="http://schemas.microsoft.com/office/drawing/2014/main" id="{31688381-614E-405B-8EC0-A439FAE0DAA9}"/>
              </a:ext>
            </a:extLst>
          </p:cNvPr>
          <p:cNvSpPr>
            <a:spLocks xmlns:a="http://schemas.openxmlformats.org/drawingml/2006/main" noGrp="1"/>
          </p:cNvSpPr>
          <p:nvPr/>
        </p:nvSpPr>
        <p:spPr>
          <a:xfrm xmlns:a="http://schemas.openxmlformats.org/drawingml/2006/main">
            <a:off x="762000" y="26479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7F2E8"/>
                </a:solidFill>
              </a:defRPr>
            </a:pPr>
            <a:r>
              <a:rPr sz="1575" b="0">
                <a:solidFill>
                  <a:srgbClr val="F7F2E8"/>
                </a:solidFill>
              </a:rPr>
              <a:t>Check dimensions; add, transpose and multiply</a:t>
            </a:r>
          </a:p>
        </p:txBody>
      </p:sp>
      <p:sp>
        <p:nvSpPr>
          <p:cNvPr id="11" name="">
            <a:extLst xmlns:a="http://schemas.openxmlformats.org/drawingml/2006/main">
              <a:ext uri="{FF2B5EF4-FFF2-40B4-BE49-F238E27FC236}">
                <a16:creationId xmlns:a16="http://schemas.microsoft.com/office/drawing/2014/main" id="{F3A23DE4-C2F6-4114-ABAD-DD0741506A55}"/>
              </a:ext>
            </a:extLst>
          </p:cNvPr>
          <p:cNvSpPr>
            <a:spLocks xmlns:a="http://schemas.openxmlformats.org/drawingml/2006/main" noGrp="1"/>
          </p:cNvSpPr>
          <p:nvPr/>
        </p:nvSpPr>
        <p:spPr>
          <a:xfrm xmlns:a="http://schemas.openxmlformats.org/drawingml/2006/main">
            <a:off x="6172200" y="2143125"/>
            <a:ext cx="5238750" cy="1219200"/>
          </a:xfrm>
          <a:prstGeom xmlns:a="http://schemas.openxmlformats.org/drawingml/2006/main" prst="roundRect">
            <a:avLst>
              <a:gd name="adj" fmla="val 6250"/>
            </a:avLst>
          </a:prstGeom>
          <a:solidFill xmlns:a="http://schemas.openxmlformats.org/drawingml/2006/main">
            <a:srgbClr val="0D2A43"/>
          </a:solidFill>
          <a:ln xmlns:a="http://schemas.openxmlformats.org/drawingml/2006/main" w="9525">
            <a:solidFill>
              <a:srgbClr val="22B8A7"/>
            </a:solidFill>
            <a:prstDash val="solid"/>
          </a:ln>
        </p:spPr>
      </p:sp>
      <p:sp>
        <p:nvSpPr>
          <p:cNvPr id="12" name="">
            <a:extLst xmlns:a="http://schemas.openxmlformats.org/drawingml/2006/main">
              <a:ext uri="{FF2B5EF4-FFF2-40B4-BE49-F238E27FC236}">
                <a16:creationId xmlns:a16="http://schemas.microsoft.com/office/drawing/2014/main" id="{51109CE7-9C61-4DDA-A024-357E13122AB6}"/>
              </a:ext>
            </a:extLst>
          </p:cNvPr>
          <p:cNvSpPr>
            <a:spLocks xmlns:a="http://schemas.openxmlformats.org/drawingml/2006/main" noGrp="1"/>
          </p:cNvSpPr>
          <p:nvPr/>
        </p:nvSpPr>
        <p:spPr>
          <a:xfrm xmlns:a="http://schemas.openxmlformats.org/drawingml/2006/main">
            <a:off x="6381750" y="22860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LEVEL B</a:t>
            </a:r>
          </a:p>
        </p:txBody>
      </p:sp>
      <p:sp>
        <p:nvSpPr>
          <p:cNvPr id="13" name="">
            <a:extLst xmlns:a="http://schemas.openxmlformats.org/drawingml/2006/main">
              <a:ext uri="{FF2B5EF4-FFF2-40B4-BE49-F238E27FC236}">
                <a16:creationId xmlns:a16="http://schemas.microsoft.com/office/drawing/2014/main" id="{0E163BAB-D933-426E-B22D-6FE97FC852CA}"/>
              </a:ext>
            </a:extLst>
          </p:cNvPr>
          <p:cNvSpPr>
            <a:spLocks xmlns:a="http://schemas.openxmlformats.org/drawingml/2006/main" noGrp="1"/>
          </p:cNvSpPr>
          <p:nvPr/>
        </p:nvSpPr>
        <p:spPr>
          <a:xfrm xmlns:a="http://schemas.openxmlformats.org/drawingml/2006/main">
            <a:off x="6381750" y="26479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7F2E8"/>
                </a:solidFill>
              </a:defRPr>
            </a:pPr>
            <a:r>
              <a:rPr sz="1575" b="0">
                <a:solidFill>
                  <a:srgbClr val="F7F2E8"/>
                </a:solidFill>
              </a:rPr>
              <a:t>Solve systems with partial pivoting</a:t>
            </a:r>
          </a:p>
        </p:txBody>
      </p:sp>
      <p:sp>
        <p:nvSpPr>
          <p:cNvPr id="14" name="">
            <a:extLst xmlns:a="http://schemas.openxmlformats.org/drawingml/2006/main">
              <a:ext uri="{FF2B5EF4-FFF2-40B4-BE49-F238E27FC236}">
                <a16:creationId xmlns:a16="http://schemas.microsoft.com/office/drawing/2014/main" id="{84907878-1312-4850-885E-792D96904DCE}"/>
              </a:ext>
            </a:extLst>
          </p:cNvPr>
          <p:cNvSpPr>
            <a:spLocks xmlns:a="http://schemas.openxmlformats.org/drawingml/2006/main" noGrp="1"/>
          </p:cNvSpPr>
          <p:nvPr/>
        </p:nvSpPr>
        <p:spPr>
          <a:xfrm xmlns:a="http://schemas.openxmlformats.org/drawingml/2006/main">
            <a:off x="552450" y="3667125"/>
            <a:ext cx="5238750" cy="1219200"/>
          </a:xfrm>
          <a:prstGeom xmlns:a="http://schemas.openxmlformats.org/drawingml/2006/main" prst="roundRect">
            <a:avLst>
              <a:gd name="adj" fmla="val 6250"/>
            </a:avLst>
          </a:prstGeom>
          <a:solidFill xmlns:a="http://schemas.openxmlformats.org/drawingml/2006/main">
            <a:srgbClr val="0D2A43"/>
          </a:solidFill>
          <a:ln xmlns:a="http://schemas.openxmlformats.org/drawingml/2006/main" w="9525">
            <a:solidFill>
              <a:srgbClr val="22B8A7"/>
            </a:solidFill>
            <a:prstDash val="solid"/>
          </a:ln>
        </p:spPr>
      </p:sp>
      <p:sp>
        <p:nvSpPr>
          <p:cNvPr id="15" name="">
            <a:extLst xmlns:a="http://schemas.openxmlformats.org/drawingml/2006/main">
              <a:ext uri="{FF2B5EF4-FFF2-40B4-BE49-F238E27FC236}">
                <a16:creationId xmlns:a16="http://schemas.microsoft.com/office/drawing/2014/main" id="{CF97A318-CAC8-4D31-8F0F-70192F6EEAC1}"/>
              </a:ext>
            </a:extLst>
          </p:cNvPr>
          <p:cNvSpPr>
            <a:spLocks xmlns:a="http://schemas.openxmlformats.org/drawingml/2006/main" noGrp="1"/>
          </p:cNvSpPr>
          <p:nvPr/>
        </p:nvSpPr>
        <p:spPr>
          <a:xfrm xmlns:a="http://schemas.openxmlformats.org/drawingml/2006/main">
            <a:off x="762000" y="38100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LEVEL C</a:t>
            </a:r>
          </a:p>
        </p:txBody>
      </p:sp>
      <p:sp>
        <p:nvSpPr>
          <p:cNvPr id="16" name="">
            <a:extLst xmlns:a="http://schemas.openxmlformats.org/drawingml/2006/main">
              <a:ext uri="{FF2B5EF4-FFF2-40B4-BE49-F238E27FC236}">
                <a16:creationId xmlns:a16="http://schemas.microsoft.com/office/drawing/2014/main" id="{9A4FA51D-865D-4853-8A75-F966C2CA668F}"/>
              </a:ext>
            </a:extLst>
          </p:cNvPr>
          <p:cNvSpPr>
            <a:spLocks xmlns:a="http://schemas.openxmlformats.org/drawingml/2006/main" noGrp="1"/>
          </p:cNvSpPr>
          <p:nvPr/>
        </p:nvSpPr>
        <p:spPr>
          <a:xfrm xmlns:a="http://schemas.openxmlformats.org/drawingml/2006/main">
            <a:off x="762000" y="41719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7F2E8"/>
                </a:solidFill>
              </a:defRPr>
            </a:pPr>
            <a:r>
              <a:rPr sz="1575" b="0">
                <a:solidFill>
                  <a:srgbClr val="F7F2E8"/>
                </a:solidFill>
              </a:rPr>
              <a:t>Diagnose rank, residual and conditioning</a:t>
            </a:r>
          </a:p>
        </p:txBody>
      </p:sp>
      <p:sp>
        <p:nvSpPr>
          <p:cNvPr id="17" name="">
            <a:extLst xmlns:a="http://schemas.openxmlformats.org/drawingml/2006/main">
              <a:ext uri="{FF2B5EF4-FFF2-40B4-BE49-F238E27FC236}">
                <a16:creationId xmlns:a16="http://schemas.microsoft.com/office/drawing/2014/main" id="{851DFE5C-06D3-4537-9109-CD358C0FDC2C}"/>
              </a:ext>
            </a:extLst>
          </p:cNvPr>
          <p:cNvSpPr>
            <a:spLocks xmlns:a="http://schemas.openxmlformats.org/drawingml/2006/main" noGrp="1"/>
          </p:cNvSpPr>
          <p:nvPr/>
        </p:nvSpPr>
        <p:spPr>
          <a:xfrm xmlns:a="http://schemas.openxmlformats.org/drawingml/2006/main">
            <a:off x="6172200" y="3667125"/>
            <a:ext cx="5238750" cy="1219200"/>
          </a:xfrm>
          <a:prstGeom xmlns:a="http://schemas.openxmlformats.org/drawingml/2006/main" prst="roundRect">
            <a:avLst>
              <a:gd name="adj" fmla="val 6250"/>
            </a:avLst>
          </a:prstGeom>
          <a:solidFill xmlns:a="http://schemas.openxmlformats.org/drawingml/2006/main">
            <a:srgbClr val="154D57"/>
          </a:solidFill>
          <a:ln xmlns:a="http://schemas.openxmlformats.org/drawingml/2006/main" w="9525">
            <a:solidFill>
              <a:srgbClr val="D9A441"/>
            </a:solidFill>
            <a:prstDash val="solid"/>
          </a:ln>
        </p:spPr>
      </p:sp>
      <p:sp>
        <p:nvSpPr>
          <p:cNvPr id="18" name="">
            <a:extLst xmlns:a="http://schemas.openxmlformats.org/drawingml/2006/main">
              <a:ext uri="{FF2B5EF4-FFF2-40B4-BE49-F238E27FC236}">
                <a16:creationId xmlns:a16="http://schemas.microsoft.com/office/drawing/2014/main" id="{6051895B-F96E-4AFA-82E3-E390C2551AB5}"/>
              </a:ext>
            </a:extLst>
          </p:cNvPr>
          <p:cNvSpPr>
            <a:spLocks xmlns:a="http://schemas.openxmlformats.org/drawingml/2006/main" noGrp="1"/>
          </p:cNvSpPr>
          <p:nvPr/>
        </p:nvSpPr>
        <p:spPr>
          <a:xfrm xmlns:a="http://schemas.openxmlformats.org/drawingml/2006/main">
            <a:off x="6381750" y="38100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D9A441"/>
                </a:solidFill>
              </a:defRPr>
            </a:pPr>
            <a:r>
              <a:rPr sz="1350" b="1">
                <a:solidFill>
                  <a:srgbClr val="D9A441"/>
                </a:solidFill>
              </a:rPr>
              <a:t>CAPSTONE</a:t>
            </a:r>
          </a:p>
        </p:txBody>
      </p:sp>
      <p:sp>
        <p:nvSpPr>
          <p:cNvPr id="19" name="">
            <a:extLst xmlns:a="http://schemas.openxmlformats.org/drawingml/2006/main">
              <a:ext uri="{FF2B5EF4-FFF2-40B4-BE49-F238E27FC236}">
                <a16:creationId xmlns:a16="http://schemas.microsoft.com/office/drawing/2014/main" id="{75BC24E5-9423-426A-A54F-78106946FD5A}"/>
              </a:ext>
            </a:extLst>
          </p:cNvPr>
          <p:cNvSpPr>
            <a:spLocks xmlns:a="http://schemas.openxmlformats.org/drawingml/2006/main" noGrp="1"/>
          </p:cNvSpPr>
          <p:nvPr/>
        </p:nvSpPr>
        <p:spPr>
          <a:xfrm xmlns:a="http://schemas.openxmlformats.org/drawingml/2006/main">
            <a:off x="6381750" y="41719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7F2E8"/>
                </a:solidFill>
              </a:defRPr>
            </a:pPr>
            <a:r>
              <a:rPr sz="1575" b="0">
                <a:solidFill>
                  <a:srgbClr val="F7F2E8"/>
                </a:solidFill>
              </a:rPr>
              <a:t>Defend a resource-allocation recommendation</a:t>
            </a:r>
          </a:p>
        </p:txBody>
      </p:sp>
    </p:spTree>
    <p:extLst>
      <p:ext uri="{BB962C8B-B14F-4D97-AF65-F5344CB8AC3E}">
        <p14:creationId xmlns:p14="http://schemas.microsoft.com/office/powerpoint/2010/main" val="1623536807"/>
      </p:ext>
    </p:extLst>
  </p:cSld>
</p:sld>
</file>

<file path=ppt/slides/slide15.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FFE4E738-8B4D-4703-9056-E81A290BBA8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8102E64-1F0D-4D4A-B3FA-D211CAE5C0DD}"/>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6055E094-699A-47B7-9BCD-C359B4EE7342}"/>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KEY INSIGHT</a:t>
            </a:r>
          </a:p>
        </p:txBody>
      </p:sp>
      <p:sp>
        <p:nvSpPr>
          <p:cNvPr id="4" name="">
            <a:extLst xmlns:a="http://schemas.openxmlformats.org/drawingml/2006/main">
              <a:ext uri="{FF2B5EF4-FFF2-40B4-BE49-F238E27FC236}">
                <a16:creationId xmlns:a16="http://schemas.microsoft.com/office/drawing/2014/main" id="{F4848088-C758-4731-9959-D538CDB8322F}"/>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15</a:t>
            </a:r>
          </a:p>
        </p:txBody>
      </p:sp>
      <p:sp>
        <p:nvSpPr>
          <p:cNvPr id="5" name="">
            <a:extLst xmlns:a="http://schemas.openxmlformats.org/drawingml/2006/main">
              <a:ext uri="{FF2B5EF4-FFF2-40B4-BE49-F238E27FC236}">
                <a16:creationId xmlns:a16="http://schemas.microsoft.com/office/drawing/2014/main" id="{9BDB21F5-6F0D-46D8-9E69-A74BDB4EC0BA}"/>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88F9B173-4CA3-40BF-951C-69C9A3B65C0B}"/>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Trust requires the whole linear system to remain visible.</a:t>
            </a:r>
          </a:p>
        </p:txBody>
      </p:sp>
      <p:sp>
        <p:nvSpPr>
          <p:cNvPr id="7" name="">
            <a:extLst xmlns:a="http://schemas.openxmlformats.org/drawingml/2006/main">
              <a:ext uri="{FF2B5EF4-FFF2-40B4-BE49-F238E27FC236}">
                <a16:creationId xmlns:a16="http://schemas.microsoft.com/office/drawing/2014/main" id="{0C3BA804-9BFC-4743-AFD0-29B6AFC84EE1}"/>
              </a:ext>
            </a:extLst>
          </p:cNvPr>
          <p:cNvSpPr>
            <a:spLocks xmlns:a="http://schemas.openxmlformats.org/drawingml/2006/main" noGrp="1"/>
          </p:cNvSpPr>
          <p:nvPr/>
        </p:nvSpPr>
        <p:spPr>
          <a:xfrm xmlns:a="http://schemas.openxmlformats.org/drawingml/2006/main">
            <a:off x="5095875" y="1333500"/>
            <a:ext cx="2000250" cy="666750"/>
          </a:xfrm>
          <a:prstGeom xmlns:a="http://schemas.openxmlformats.org/drawingml/2006/main" prst="roundRect">
            <a:avLst>
              <a:gd name="adj" fmla="val 11429"/>
            </a:avLst>
          </a:prstGeom>
          <a:solidFill xmlns:a="http://schemas.openxmlformats.org/drawingml/2006/main">
            <a:srgbClr val="0D2A43"/>
          </a:solidFill>
          <a:ln xmlns:a="http://schemas.openxmlformats.org/drawingml/2006/main" w="9525">
            <a:solidFill>
              <a:srgbClr val="22B8A7"/>
            </a:solidFill>
            <a:prstDash val="solid"/>
          </a:ln>
        </p:spPr>
      </p:sp>
      <p:sp>
        <p:nvSpPr>
          <p:cNvPr id="8" name="">
            <a:extLst xmlns:a="http://schemas.openxmlformats.org/drawingml/2006/main">
              <a:ext uri="{FF2B5EF4-FFF2-40B4-BE49-F238E27FC236}">
                <a16:creationId xmlns:a16="http://schemas.microsoft.com/office/drawing/2014/main" id="{3296114F-E53E-4126-94D5-101C17588C63}"/>
              </a:ext>
            </a:extLst>
          </p:cNvPr>
          <p:cNvSpPr>
            <a:spLocks xmlns:a="http://schemas.openxmlformats.org/drawingml/2006/main" noGrp="1"/>
          </p:cNvSpPr>
          <p:nvPr/>
        </p:nvSpPr>
        <p:spPr>
          <a:xfrm xmlns:a="http://schemas.openxmlformats.org/drawingml/2006/main">
            <a:off x="5191125" y="1428750"/>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7F2E8"/>
                </a:solidFill>
              </a:defRPr>
            </a:pPr>
            <a:r>
              <a:rPr sz="1200" b="1">
                <a:solidFill>
                  <a:srgbClr val="F7F2E8"/>
                </a:solidFill>
              </a:rPr>
              <a:t>DIMENSIONS</a:t>
            </a:r>
          </a:p>
        </p:txBody>
      </p:sp>
      <p:sp>
        <p:nvSpPr>
          <p:cNvPr id="9" name="">
            <a:extLst xmlns:a="http://schemas.openxmlformats.org/drawingml/2006/main">
              <a:ext uri="{FF2B5EF4-FFF2-40B4-BE49-F238E27FC236}">
                <a16:creationId xmlns:a16="http://schemas.microsoft.com/office/drawing/2014/main" id="{84829791-1F96-455F-B756-ADF633123052}"/>
              </a:ext>
            </a:extLst>
          </p:cNvPr>
          <p:cNvSpPr>
            <a:spLocks xmlns:a="http://schemas.openxmlformats.org/drawingml/2006/main" noGrp="1"/>
          </p:cNvSpPr>
          <p:nvPr/>
        </p:nvSpPr>
        <p:spPr>
          <a:xfrm xmlns:a="http://schemas.openxmlformats.org/drawingml/2006/main">
            <a:off x="6096000" y="1666875"/>
            <a:ext cx="0" cy="1809750"/>
          </a:xfrm>
          <a:prstGeom xmlns:a="http://schemas.openxmlformats.org/drawingml/2006/main" prst="line">
            <a:avLst/>
          </a:prstGeom>
          <a:noFill xmlns:a="http://schemas.openxmlformats.org/drawingml/2006/main"/>
          <a:ln xmlns:a="http://schemas.openxmlformats.org/drawingml/2006/main" w="0">
            <a:solidFill>
              <a:srgbClr val="0D2A43"/>
            </a:solidFill>
            <a:prstDash val="solid"/>
          </a:ln>
        </p:spPr>
      </p:sp>
      <p:sp>
        <p:nvSpPr>
          <p:cNvPr id="10" name="">
            <a:extLst xmlns:a="http://schemas.openxmlformats.org/drawingml/2006/main">
              <a:ext uri="{FF2B5EF4-FFF2-40B4-BE49-F238E27FC236}">
                <a16:creationId xmlns:a16="http://schemas.microsoft.com/office/drawing/2014/main" id="{0DADD232-F301-425B-8E02-7AA5F83E4044}"/>
              </a:ext>
            </a:extLst>
          </p:cNvPr>
          <p:cNvSpPr>
            <a:spLocks xmlns:a="http://schemas.openxmlformats.org/drawingml/2006/main" noGrp="1"/>
          </p:cNvSpPr>
          <p:nvPr/>
        </p:nvSpPr>
        <p:spPr>
          <a:xfrm xmlns:a="http://schemas.openxmlformats.org/drawingml/2006/main">
            <a:off x="7818009" y="2238375"/>
            <a:ext cx="2000250" cy="666750"/>
          </a:xfrm>
          <a:prstGeom xmlns:a="http://schemas.openxmlformats.org/drawingml/2006/main" prst="roundRect">
            <a:avLst>
              <a:gd name="adj" fmla="val 11429"/>
            </a:avLst>
          </a:prstGeom>
          <a:solidFill xmlns:a="http://schemas.openxmlformats.org/drawingml/2006/main">
            <a:srgbClr val="0D2A43"/>
          </a:solidFill>
          <a:ln xmlns:a="http://schemas.openxmlformats.org/drawingml/2006/main" w="9525">
            <a:solidFill>
              <a:srgbClr val="22B8A7"/>
            </a:solidFill>
            <a:prstDash val="solid"/>
          </a:ln>
        </p:spPr>
      </p:sp>
      <p:sp>
        <p:nvSpPr>
          <p:cNvPr id="11" name="">
            <a:extLst xmlns:a="http://schemas.openxmlformats.org/drawingml/2006/main">
              <a:ext uri="{FF2B5EF4-FFF2-40B4-BE49-F238E27FC236}">
                <a16:creationId xmlns:a16="http://schemas.microsoft.com/office/drawing/2014/main" id="{1BD25952-DCD7-4689-957C-001E2C1ED66B}"/>
              </a:ext>
            </a:extLst>
          </p:cNvPr>
          <p:cNvSpPr>
            <a:spLocks xmlns:a="http://schemas.openxmlformats.org/drawingml/2006/main" noGrp="1"/>
          </p:cNvSpPr>
          <p:nvPr/>
        </p:nvSpPr>
        <p:spPr>
          <a:xfrm xmlns:a="http://schemas.openxmlformats.org/drawingml/2006/main">
            <a:off x="7913259" y="2333625"/>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7F2E8"/>
                </a:solidFill>
              </a:defRPr>
            </a:pPr>
            <a:r>
              <a:rPr sz="1200" b="1">
                <a:solidFill>
                  <a:srgbClr val="F7F2E8"/>
                </a:solidFill>
              </a:rPr>
              <a:t>MATHEMATICS</a:t>
            </a:r>
          </a:p>
        </p:txBody>
      </p:sp>
      <p:sp>
        <p:nvSpPr>
          <p:cNvPr id="12" name="">
            <a:extLst xmlns:a="http://schemas.openxmlformats.org/drawingml/2006/main">
              <a:ext uri="{FF2B5EF4-FFF2-40B4-BE49-F238E27FC236}">
                <a16:creationId xmlns:a16="http://schemas.microsoft.com/office/drawing/2014/main" id="{B7DEB987-F43F-4E07-A832-455E5935EB85}"/>
              </a:ext>
            </a:extLst>
          </p:cNvPr>
          <p:cNvSpPr>
            <a:spLocks xmlns:a="http://schemas.openxmlformats.org/drawingml/2006/main" noGrp="1"/>
          </p:cNvSpPr>
          <p:nvPr/>
        </p:nvSpPr>
        <p:spPr>
          <a:xfrm xmlns:a="http://schemas.openxmlformats.org/drawingml/2006/main">
            <a:off x="6096000" y="2571750"/>
            <a:ext cx="2722134" cy="904875"/>
          </a:xfrm>
          <a:prstGeom xmlns:a="http://schemas.openxmlformats.org/drawingml/2006/main" prst="line">
            <a:avLst/>
          </a:prstGeom>
          <a:noFill xmlns:a="http://schemas.openxmlformats.org/drawingml/2006/main"/>
          <a:ln xmlns:a="http://schemas.openxmlformats.org/drawingml/2006/main" w="0">
            <a:solidFill>
              <a:srgbClr val="0D2A43"/>
            </a:solidFill>
            <a:prstDash val="solid"/>
          </a:ln>
        </p:spPr>
      </p:sp>
      <p:sp>
        <p:nvSpPr>
          <p:cNvPr id="13" name="">
            <a:extLst xmlns:a="http://schemas.openxmlformats.org/drawingml/2006/main">
              <a:ext uri="{FF2B5EF4-FFF2-40B4-BE49-F238E27FC236}">
                <a16:creationId xmlns:a16="http://schemas.microsoft.com/office/drawing/2014/main" id="{CC63D2F5-61AB-4F6E-900E-321DFD847B81}"/>
              </a:ext>
            </a:extLst>
          </p:cNvPr>
          <p:cNvSpPr>
            <a:spLocks xmlns:a="http://schemas.openxmlformats.org/drawingml/2006/main" noGrp="1"/>
          </p:cNvSpPr>
          <p:nvPr/>
        </p:nvSpPr>
        <p:spPr>
          <a:xfrm xmlns:a="http://schemas.openxmlformats.org/drawingml/2006/main">
            <a:off x="7818009" y="4048125"/>
            <a:ext cx="2000250" cy="666750"/>
          </a:xfrm>
          <a:prstGeom xmlns:a="http://schemas.openxmlformats.org/drawingml/2006/main" prst="roundRect">
            <a:avLst>
              <a:gd name="adj" fmla="val 11429"/>
            </a:avLst>
          </a:prstGeom>
          <a:solidFill xmlns:a="http://schemas.openxmlformats.org/drawingml/2006/main">
            <a:srgbClr val="0D2A43"/>
          </a:solidFill>
          <a:ln xmlns:a="http://schemas.openxmlformats.org/drawingml/2006/main" w="9525">
            <a:solidFill>
              <a:srgbClr val="22B8A7"/>
            </a:solidFill>
            <a:prstDash val="solid"/>
          </a:ln>
        </p:spPr>
      </p:sp>
      <p:sp>
        <p:nvSpPr>
          <p:cNvPr id="14" name="">
            <a:extLst xmlns:a="http://schemas.openxmlformats.org/drawingml/2006/main">
              <a:ext uri="{FF2B5EF4-FFF2-40B4-BE49-F238E27FC236}">
                <a16:creationId xmlns:a16="http://schemas.microsoft.com/office/drawing/2014/main" id="{27B81DB9-0596-42C7-91A2-67220427EAB0}"/>
              </a:ext>
            </a:extLst>
          </p:cNvPr>
          <p:cNvSpPr>
            <a:spLocks xmlns:a="http://schemas.openxmlformats.org/drawingml/2006/main" noGrp="1"/>
          </p:cNvSpPr>
          <p:nvPr/>
        </p:nvSpPr>
        <p:spPr>
          <a:xfrm xmlns:a="http://schemas.openxmlformats.org/drawingml/2006/main">
            <a:off x="7913259" y="4143375"/>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7F2E8"/>
                </a:solidFill>
              </a:defRPr>
            </a:pPr>
            <a:r>
              <a:rPr sz="1200" b="1">
                <a:solidFill>
                  <a:srgbClr val="F7F2E8"/>
                </a:solidFill>
              </a:rPr>
              <a:t>IMPLEMENTATION</a:t>
            </a:r>
          </a:p>
        </p:txBody>
      </p:sp>
      <p:sp>
        <p:nvSpPr>
          <p:cNvPr id="15" name="">
            <a:extLst xmlns:a="http://schemas.openxmlformats.org/drawingml/2006/main">
              <a:ext uri="{FF2B5EF4-FFF2-40B4-BE49-F238E27FC236}">
                <a16:creationId xmlns:a16="http://schemas.microsoft.com/office/drawing/2014/main" id="{DACDC1D1-2FDB-4745-9433-9185574B88CF}"/>
              </a:ext>
            </a:extLst>
          </p:cNvPr>
          <p:cNvSpPr>
            <a:spLocks xmlns:a="http://schemas.openxmlformats.org/drawingml/2006/main" noGrp="1"/>
          </p:cNvSpPr>
          <p:nvPr/>
        </p:nvSpPr>
        <p:spPr>
          <a:xfrm xmlns:a="http://schemas.openxmlformats.org/drawingml/2006/main">
            <a:off x="6096000" y="3476625"/>
            <a:ext cx="2722134" cy="904875"/>
          </a:xfrm>
          <a:prstGeom xmlns:a="http://schemas.openxmlformats.org/drawingml/2006/main" prst="line">
            <a:avLst/>
          </a:prstGeom>
          <a:noFill xmlns:a="http://schemas.openxmlformats.org/drawingml/2006/main"/>
          <a:ln xmlns:a="http://schemas.openxmlformats.org/drawingml/2006/main" w="0">
            <a:solidFill>
              <a:srgbClr val="0D2A43"/>
            </a:solidFill>
            <a:prstDash val="solid"/>
          </a:ln>
        </p:spPr>
      </p:sp>
      <p:sp>
        <p:nvSpPr>
          <p:cNvPr id="16" name="">
            <a:extLst xmlns:a="http://schemas.openxmlformats.org/drawingml/2006/main">
              <a:ext uri="{FF2B5EF4-FFF2-40B4-BE49-F238E27FC236}">
                <a16:creationId xmlns:a16="http://schemas.microsoft.com/office/drawing/2014/main" id="{BDA8F673-D7FB-4035-B9C1-0683BB89B61B}"/>
              </a:ext>
            </a:extLst>
          </p:cNvPr>
          <p:cNvSpPr>
            <a:spLocks xmlns:a="http://schemas.openxmlformats.org/drawingml/2006/main" noGrp="1"/>
          </p:cNvSpPr>
          <p:nvPr/>
        </p:nvSpPr>
        <p:spPr>
          <a:xfrm xmlns:a="http://schemas.openxmlformats.org/drawingml/2006/main">
            <a:off x="5095875" y="4953000"/>
            <a:ext cx="2000250" cy="666750"/>
          </a:xfrm>
          <a:prstGeom xmlns:a="http://schemas.openxmlformats.org/drawingml/2006/main" prst="roundRect">
            <a:avLst>
              <a:gd name="adj" fmla="val 11429"/>
            </a:avLst>
          </a:prstGeom>
          <a:solidFill xmlns:a="http://schemas.openxmlformats.org/drawingml/2006/main">
            <a:srgbClr val="0D2A43"/>
          </a:solidFill>
          <a:ln xmlns:a="http://schemas.openxmlformats.org/drawingml/2006/main" w="9525">
            <a:solidFill>
              <a:srgbClr val="22B8A7"/>
            </a:solidFill>
            <a:prstDash val="solid"/>
          </a:ln>
        </p:spPr>
      </p:sp>
      <p:sp>
        <p:nvSpPr>
          <p:cNvPr id="17" name="">
            <a:extLst xmlns:a="http://schemas.openxmlformats.org/drawingml/2006/main">
              <a:ext uri="{FF2B5EF4-FFF2-40B4-BE49-F238E27FC236}">
                <a16:creationId xmlns:a16="http://schemas.microsoft.com/office/drawing/2014/main" id="{379DA93D-DC70-4A70-9696-29E8B9883269}"/>
              </a:ext>
            </a:extLst>
          </p:cNvPr>
          <p:cNvSpPr>
            <a:spLocks xmlns:a="http://schemas.openxmlformats.org/drawingml/2006/main" noGrp="1"/>
          </p:cNvSpPr>
          <p:nvPr/>
        </p:nvSpPr>
        <p:spPr>
          <a:xfrm xmlns:a="http://schemas.openxmlformats.org/drawingml/2006/main">
            <a:off x="5191125" y="5048250"/>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7F2E8"/>
                </a:solidFill>
              </a:defRPr>
            </a:pPr>
            <a:r>
              <a:rPr sz="1200" b="1">
                <a:solidFill>
                  <a:srgbClr val="F7F2E8"/>
                </a:solidFill>
              </a:rPr>
              <a:t>RESIDUALS</a:t>
            </a:r>
          </a:p>
        </p:txBody>
      </p:sp>
      <p:sp>
        <p:nvSpPr>
          <p:cNvPr id="18" name="">
            <a:extLst xmlns:a="http://schemas.openxmlformats.org/drawingml/2006/main">
              <a:ext uri="{FF2B5EF4-FFF2-40B4-BE49-F238E27FC236}">
                <a16:creationId xmlns:a16="http://schemas.microsoft.com/office/drawing/2014/main" id="{BA4FFE05-66F6-4491-8095-1173E426F87B}"/>
              </a:ext>
            </a:extLst>
          </p:cNvPr>
          <p:cNvSpPr>
            <a:spLocks xmlns:a="http://schemas.openxmlformats.org/drawingml/2006/main" noGrp="1"/>
          </p:cNvSpPr>
          <p:nvPr/>
        </p:nvSpPr>
        <p:spPr>
          <a:xfrm xmlns:a="http://schemas.openxmlformats.org/drawingml/2006/main">
            <a:off x="6096000" y="3476625"/>
            <a:ext cx="0" cy="1809750"/>
          </a:xfrm>
          <a:prstGeom xmlns:a="http://schemas.openxmlformats.org/drawingml/2006/main" prst="line">
            <a:avLst/>
          </a:prstGeom>
          <a:noFill xmlns:a="http://schemas.openxmlformats.org/drawingml/2006/main"/>
          <a:ln xmlns:a="http://schemas.openxmlformats.org/drawingml/2006/main" w="0">
            <a:solidFill>
              <a:srgbClr val="0D2A43"/>
            </a:solidFill>
            <a:prstDash val="solid"/>
          </a:ln>
        </p:spPr>
      </p:sp>
      <p:sp>
        <p:nvSpPr>
          <p:cNvPr id="19" name="">
            <a:extLst xmlns:a="http://schemas.openxmlformats.org/drawingml/2006/main">
              <a:ext uri="{FF2B5EF4-FFF2-40B4-BE49-F238E27FC236}">
                <a16:creationId xmlns:a16="http://schemas.microsoft.com/office/drawing/2014/main" id="{9CB61E23-2F0D-4619-B8F5-0393F98EFD4D}"/>
              </a:ext>
            </a:extLst>
          </p:cNvPr>
          <p:cNvSpPr>
            <a:spLocks xmlns:a="http://schemas.openxmlformats.org/drawingml/2006/main" noGrp="1"/>
          </p:cNvSpPr>
          <p:nvPr/>
        </p:nvSpPr>
        <p:spPr>
          <a:xfrm xmlns:a="http://schemas.openxmlformats.org/drawingml/2006/main">
            <a:off x="2373741" y="4048125"/>
            <a:ext cx="2000250" cy="666750"/>
          </a:xfrm>
          <a:prstGeom xmlns:a="http://schemas.openxmlformats.org/drawingml/2006/main" prst="roundRect">
            <a:avLst>
              <a:gd name="adj" fmla="val 11429"/>
            </a:avLst>
          </a:prstGeom>
          <a:solidFill xmlns:a="http://schemas.openxmlformats.org/drawingml/2006/main">
            <a:srgbClr val="0D2A43"/>
          </a:solidFill>
          <a:ln xmlns:a="http://schemas.openxmlformats.org/drawingml/2006/main" w="9525">
            <a:solidFill>
              <a:srgbClr val="22B8A7"/>
            </a:solidFill>
            <a:prstDash val="solid"/>
          </a:ln>
        </p:spPr>
      </p:sp>
      <p:sp>
        <p:nvSpPr>
          <p:cNvPr id="20" name="">
            <a:extLst xmlns:a="http://schemas.openxmlformats.org/drawingml/2006/main">
              <a:ext uri="{FF2B5EF4-FFF2-40B4-BE49-F238E27FC236}">
                <a16:creationId xmlns:a16="http://schemas.microsoft.com/office/drawing/2014/main" id="{4B2F92EE-21DE-4817-BF4A-404C8D0DF53F}"/>
              </a:ext>
            </a:extLst>
          </p:cNvPr>
          <p:cNvSpPr>
            <a:spLocks xmlns:a="http://schemas.openxmlformats.org/drawingml/2006/main" noGrp="1"/>
          </p:cNvSpPr>
          <p:nvPr/>
        </p:nvSpPr>
        <p:spPr>
          <a:xfrm xmlns:a="http://schemas.openxmlformats.org/drawingml/2006/main">
            <a:off x="2468991" y="4143375"/>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7F2E8"/>
                </a:solidFill>
              </a:defRPr>
            </a:pPr>
            <a:r>
              <a:rPr sz="1200" b="1">
                <a:solidFill>
                  <a:srgbClr val="F7F2E8"/>
                </a:solidFill>
              </a:rPr>
              <a:t>CONDITIONING</a:t>
            </a:r>
          </a:p>
        </p:txBody>
      </p:sp>
      <p:sp>
        <p:nvSpPr>
          <p:cNvPr id="21" name="">
            <a:extLst xmlns:a="http://schemas.openxmlformats.org/drawingml/2006/main">
              <a:ext uri="{FF2B5EF4-FFF2-40B4-BE49-F238E27FC236}">
                <a16:creationId xmlns:a16="http://schemas.microsoft.com/office/drawing/2014/main" id="{04E3F439-BEDF-4539-B24E-D465FB2011C8}"/>
              </a:ext>
            </a:extLst>
          </p:cNvPr>
          <p:cNvSpPr>
            <a:spLocks xmlns:a="http://schemas.openxmlformats.org/drawingml/2006/main" noGrp="1"/>
          </p:cNvSpPr>
          <p:nvPr/>
        </p:nvSpPr>
        <p:spPr>
          <a:xfrm xmlns:a="http://schemas.openxmlformats.org/drawingml/2006/main">
            <a:off x="3373866" y="3476625"/>
            <a:ext cx="2722134" cy="904875"/>
          </a:xfrm>
          <a:prstGeom xmlns:a="http://schemas.openxmlformats.org/drawingml/2006/main" prst="line">
            <a:avLst/>
          </a:prstGeom>
          <a:noFill xmlns:a="http://schemas.openxmlformats.org/drawingml/2006/main"/>
          <a:ln xmlns:a="http://schemas.openxmlformats.org/drawingml/2006/main" w="0">
            <a:solidFill>
              <a:srgbClr val="0D2A43"/>
            </a:solidFill>
            <a:prstDash val="solid"/>
          </a:ln>
        </p:spPr>
      </p:sp>
      <p:sp>
        <p:nvSpPr>
          <p:cNvPr id="22" name="">
            <a:extLst xmlns:a="http://schemas.openxmlformats.org/drawingml/2006/main">
              <a:ext uri="{FF2B5EF4-FFF2-40B4-BE49-F238E27FC236}">
                <a16:creationId xmlns:a16="http://schemas.microsoft.com/office/drawing/2014/main" id="{A0FA4C6C-770F-49F7-940E-9F34FBBFB11B}"/>
              </a:ext>
            </a:extLst>
          </p:cNvPr>
          <p:cNvSpPr>
            <a:spLocks xmlns:a="http://schemas.openxmlformats.org/drawingml/2006/main" noGrp="1"/>
          </p:cNvSpPr>
          <p:nvPr/>
        </p:nvSpPr>
        <p:spPr>
          <a:xfrm xmlns:a="http://schemas.openxmlformats.org/drawingml/2006/main">
            <a:off x="2373741" y="2238375"/>
            <a:ext cx="2000250" cy="666750"/>
          </a:xfrm>
          <a:prstGeom xmlns:a="http://schemas.openxmlformats.org/drawingml/2006/main" prst="roundRect">
            <a:avLst>
              <a:gd name="adj" fmla="val 11429"/>
            </a:avLst>
          </a:prstGeom>
          <a:solidFill xmlns:a="http://schemas.openxmlformats.org/drawingml/2006/main">
            <a:srgbClr val="0D2A43"/>
          </a:solidFill>
          <a:ln xmlns:a="http://schemas.openxmlformats.org/drawingml/2006/main" w="9525">
            <a:solidFill>
              <a:srgbClr val="22B8A7"/>
            </a:solidFill>
            <a:prstDash val="solid"/>
          </a:ln>
        </p:spPr>
      </p:sp>
      <p:sp>
        <p:nvSpPr>
          <p:cNvPr id="23" name="">
            <a:extLst xmlns:a="http://schemas.openxmlformats.org/drawingml/2006/main">
              <a:ext uri="{FF2B5EF4-FFF2-40B4-BE49-F238E27FC236}">
                <a16:creationId xmlns:a16="http://schemas.microsoft.com/office/drawing/2014/main" id="{B1D75974-FCDA-47D9-8689-7565BEABF9FF}"/>
              </a:ext>
            </a:extLst>
          </p:cNvPr>
          <p:cNvSpPr>
            <a:spLocks xmlns:a="http://schemas.openxmlformats.org/drawingml/2006/main" noGrp="1"/>
          </p:cNvSpPr>
          <p:nvPr/>
        </p:nvSpPr>
        <p:spPr>
          <a:xfrm xmlns:a="http://schemas.openxmlformats.org/drawingml/2006/main">
            <a:off x="2468991" y="2333625"/>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7F2E8"/>
                </a:solidFill>
              </a:defRPr>
            </a:pPr>
            <a:r>
              <a:rPr sz="1200" b="1">
                <a:solidFill>
                  <a:srgbClr val="F7F2E8"/>
                </a:solidFill>
              </a:rPr>
              <a:t>CONSEQUENCES</a:t>
            </a:r>
          </a:p>
        </p:txBody>
      </p:sp>
      <p:sp>
        <p:nvSpPr>
          <p:cNvPr id="24" name="">
            <a:extLst xmlns:a="http://schemas.openxmlformats.org/drawingml/2006/main">
              <a:ext uri="{FF2B5EF4-FFF2-40B4-BE49-F238E27FC236}">
                <a16:creationId xmlns:a16="http://schemas.microsoft.com/office/drawing/2014/main" id="{B44433B5-2A61-411B-98E6-C0C4B9AC9A93}"/>
              </a:ext>
            </a:extLst>
          </p:cNvPr>
          <p:cNvSpPr>
            <a:spLocks xmlns:a="http://schemas.openxmlformats.org/drawingml/2006/main" noGrp="1"/>
          </p:cNvSpPr>
          <p:nvPr/>
        </p:nvSpPr>
        <p:spPr>
          <a:xfrm xmlns:a="http://schemas.openxmlformats.org/drawingml/2006/main">
            <a:off x="3373866" y="2571750"/>
            <a:ext cx="2722134" cy="904875"/>
          </a:xfrm>
          <a:prstGeom xmlns:a="http://schemas.openxmlformats.org/drawingml/2006/main" prst="line">
            <a:avLst/>
          </a:prstGeom>
          <a:noFill xmlns:a="http://schemas.openxmlformats.org/drawingml/2006/main"/>
          <a:ln xmlns:a="http://schemas.openxmlformats.org/drawingml/2006/main" w="0">
            <a:solidFill>
              <a:srgbClr val="0D2A43"/>
            </a:solidFill>
            <a:prstDash val="solid"/>
          </a:ln>
        </p:spPr>
      </p:sp>
      <p:sp>
        <p:nvSpPr>
          <p:cNvPr id="25" name="">
            <a:extLst xmlns:a="http://schemas.openxmlformats.org/drawingml/2006/main">
              <a:ext uri="{FF2B5EF4-FFF2-40B4-BE49-F238E27FC236}">
                <a16:creationId xmlns:a16="http://schemas.microsoft.com/office/drawing/2014/main" id="{6CF2E7EF-54AF-425D-9A3B-61B2232C04BA}"/>
              </a:ext>
            </a:extLst>
          </p:cNvPr>
          <p:cNvSpPr>
            <a:spLocks xmlns:a="http://schemas.openxmlformats.org/drawingml/2006/main" noGrp="1"/>
          </p:cNvSpPr>
          <p:nvPr/>
        </p:nvSpPr>
        <p:spPr>
          <a:xfrm xmlns:a="http://schemas.openxmlformats.org/drawingml/2006/main">
            <a:off x="4762500" y="2714625"/>
            <a:ext cx="2667000" cy="1524000"/>
          </a:xfrm>
          <a:prstGeom xmlns:a="http://schemas.openxmlformats.org/drawingml/2006/main" prst="roundRect">
            <a:avLst>
              <a:gd name="adj" fmla="val 5000"/>
            </a:avLst>
          </a:prstGeom>
          <a:solidFill xmlns:a="http://schemas.openxmlformats.org/drawingml/2006/main">
            <a:srgbClr val="154D57"/>
          </a:solidFill>
          <a:ln xmlns:a="http://schemas.openxmlformats.org/drawingml/2006/main" w="9525">
            <a:solidFill>
              <a:srgbClr val="D9A441"/>
            </a:solidFill>
            <a:prstDash val="solid"/>
          </a:ln>
        </p:spPr>
      </p:sp>
      <p:sp>
        <p:nvSpPr>
          <p:cNvPr id="26" name="">
            <a:extLst xmlns:a="http://schemas.openxmlformats.org/drawingml/2006/main">
              <a:ext uri="{FF2B5EF4-FFF2-40B4-BE49-F238E27FC236}">
                <a16:creationId xmlns:a16="http://schemas.microsoft.com/office/drawing/2014/main" id="{81BC3405-EDE7-4E69-974F-49D9B1E78E38}"/>
              </a:ext>
            </a:extLst>
          </p:cNvPr>
          <p:cNvSpPr>
            <a:spLocks xmlns:a="http://schemas.openxmlformats.org/drawingml/2006/main" noGrp="1"/>
          </p:cNvSpPr>
          <p:nvPr/>
        </p:nvSpPr>
        <p:spPr>
          <a:xfrm xmlns:a="http://schemas.openxmlformats.org/drawingml/2006/main">
            <a:off x="4953000" y="3000375"/>
            <a:ext cx="2286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a:solidFill>
                  <a:srgbClr val="D9A441"/>
                </a:solidFill>
              </a:defRPr>
            </a:pPr>
            <a:r>
              <a:rPr sz="1800" b="1">
                <a:solidFill>
                  <a:srgbClr val="D9A441"/>
                </a:solidFill>
              </a:rPr>
              <a:t>DEFENSIBLE</a:t>
            </a:r>
          </a:p>
          <a:p xmlns:a="http://schemas.openxmlformats.org/drawingml/2006/main">
            <a:pPr algn="ctr">
              <a:buNone/>
              <a:defRPr sz="1800" b="1">
                <a:solidFill>
                  <a:srgbClr val="D9A441"/>
                </a:solidFill>
              </a:defRPr>
            </a:pPr>
            <a:r>
              <a:rPr sz="1800" b="1">
                <a:solidFill>
                  <a:srgbClr val="D9A441"/>
                </a:solidFill>
              </a:rPr>
              <a:t>SOLUTION</a:t>
            </a:r>
          </a:p>
        </p:txBody>
      </p:sp>
    </p:spTree>
    <p:extLst>
      <p:ext uri="{BB962C8B-B14F-4D97-AF65-F5344CB8AC3E}">
        <p14:creationId xmlns:p14="http://schemas.microsoft.com/office/powerpoint/2010/main" val="490399515"/>
      </p:ext>
    </p:extLst>
  </p:cSld>
</p:sld>
</file>

<file path=ppt/slides/slide16.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94305A1-A353-4B03-BAC2-3E754547B4F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9BDB360-4A89-419D-BE19-2EB5ED89D109}"/>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D4BED5E7-2D26-471F-A42F-2EA5DD63FFF0}"/>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CLOSING</a:t>
            </a:r>
          </a:p>
        </p:txBody>
      </p:sp>
      <p:sp>
        <p:nvSpPr>
          <p:cNvPr id="4" name="">
            <a:extLst xmlns:a="http://schemas.openxmlformats.org/drawingml/2006/main">
              <a:ext uri="{FF2B5EF4-FFF2-40B4-BE49-F238E27FC236}">
                <a16:creationId xmlns:a16="http://schemas.microsoft.com/office/drawing/2014/main" id="{14D45392-D416-414D-ADCC-6D5CA788869A}"/>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16</a:t>
            </a:r>
          </a:p>
        </p:txBody>
      </p:sp>
      <p:sp>
        <p:nvSpPr>
          <p:cNvPr id="5" name="">
            <a:extLst xmlns:a="http://schemas.openxmlformats.org/drawingml/2006/main">
              <a:ext uri="{FF2B5EF4-FFF2-40B4-BE49-F238E27FC236}">
                <a16:creationId xmlns:a16="http://schemas.microsoft.com/office/drawing/2014/main" id="{8FEDFEE8-75DB-4143-BDE7-D88B465FF65C}"/>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96E5994E-8594-4728-B105-53AFE781E966}"/>
              </a:ext>
            </a:extLst>
          </p:cNvPr>
          <p:cNvSpPr>
            <a:spLocks xmlns:a="http://schemas.openxmlformats.org/drawingml/2006/main" noGrp="1"/>
          </p:cNvSpPr>
          <p:nvPr/>
        </p:nvSpPr>
        <p:spPr>
          <a:xfrm xmlns:a="http://schemas.openxmlformats.org/drawingml/2006/main">
            <a:off x="1143000" y="1381125"/>
            <a:ext cx="990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150" b="1">
                <a:solidFill>
                  <a:srgbClr val="F7F2E8"/>
                </a:solidFill>
              </a:defRPr>
            </a:pPr>
            <a:r>
              <a:rPr sz="3150" b="1">
                <a:solidFill>
                  <a:srgbClr val="F7F2E8"/>
                </a:solidFill>
              </a:rPr>
              <a:t>A computed solution is not enough.</a:t>
            </a:r>
          </a:p>
        </p:txBody>
      </p:sp>
      <p:sp>
        <p:nvSpPr>
          <p:cNvPr id="7" name="">
            <a:extLst xmlns:a="http://schemas.openxmlformats.org/drawingml/2006/main">
              <a:ext uri="{FF2B5EF4-FFF2-40B4-BE49-F238E27FC236}">
                <a16:creationId xmlns:a16="http://schemas.microsoft.com/office/drawing/2014/main" id="{61A8A178-BCE9-4A58-801C-030F86643943}"/>
              </a:ext>
            </a:extLst>
          </p:cNvPr>
          <p:cNvSpPr>
            <a:spLocks xmlns:a="http://schemas.openxmlformats.org/drawingml/2006/main" noGrp="1"/>
          </p:cNvSpPr>
          <p:nvPr/>
        </p:nvSpPr>
        <p:spPr>
          <a:xfrm xmlns:a="http://schemas.openxmlformats.org/drawingml/2006/main">
            <a:off x="1143000" y="2343150"/>
            <a:ext cx="9906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0">
                <a:solidFill>
                  <a:srgbClr val="AFC1CE"/>
                </a:solidFill>
              </a:defRPr>
            </a:pPr>
            <a:r>
              <a:rPr sz="2250" b="0">
                <a:solidFill>
                  <a:srgbClr val="AFC1CE"/>
                </a:solidFill>
              </a:rPr>
              <a:t>Build linear-system results that can be</a:t>
            </a:r>
          </a:p>
        </p:txBody>
      </p:sp>
      <p:sp>
        <p:nvSpPr>
          <p:cNvPr id="8" name="">
            <a:extLst xmlns:a="http://schemas.openxmlformats.org/drawingml/2006/main">
              <a:ext uri="{FF2B5EF4-FFF2-40B4-BE49-F238E27FC236}">
                <a16:creationId xmlns:a16="http://schemas.microsoft.com/office/drawing/2014/main" id="{322E0539-6CA6-42DE-B5D8-B5172B9BC564}"/>
              </a:ext>
            </a:extLst>
          </p:cNvPr>
          <p:cNvSpPr>
            <a:spLocks xmlns:a="http://schemas.openxmlformats.org/drawingml/2006/main" noGrp="1"/>
          </p:cNvSpPr>
          <p:nvPr/>
        </p:nvSpPr>
        <p:spPr>
          <a:xfrm xmlns:a="http://schemas.openxmlformats.org/drawingml/2006/main">
            <a:off x="1143000" y="2952750"/>
            <a:ext cx="9906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700" b="1">
                <a:solidFill>
                  <a:srgbClr val="D9A441"/>
                </a:solidFill>
              </a:defRPr>
            </a:pPr>
            <a:r>
              <a:rPr sz="2700" b="1">
                <a:solidFill>
                  <a:srgbClr val="D9A441"/>
                </a:solidFill>
              </a:rPr>
              <a:t>interpreted  •  tested  •  defended</a:t>
            </a:r>
          </a:p>
        </p:txBody>
      </p:sp>
      <p:sp>
        <p:nvSpPr>
          <p:cNvPr id="9" name="">
            <a:extLst xmlns:a="http://schemas.openxmlformats.org/drawingml/2006/main">
              <a:ext uri="{FF2B5EF4-FFF2-40B4-BE49-F238E27FC236}">
                <a16:creationId xmlns:a16="http://schemas.microsoft.com/office/drawing/2014/main" id="{DFAC4214-83AA-4AE0-8A5E-F2660266B111}"/>
              </a:ext>
            </a:extLst>
          </p:cNvPr>
          <p:cNvSpPr>
            <a:spLocks xmlns:a="http://schemas.openxmlformats.org/drawingml/2006/main" noGrp="1"/>
          </p:cNvSpPr>
          <p:nvPr/>
        </p:nvSpPr>
        <p:spPr>
          <a:xfrm xmlns:a="http://schemas.openxmlformats.org/drawingml/2006/main">
            <a:off x="3286125" y="4095750"/>
            <a:ext cx="5619750" cy="0"/>
          </a:xfrm>
          <a:prstGeom xmlns:a="http://schemas.openxmlformats.org/drawingml/2006/main" prst="line">
            <a:avLst/>
          </a:prstGeom>
          <a:noFill xmlns:a="http://schemas.openxmlformats.org/drawingml/2006/main"/>
          <a:ln xmlns:a="http://schemas.openxmlformats.org/drawingml/2006/main" w="38100">
            <a:solidFill>
              <a:srgbClr val="22B8A7"/>
            </a:solidFill>
            <a:prstDash val="solid"/>
          </a:ln>
        </p:spPr>
      </p:sp>
      <p:sp>
        <p:nvSpPr>
          <p:cNvPr id="10" name="">
            <a:extLst xmlns:a="http://schemas.openxmlformats.org/drawingml/2006/main">
              <a:ext uri="{FF2B5EF4-FFF2-40B4-BE49-F238E27FC236}">
                <a16:creationId xmlns:a16="http://schemas.microsoft.com/office/drawing/2014/main" id="{38E7F201-E120-4C27-8B81-D904466C6038}"/>
              </a:ext>
            </a:extLst>
          </p:cNvPr>
          <p:cNvSpPr>
            <a:spLocks xmlns:a="http://schemas.openxmlformats.org/drawingml/2006/main" noGrp="1"/>
          </p:cNvSpPr>
          <p:nvPr/>
        </p:nvSpPr>
        <p:spPr>
          <a:xfrm xmlns:a="http://schemas.openxmlformats.org/drawingml/2006/main">
            <a:off x="1143000" y="4524375"/>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79D7CC"/>
                </a:solidFill>
              </a:defRPr>
            </a:pPr>
            <a:r>
              <a:rPr sz="2250" b="1">
                <a:solidFill>
                  <a:srgbClr val="79D7CC"/>
                </a:solidFill>
              </a:rPr>
              <a:t>SRAI</a:t>
            </a:r>
          </a:p>
        </p:txBody>
      </p:sp>
      <p:sp>
        <p:nvSpPr>
          <p:cNvPr id="11" name="">
            <a:extLst xmlns:a="http://schemas.openxmlformats.org/drawingml/2006/main">
              <a:ext uri="{FF2B5EF4-FFF2-40B4-BE49-F238E27FC236}">
                <a16:creationId xmlns:a16="http://schemas.microsoft.com/office/drawing/2014/main" id="{123C1C76-7976-4D69-A3CA-C56468EA46A8}"/>
              </a:ext>
            </a:extLst>
          </p:cNvPr>
          <p:cNvSpPr>
            <a:spLocks xmlns:a="http://schemas.openxmlformats.org/drawingml/2006/main" noGrp="1"/>
          </p:cNvSpPr>
          <p:nvPr/>
        </p:nvSpPr>
        <p:spPr>
          <a:xfrm xmlns:a="http://schemas.openxmlformats.org/drawingml/2006/main">
            <a:off x="1428750" y="508635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0">
                <a:solidFill>
                  <a:srgbClr val="F7F2E8"/>
                </a:solidFill>
              </a:defRPr>
            </a:pPr>
            <a:r>
              <a:rPr sz="1650" b="0">
                <a:solidFill>
                  <a:srgbClr val="F7F2E8"/>
                </a:solidFill>
              </a:rPr>
              <a:t>From statistical reasoning to responsible artificial intelligence.</a:t>
            </a:r>
          </a:p>
        </p:txBody>
      </p:sp>
      <p:sp>
        <p:nvSpPr>
          <p:cNvPr id="12" name="">
            <a:extLst xmlns:a="http://schemas.openxmlformats.org/drawingml/2006/main">
              <a:ext uri="{FF2B5EF4-FFF2-40B4-BE49-F238E27FC236}">
                <a16:creationId xmlns:a16="http://schemas.microsoft.com/office/drawing/2014/main" id="{2AB53D77-0401-43EE-9A2B-B0414CE24E73}"/>
              </a:ext>
            </a:extLst>
          </p:cNvPr>
          <p:cNvSpPr>
            <a:spLocks xmlns:a="http://schemas.openxmlformats.org/drawingml/2006/main" noGrp="1"/>
          </p:cNvSpPr>
          <p:nvPr/>
        </p:nvSpPr>
        <p:spPr>
          <a:xfrm xmlns:a="http://schemas.openxmlformats.org/drawingml/2006/main">
            <a:off x="1428750" y="5810250"/>
            <a:ext cx="933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AFC1CE"/>
                </a:solidFill>
              </a:defRPr>
            </a:pPr>
            <a:r>
              <a:rPr sz="1200" b="0">
                <a:solidFill>
                  <a:srgbClr val="AFC1CE"/>
                </a:solidFill>
              </a:rPr>
              <a:t>@SRAIStatisticsReasoningandAI</a:t>
            </a:r>
          </a:p>
        </p:txBody>
      </p:sp>
    </p:spTree>
    <p:extLst>
      <p:ext uri="{BB962C8B-B14F-4D97-AF65-F5344CB8AC3E}">
        <p14:creationId xmlns:p14="http://schemas.microsoft.com/office/powerpoint/2010/main" val="20358739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2026-08-31T15:27:55.7110000Z</dcterms:created>
  <dcterms:modified xsi:type="dcterms:W3CDTF">2026-08-31T15:27:55.7110000Z</dcterms:modified>
</coreProperties>
</file>